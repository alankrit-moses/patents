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AC5264-5D4B-427D-AF61-C7D4E3374802}" type="datetimeFigureOut">
              <a:rPr lang="en-US" smtClean="0"/>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B8AC6C-A55B-4DBA-8028-C40F6467732B}" type="slidenum">
              <a:rPr lang="en-US" smtClean="0"/>
              <a:t>‹#›</a:t>
            </a:fld>
            <a:endParaRPr lang="en-US"/>
          </a:p>
        </p:txBody>
      </p:sp>
    </p:spTree>
    <p:extLst>
      <p:ext uri="{BB962C8B-B14F-4D97-AF65-F5344CB8AC3E}">
        <p14:creationId xmlns:p14="http://schemas.microsoft.com/office/powerpoint/2010/main" val="3351850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uses target-limited scoring: Experiment 1 averages exactly three requested excerpt slots, padding missing slots with zero and excluding extras.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zero in Experiment 2 to explain why component type matters: valid JSON containing relevant evidence is still wrong if the requested target was E.text.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31287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611933" cy="538609"/>
          </a:xfrm>
          <a:prstGeom prst="rect">
            <a:avLst/>
          </a:prstGeom>
          <a:noFill/>
        </p:spPr>
        <p:txBody>
          <a:bodyPr wrap="none">
            <a:spAutoFit/>
          </a:bodyPr>
          <a:lstStyle/>
          <a:p>
            <a:pPr>
              <a:defRPr sz="2900" b="1">
                <a:solidFill>
                  <a:srgbClr val="232624"/>
                </a:solidFill>
                <a:latin typeface="Aptos Display"/>
              </a:defRPr>
            </a:pPr>
            <a:r>
              <a:rPr dirty="0"/>
              <a:t>Three </a:t>
            </a:r>
            <a:r>
              <a:rPr lang="en-US" dirty="0"/>
              <a:t>Pipelines</a:t>
            </a:r>
            <a:endParaRPr dirty="0"/>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The comparison isolates direct prompting, framework-grounded prompting, and framework-inspired agency.</a:t>
            </a:r>
          </a:p>
        </p:txBody>
      </p:sp>
      <p:sp>
        <p:nvSpPr>
          <p:cNvPr id="4" name="Rectangle 3"/>
          <p:cNvSpPr/>
          <p:nvPr/>
        </p:nvSpPr>
        <p:spPr>
          <a:xfrm>
            <a:off x="54864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600" b="1">
                <a:solidFill>
                  <a:srgbClr val="184E4B"/>
                </a:solidFill>
                <a:latin typeface="Aptos"/>
              </a:defRPr>
            </a:pPr>
            <a:r>
              <a:t>Setup A: baseline</a:t>
            </a:r>
          </a:p>
          <a:p>
            <a:pPr>
              <a:spcBef>
                <a:spcPts val="200"/>
              </a:spcBef>
              <a:defRPr sz="1900">
                <a:solidFill>
                  <a:srgbClr val="232624"/>
                </a:solidFill>
                <a:latin typeface="Aptos"/>
              </a:defRPr>
            </a:pPr>
            <a:r>
              <a:t>Minimal prose prompt.</a:t>
            </a:r>
          </a:p>
          <a:p>
            <a:pPr>
              <a:spcBef>
                <a:spcPts val="200"/>
              </a:spcBef>
              <a:defRPr sz="1900">
                <a:solidFill>
                  <a:srgbClr val="232624"/>
                </a:solidFill>
                <a:latin typeface="Aptos"/>
              </a:defRPr>
            </a:pPr>
            <a:r>
              <a:t>One model call.</a:t>
            </a:r>
          </a:p>
          <a:p>
            <a:pPr>
              <a:spcBef>
                <a:spcPts val="200"/>
              </a:spcBef>
              <a:defRPr sz="1900">
                <a:solidFill>
                  <a:srgbClr val="232624"/>
                </a:solidFill>
                <a:latin typeface="Aptos"/>
              </a:defRPr>
            </a:pPr>
            <a:r>
              <a:t>No framework notation or decomposition beyond the task statement.</a:t>
            </a:r>
          </a:p>
        </p:txBody>
      </p:sp>
      <p:sp>
        <p:nvSpPr>
          <p:cNvPr id="5" name="Rectangle 4"/>
          <p:cNvSpPr/>
          <p:nvPr/>
        </p:nvSpPr>
        <p:spPr>
          <a:xfrm>
            <a:off x="434340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600" b="1">
                <a:solidFill>
                  <a:srgbClr val="184E4B"/>
                </a:solidFill>
                <a:latin typeface="Aptos"/>
              </a:defRPr>
            </a:pPr>
            <a:r>
              <a:t>Setup B: structured prompting</a:t>
            </a:r>
          </a:p>
          <a:p>
            <a:pPr>
              <a:spcBef>
                <a:spcPts val="200"/>
              </a:spcBef>
              <a:defRPr sz="1900">
                <a:solidFill>
                  <a:srgbClr val="232624"/>
                </a:solidFill>
                <a:latin typeface="Aptos"/>
              </a:defRPr>
            </a:pPr>
            <a:r>
              <a:t>Framework-grounded single prompt.</a:t>
            </a:r>
          </a:p>
          <a:p>
            <a:pPr>
              <a:spcBef>
                <a:spcPts val="200"/>
              </a:spcBef>
              <a:defRPr sz="1900">
                <a:solidFill>
                  <a:srgbClr val="232624"/>
                </a:solidFill>
                <a:latin typeface="Aptos"/>
              </a:defRPr>
            </a:pPr>
            <a:r>
              <a:t>Query-only: model receives the formal query and must infer the task from the framework rules.</a:t>
            </a:r>
          </a:p>
          <a:p>
            <a:pPr>
              <a:spcBef>
                <a:spcPts val="200"/>
              </a:spcBef>
              <a:defRPr sz="1900">
                <a:solidFill>
                  <a:srgbClr val="232624"/>
                </a:solidFill>
                <a:latin typeface="Aptos"/>
              </a:defRPr>
            </a:pPr>
            <a:r>
              <a:t>Resolved-task: adds a natural-language resolution of what the query asks for.</a:t>
            </a:r>
          </a:p>
        </p:txBody>
      </p:sp>
      <p:sp>
        <p:nvSpPr>
          <p:cNvPr id="6" name="Rectangle 5"/>
          <p:cNvSpPr/>
          <p:nvPr/>
        </p:nvSpPr>
        <p:spPr>
          <a:xfrm>
            <a:off x="813816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600" b="1">
                <a:solidFill>
                  <a:srgbClr val="184E4B"/>
                </a:solidFill>
                <a:latin typeface="Aptos"/>
              </a:defRPr>
            </a:pPr>
            <a:r>
              <a:t>Setup C: agentic</a:t>
            </a:r>
          </a:p>
          <a:p>
            <a:pPr>
              <a:spcBef>
                <a:spcPts val="200"/>
              </a:spcBef>
              <a:defRPr sz="1900">
                <a:solidFill>
                  <a:srgbClr val="232624"/>
                </a:solidFill>
                <a:latin typeface="Aptos"/>
              </a:defRPr>
            </a:pPr>
            <a:r>
              <a:t>Framework-inspired orchestration.</a:t>
            </a:r>
          </a:p>
          <a:p>
            <a:pPr>
              <a:spcBef>
                <a:spcPts val="200"/>
              </a:spcBef>
              <a:defRPr sz="1900">
                <a:solidFill>
                  <a:srgbClr val="232624"/>
                </a:solidFill>
                <a:latin typeface="Aptos"/>
              </a:defRPr>
            </a:pPr>
            <a:r>
              <a:t>Specialist steps induce or retrieve components.</a:t>
            </a:r>
          </a:p>
          <a:p>
            <a:pPr>
              <a:spcBef>
                <a:spcPts val="200"/>
              </a:spcBef>
              <a:defRPr sz="1900">
                <a:solidFill>
                  <a:srgbClr val="232624"/>
                </a:solidFill>
                <a:latin typeface="Aptos"/>
              </a:defRPr>
            </a:pPr>
            <a:r>
              <a:t>E.text search uses extract-from-chunks plus reduce selection over report chunks.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4672818" cy="538609"/>
          </a:xfrm>
          <a:prstGeom prst="rect">
            <a:avLst/>
          </a:prstGeom>
          <a:noFill/>
        </p:spPr>
        <p:txBody>
          <a:bodyPr wrap="none">
            <a:spAutoFit/>
          </a:bodyPr>
          <a:lstStyle/>
          <a:p>
            <a:pPr>
              <a:defRPr sz="2900" b="1">
                <a:solidFill>
                  <a:srgbClr val="232624"/>
                </a:solidFill>
                <a:latin typeface="Aptos Display"/>
              </a:defRPr>
            </a:pPr>
            <a:r>
              <a:rPr dirty="0"/>
              <a:t>Three </a:t>
            </a:r>
            <a:r>
              <a:rPr lang="en-US" dirty="0"/>
              <a:t>Problem Formulations</a:t>
            </a:r>
            <a:endParaRPr dirty="0"/>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Each experiment asks for a different missing framework component.</a:t>
            </a:r>
          </a:p>
        </p:txBody>
      </p:sp>
      <p:sp>
        <p:nvSpPr>
          <p:cNvPr id="4" name="Rectangle 3"/>
          <p:cNvSpPr/>
          <p:nvPr/>
        </p:nvSpPr>
        <p:spPr>
          <a:xfrm>
            <a:off x="640080" y="96012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600" b="1">
                <a:solidFill>
                  <a:srgbClr val="184E4B"/>
                </a:solidFill>
                <a:latin typeface="Aptos"/>
              </a:defRPr>
            </a:pPr>
            <a:r>
              <a:rPr dirty="0"/>
              <a:t>Experiment 1: D:(D.text,_)  P:(M,_,{(?,_)[3]})</a:t>
            </a:r>
          </a:p>
          <a:p>
            <a:pPr>
              <a:spcBef>
                <a:spcPts val="200"/>
              </a:spcBef>
              <a:defRPr sz="1900">
                <a:solidFill>
                  <a:srgbClr val="232624"/>
                </a:solidFill>
                <a:latin typeface="Aptos"/>
              </a:defRPr>
            </a:pPr>
            <a:r>
              <a:rPr dirty="0"/>
              <a:t>Given a report and a mathematical pattern definition M, retrieve three report excerpts that instantiate the pattern.</a:t>
            </a:r>
          </a:p>
        </p:txBody>
      </p:sp>
      <p:sp>
        <p:nvSpPr>
          <p:cNvPr id="5" name="Rectangle 4"/>
          <p:cNvSpPr/>
          <p:nvPr/>
        </p:nvSpPr>
        <p:spPr>
          <a:xfrm>
            <a:off x="640080" y="269748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600" b="1">
                <a:solidFill>
                  <a:srgbClr val="184E4B"/>
                </a:solidFill>
                <a:latin typeface="Aptos"/>
              </a:defRPr>
            </a:pPr>
            <a:r>
              <a:t>Experiment 2: D:(D.text,_)  P:(_,_,{(?,E.tab)})</a:t>
            </a:r>
          </a:p>
          <a:p>
            <a:pPr>
              <a:spcBef>
                <a:spcPts val="200"/>
              </a:spcBef>
              <a:defRPr sz="1900">
                <a:solidFill>
                  <a:srgbClr val="232624"/>
                </a:solidFill>
                <a:latin typeface="Aptos"/>
              </a:defRPr>
            </a:pPr>
            <a:r>
              <a:t>Given a report and a compact table, recover the report excerpt that expresses the same evidence as the table.</a:t>
            </a:r>
          </a:p>
        </p:txBody>
      </p:sp>
      <p:sp>
        <p:nvSpPr>
          <p:cNvPr id="6" name="Rectangle 5"/>
          <p:cNvSpPr/>
          <p:nvPr/>
        </p:nvSpPr>
        <p:spPr>
          <a:xfrm>
            <a:off x="640080" y="443484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600" b="1">
                <a:solidFill>
                  <a:srgbClr val="184E4B"/>
                </a:solidFill>
                <a:latin typeface="Aptos"/>
              </a:defRPr>
            </a:pPr>
            <a:r>
              <a:rPr dirty="0"/>
              <a:t>Experiment 3: D:(_,_)  P:(?,?,{(E1.text,E1.tab),(E2.text,E2.tab),</a:t>
            </a:r>
            <a:r>
              <a:rPr lang="en-US" dirty="0"/>
              <a:t> (E3.text,E3.tab), (E4.text,E4.tab)</a:t>
            </a:r>
            <a:r>
              <a:rPr dirty="0"/>
              <a:t>})</a:t>
            </a:r>
          </a:p>
          <a:p>
            <a:pPr>
              <a:spcBef>
                <a:spcPts val="200"/>
              </a:spcBef>
              <a:defRPr sz="1900">
                <a:solidFill>
                  <a:srgbClr val="232624"/>
                </a:solidFill>
                <a:latin typeface="Aptos"/>
              </a:defRPr>
            </a:pPr>
            <a:r>
              <a:rPr dirty="0"/>
              <a:t>Given paired text/table examples, induce the general mathematical rule M and natural-language description 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Models Tested</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Gemma and Qwen thinking/mixed runs are intentionally excluded from this deck.</a:t>
            </a:r>
          </a:p>
        </p:txBody>
      </p:sp>
      <p:sp>
        <p:nvSpPr>
          <p:cNvPr id="4" name="TextBox 3"/>
          <p:cNvSpPr txBox="1"/>
          <p:nvPr/>
        </p:nvSpPr>
        <p:spPr>
          <a:xfrm>
            <a:off x="777240" y="1143000"/>
            <a:ext cx="10789920" cy="4883388"/>
          </a:xfrm>
          <a:prstGeom prst="rect">
            <a:avLst/>
          </a:prstGeom>
          <a:noFill/>
        </p:spPr>
        <p:txBody>
          <a:bodyPr wrap="square">
            <a:spAutoFit/>
          </a:bodyPr>
          <a:lstStyle/>
          <a:p>
            <a:pPr>
              <a:spcAft>
                <a:spcPts val="700"/>
              </a:spcAft>
              <a:defRPr sz="2400">
                <a:solidFill>
                  <a:srgbClr val="232624"/>
                </a:solidFill>
                <a:latin typeface="Aptos"/>
              </a:defRPr>
            </a:pPr>
            <a:r>
              <a:rPr sz="2400" b="1" dirty="0"/>
              <a:t>gpt-4.1</a:t>
            </a:r>
            <a:r>
              <a:rPr sz="2400" dirty="0"/>
              <a:t>: strongest direct baseline and the judge model used for evaluation.</a:t>
            </a:r>
            <a:br>
              <a:rPr lang="en-US" sz="2400" dirty="0"/>
            </a:br>
            <a:endParaRPr sz="2400" dirty="0"/>
          </a:p>
          <a:p>
            <a:pPr>
              <a:spcAft>
                <a:spcPts val="700"/>
              </a:spcAft>
              <a:defRPr sz="2400">
                <a:solidFill>
                  <a:srgbClr val="232624"/>
                </a:solidFill>
                <a:latin typeface="Aptos"/>
              </a:defRPr>
            </a:pPr>
            <a:r>
              <a:rPr sz="2400" b="1" dirty="0" err="1"/>
              <a:t>gpt</a:t>
            </a:r>
            <a:r>
              <a:rPr sz="2400" b="1" dirty="0"/>
              <a:t>-</a:t>
            </a:r>
            <a:r>
              <a:rPr sz="2400" b="1" dirty="0" err="1"/>
              <a:t>oss</a:t>
            </a:r>
            <a:r>
              <a:rPr sz="2400" b="1" dirty="0"/>
              <a:t>-high</a:t>
            </a:r>
            <a:r>
              <a:rPr lang="en-US" sz="2400" b="1" dirty="0"/>
              <a:t> (120B – active 5.1B)</a:t>
            </a:r>
            <a:r>
              <a:rPr sz="2400" dirty="0"/>
              <a:t>: </a:t>
            </a:r>
            <a:r>
              <a:rPr sz="2400" dirty="0" err="1"/>
              <a:t>OpenRouter</a:t>
            </a:r>
            <a:r>
              <a:rPr sz="2400" dirty="0"/>
              <a:t> gpt-oss-120b with high reasoning effort.</a:t>
            </a:r>
            <a:br>
              <a:rPr lang="en-US" sz="2400" dirty="0"/>
            </a:br>
            <a:endParaRPr sz="2400" dirty="0"/>
          </a:p>
          <a:p>
            <a:pPr>
              <a:spcAft>
                <a:spcPts val="700"/>
              </a:spcAft>
              <a:defRPr sz="2400">
                <a:solidFill>
                  <a:srgbClr val="232624"/>
                </a:solidFill>
                <a:latin typeface="Aptos"/>
              </a:defRPr>
            </a:pPr>
            <a:r>
              <a:rPr sz="2400" b="1" dirty="0" err="1"/>
              <a:t>gpt</a:t>
            </a:r>
            <a:r>
              <a:rPr sz="2400" b="1" dirty="0"/>
              <a:t>-</a:t>
            </a:r>
            <a:r>
              <a:rPr sz="2400" b="1" dirty="0" err="1"/>
              <a:t>oss</a:t>
            </a:r>
            <a:r>
              <a:rPr sz="2400" b="1" dirty="0"/>
              <a:t>-medium</a:t>
            </a:r>
            <a:r>
              <a:rPr lang="en-US" sz="2400" b="1" dirty="0"/>
              <a:t> (120B – active 5.1B) </a:t>
            </a:r>
            <a:r>
              <a:rPr sz="2400" dirty="0"/>
              <a:t>: </a:t>
            </a:r>
            <a:r>
              <a:rPr sz="2400" dirty="0" err="1"/>
              <a:t>OpenRouter</a:t>
            </a:r>
            <a:r>
              <a:rPr sz="2400" dirty="0"/>
              <a:t> gpt-oss-120b with medium reasoning effort.</a:t>
            </a:r>
            <a:br>
              <a:rPr lang="en-US" sz="2400" dirty="0"/>
            </a:br>
            <a:endParaRPr sz="2400" dirty="0"/>
          </a:p>
          <a:p>
            <a:pPr>
              <a:spcAft>
                <a:spcPts val="700"/>
              </a:spcAft>
              <a:defRPr sz="2400">
                <a:solidFill>
                  <a:srgbClr val="232624"/>
                </a:solidFill>
                <a:latin typeface="Aptos"/>
              </a:defRPr>
            </a:pPr>
            <a:r>
              <a:rPr sz="2400" b="1" dirty="0"/>
              <a:t>qwen3-32B non-reasoning</a:t>
            </a:r>
            <a:r>
              <a:rPr sz="2400" dirty="0"/>
              <a:t>: </a:t>
            </a:r>
            <a:r>
              <a:rPr sz="2400" dirty="0" err="1"/>
              <a:t>OpenRouter</a:t>
            </a:r>
            <a:r>
              <a:rPr sz="2400" dirty="0"/>
              <a:t> Qwen with reasoning disabled and providers pinned.</a:t>
            </a:r>
            <a:br>
              <a:rPr lang="en-US" sz="2400" dirty="0"/>
            </a:br>
            <a:endParaRPr sz="2400" dirty="0"/>
          </a:p>
          <a:p>
            <a:pPr>
              <a:spcAft>
                <a:spcPts val="700"/>
              </a:spcAft>
              <a:defRPr sz="2400">
                <a:solidFill>
                  <a:srgbClr val="232624"/>
                </a:solidFill>
                <a:latin typeface="Aptos"/>
              </a:defRPr>
            </a:pPr>
            <a:r>
              <a:rPr sz="2400" b="1" dirty="0"/>
              <a:t>llama3-70B</a:t>
            </a:r>
            <a:r>
              <a:rPr lang="en-US" sz="2400" b="1" dirty="0"/>
              <a:t> non-reasoning</a:t>
            </a:r>
            <a:r>
              <a:rPr sz="2400" dirty="0"/>
              <a:t>: Llama 3.3 70B comparison run.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Pattern 1 Results (1/2)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894803"/>
            <a:ext cx="11018520" cy="201168"/>
          </a:xfrm>
          <a:prstGeom prst="rect">
            <a:avLst/>
          </a:prstGeom>
          <a:noFill/>
        </p:spPr>
        <p:txBody>
          <a:bodyPr wrap="none">
            <a:spAutoFit/>
          </a:bodyPr>
          <a:lstStyle/>
          <a:p>
            <a:pPr>
              <a:defRPr sz="1600" b="1">
                <a:solidFill>
                  <a:srgbClr val="184E4B"/>
                </a:solidFill>
                <a:latin typeface="Aptos"/>
              </a:defRPr>
            </a:pPr>
            <a:r>
              <a:t>gpt-4.1</a:t>
            </a:r>
          </a:p>
        </p:txBody>
      </p:sp>
      <p:graphicFrame>
        <p:nvGraphicFramePr>
          <p:cNvPr id="5" name="Table 4"/>
          <p:cNvGraphicFramePr>
            <a:graphicFrameLocks noGrp="1"/>
          </p:cNvGraphicFramePr>
          <p:nvPr>
            <p:extLst>
              <p:ext uri="{D42A27DB-BD31-4B8C-83A1-F6EECF244321}">
                <p14:modId xmlns:p14="http://schemas.microsoft.com/office/powerpoint/2010/main" val="2747813683"/>
              </p:ext>
            </p:extLst>
          </p:nvPr>
        </p:nvGraphicFramePr>
        <p:xfrm>
          <a:off x="594360" y="1207382"/>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3.56</a:t>
                      </a:r>
                    </a:p>
                  </a:txBody>
                  <a:tcPr marL="18288" marR="18288" marT="9144" marB="9144">
                    <a:solidFill>
                      <a:srgbClr val="FFFFFC"/>
                    </a:solidFill>
                  </a:tcPr>
                </a:tc>
                <a:tc>
                  <a:txBody>
                    <a:bodyPr/>
                    <a:lstStyle/>
                    <a:p>
                      <a:pPr algn="ctr">
                        <a:defRPr sz="2000" b="0">
                          <a:solidFill>
                            <a:srgbClr val="232624"/>
                          </a:solidFill>
                          <a:latin typeface="Aptos"/>
                        </a:defRPr>
                      </a:pPr>
                      <a:r>
                        <a:t>3.50</a:t>
                      </a:r>
                    </a:p>
                  </a:txBody>
                  <a:tcPr marL="18288" marR="18288" marT="9144" marB="9144">
                    <a:solidFill>
                      <a:srgbClr val="FFFFFC"/>
                    </a:solidFill>
                  </a:tcPr>
                </a:tc>
                <a:tc>
                  <a:txBody>
                    <a:bodyPr/>
                    <a:lstStyle/>
                    <a:p>
                      <a:pPr algn="ctr">
                        <a:defRPr sz="2000" b="0">
                          <a:solidFill>
                            <a:srgbClr val="232624"/>
                          </a:solidFill>
                          <a:latin typeface="Aptos"/>
                        </a:defRPr>
                      </a:pPr>
                      <a:r>
                        <a:t>2.78</a:t>
                      </a:r>
                    </a:p>
                  </a:txBody>
                  <a:tcPr marL="18288" marR="18288" marT="9144" marB="9144">
                    <a:solidFill>
                      <a:srgbClr val="FFFFFC"/>
                    </a:solidFill>
                  </a:tcPr>
                </a:tc>
                <a:tc>
                  <a:txBody>
                    <a:bodyPr/>
                    <a:lstStyle/>
                    <a:p>
                      <a:pPr algn="ctr">
                        <a:defRPr sz="2000" b="0">
                          <a:solidFill>
                            <a:srgbClr val="232624"/>
                          </a:solidFill>
                          <a:latin typeface="Aptos"/>
                        </a:defRPr>
                      </a:pPr>
                      <a:r>
                        <a:t>3.67</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3.48</a:t>
                      </a:r>
                    </a:p>
                  </a:txBody>
                  <a:tcPr marL="18288" marR="18288" marT="9144" marB="9144">
                    <a:solidFill>
                      <a:srgbClr val="FFFFFC"/>
                    </a:solidFill>
                  </a:tcPr>
                </a:tc>
                <a:tc>
                  <a:txBody>
                    <a:bodyPr/>
                    <a:lstStyle/>
                    <a:p>
                      <a:pPr algn="ctr">
                        <a:defRPr sz="2000" b="0">
                          <a:solidFill>
                            <a:srgbClr val="232624"/>
                          </a:solidFill>
                          <a:latin typeface="Aptos"/>
                        </a:defRPr>
                      </a:pPr>
                      <a:r>
                        <a:t>3.28</a:t>
                      </a:r>
                    </a:p>
                  </a:txBody>
                  <a:tcPr marL="18288" marR="18288" marT="9144" marB="9144">
                    <a:solidFill>
                      <a:srgbClr val="FFFFFC"/>
                    </a:solidFill>
                  </a:tcPr>
                </a:tc>
                <a:tc>
                  <a:txBody>
                    <a:bodyPr/>
                    <a:lstStyle/>
                    <a:p>
                      <a:pPr algn="ctr">
                        <a:defRPr sz="2000" b="0">
                          <a:solidFill>
                            <a:srgbClr val="232624"/>
                          </a:solidFill>
                          <a:latin typeface="Aptos"/>
                        </a:defRPr>
                      </a:pPr>
                      <a:r>
                        <a:t>1.00</a:t>
                      </a:r>
                    </a:p>
                  </a:txBody>
                  <a:tcPr marL="18288" marR="18288" marT="9144" marB="9144">
                    <a:solidFill>
                      <a:srgbClr val="FFFFFC"/>
                    </a:solidFill>
                  </a:tcPr>
                </a:tc>
                <a:tc>
                  <a:txBody>
                    <a:bodyPr/>
                    <a:lstStyle/>
                    <a:p>
                      <a:pPr algn="ctr">
                        <a:defRPr sz="2000" b="0">
                          <a:solidFill>
                            <a:srgbClr val="232624"/>
                          </a:solidFill>
                          <a:latin typeface="Aptos"/>
                        </a:defRPr>
                      </a:pPr>
                      <a:r>
                        <a:t>1.56</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3.48</a:t>
                      </a:r>
                    </a:p>
                  </a:txBody>
                  <a:tcPr marL="18288" marR="18288" marT="9144" marB="9144">
                    <a:solidFill>
                      <a:srgbClr val="FFFFFC"/>
                    </a:solidFill>
                  </a:tcPr>
                </a:tc>
                <a:tc>
                  <a:txBody>
                    <a:bodyPr/>
                    <a:lstStyle/>
                    <a:p>
                      <a:pPr algn="ctr">
                        <a:defRPr sz="2000" b="0">
                          <a:solidFill>
                            <a:srgbClr val="232624"/>
                          </a:solidFill>
                          <a:latin typeface="Aptos"/>
                        </a:defRPr>
                      </a:pPr>
                      <a:r>
                        <a:t>3.17</a:t>
                      </a:r>
                    </a:p>
                  </a:txBody>
                  <a:tcPr marL="18288" marR="18288" marT="9144" marB="9144">
                    <a:solidFill>
                      <a:srgbClr val="FFFFFC"/>
                    </a:solidFill>
                  </a:tcPr>
                </a:tc>
                <a:tc>
                  <a:txBody>
                    <a:bodyPr/>
                    <a:lstStyle/>
                    <a:p>
                      <a:pPr algn="ctr">
                        <a:defRPr sz="2000" b="0">
                          <a:solidFill>
                            <a:srgbClr val="232624"/>
                          </a:solidFill>
                          <a:latin typeface="Aptos"/>
                        </a:defRPr>
                      </a:pPr>
                      <a:r>
                        <a:t>2.33</a:t>
                      </a:r>
                    </a:p>
                  </a:txBody>
                  <a:tcPr marL="18288" marR="18288" marT="9144" marB="9144">
                    <a:solidFill>
                      <a:srgbClr val="FFFFFC"/>
                    </a:solidFill>
                  </a:tcPr>
                </a:tc>
                <a:tc>
                  <a:txBody>
                    <a:bodyPr/>
                    <a:lstStyle/>
                    <a:p>
                      <a:pPr algn="ctr">
                        <a:defRPr sz="2000" b="0">
                          <a:solidFill>
                            <a:srgbClr val="232624"/>
                          </a:solidFill>
                          <a:latin typeface="Aptos"/>
                        </a:defRPr>
                      </a:pPr>
                      <a:r>
                        <a:t>2.78</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rPr dirty="0"/>
                        <a:t>C</a:t>
                      </a:r>
                    </a:p>
                  </a:txBody>
                  <a:tcPr marL="18288" marR="18288" marT="9144" marB="9144">
                    <a:solidFill>
                      <a:srgbClr val="FFFFFC"/>
                    </a:solidFill>
                  </a:tcPr>
                </a:tc>
                <a:tc>
                  <a:txBody>
                    <a:bodyPr/>
                    <a:lstStyle/>
                    <a:p>
                      <a:pPr algn="ctr">
                        <a:defRPr sz="2000" b="1">
                          <a:solidFill>
                            <a:srgbClr val="232624"/>
                          </a:solidFill>
                          <a:latin typeface="Aptos"/>
                        </a:defRPr>
                      </a:pPr>
                      <a:r>
                        <a:rPr dirty="0"/>
                        <a:t>3.89</a:t>
                      </a:r>
                    </a:p>
                  </a:txBody>
                  <a:tcPr marL="18288" marR="18288" marT="9144" marB="9144">
                    <a:solidFill>
                      <a:srgbClr val="DEEFB1"/>
                    </a:solidFill>
                  </a:tcPr>
                </a:tc>
                <a:tc>
                  <a:txBody>
                    <a:bodyPr/>
                    <a:lstStyle/>
                    <a:p>
                      <a:pPr algn="ctr">
                        <a:defRPr sz="2000" b="1">
                          <a:solidFill>
                            <a:srgbClr val="232624"/>
                          </a:solidFill>
                          <a:latin typeface="Aptos"/>
                        </a:defRPr>
                      </a:pPr>
                      <a:r>
                        <a:t>3.67</a:t>
                      </a:r>
                    </a:p>
                  </a:txBody>
                  <a:tcPr marL="18288" marR="18288" marT="9144" marB="9144">
                    <a:solidFill>
                      <a:srgbClr val="DEEFB1"/>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1">
                          <a:solidFill>
                            <a:srgbClr val="232624"/>
                          </a:solidFill>
                          <a:latin typeface="Aptos"/>
                        </a:defRPr>
                      </a:pPr>
                      <a:r>
                        <a:rPr dirty="0"/>
                        <a:t>3.78</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94360" y="2759991"/>
            <a:ext cx="11018520" cy="201168"/>
          </a:xfrm>
          <a:prstGeom prst="rect">
            <a:avLst/>
          </a:prstGeom>
          <a:noFill/>
        </p:spPr>
        <p:txBody>
          <a:bodyPr wrap="none">
            <a:spAutoFit/>
          </a:bodyPr>
          <a:lstStyle/>
          <a:p>
            <a:pPr>
              <a:defRPr sz="1600" b="1">
                <a:solidFill>
                  <a:srgbClr val="184E4B"/>
                </a:solidFill>
                <a:latin typeface="Aptos"/>
              </a:defRPr>
            </a:pPr>
            <a:r>
              <a:t>gpt-oss-high</a:t>
            </a:r>
          </a:p>
        </p:txBody>
      </p:sp>
      <p:graphicFrame>
        <p:nvGraphicFramePr>
          <p:cNvPr id="7" name="Table 6"/>
          <p:cNvGraphicFramePr>
            <a:graphicFrameLocks noGrp="1"/>
          </p:cNvGraphicFramePr>
          <p:nvPr/>
        </p:nvGraphicFramePr>
        <p:xfrm>
          <a:off x="594360" y="3063239"/>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3.00</a:t>
                      </a:r>
                    </a:p>
                  </a:txBody>
                  <a:tcPr marL="18288" marR="18288" marT="9144" marB="9144">
                    <a:solidFill>
                      <a:srgbClr val="FFFFFC"/>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0">
                          <a:solidFill>
                            <a:srgbClr val="232624"/>
                          </a:solidFill>
                          <a:latin typeface="Aptos"/>
                        </a:defRPr>
                      </a:pPr>
                      <a:r>
                        <a:t>1.78</a:t>
                      </a:r>
                    </a:p>
                  </a:txBody>
                  <a:tcPr marL="18288" marR="18288" marT="9144" marB="9144">
                    <a:solidFill>
                      <a:srgbClr val="FFFFFC"/>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2.93</a:t>
                      </a:r>
                    </a:p>
                  </a:txBody>
                  <a:tcPr marL="18288" marR="18288" marT="9144" marB="9144">
                    <a:solidFill>
                      <a:srgbClr val="FFFFFC"/>
                    </a:solidFill>
                  </a:tcPr>
                </a:tc>
                <a:tc>
                  <a:txBody>
                    <a:bodyPr/>
                    <a:lstStyle/>
                    <a:p>
                      <a:pPr algn="ctr">
                        <a:defRPr sz="2000" b="0">
                          <a:solidFill>
                            <a:srgbClr val="232624"/>
                          </a:solidFill>
                          <a:latin typeface="Aptos"/>
                        </a:defRPr>
                      </a:pPr>
                      <a:r>
                        <a:t>2.89</a:t>
                      </a:r>
                    </a:p>
                  </a:txBody>
                  <a:tcPr marL="18288" marR="18288" marT="9144" marB="9144">
                    <a:solidFill>
                      <a:srgbClr val="FFFFFC"/>
                    </a:solidFill>
                  </a:tcPr>
                </a:tc>
                <a:tc>
                  <a:txBody>
                    <a:bodyPr/>
                    <a:lstStyle/>
                    <a:p>
                      <a:pPr algn="ctr">
                        <a:defRPr sz="2000" b="0">
                          <a:solidFill>
                            <a:srgbClr val="232624"/>
                          </a:solidFill>
                          <a:latin typeface="Aptos"/>
                        </a:defRPr>
                      </a:pPr>
                      <a:r>
                        <a:t>1.89</a:t>
                      </a:r>
                    </a:p>
                  </a:txBody>
                  <a:tcPr marL="18288" marR="18288" marT="9144" marB="9144">
                    <a:solidFill>
                      <a:srgbClr val="FFFFFC"/>
                    </a:solidFill>
                  </a:tcPr>
                </a:tc>
                <a:tc>
                  <a:txBody>
                    <a:bodyPr/>
                    <a:lstStyle/>
                    <a:p>
                      <a:pPr algn="ctr">
                        <a:defRPr sz="2000" b="0">
                          <a:solidFill>
                            <a:srgbClr val="232624"/>
                          </a:solidFill>
                          <a:latin typeface="Aptos"/>
                        </a:defRPr>
                      </a:pPr>
                      <a:r>
                        <a:t>2.56</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2.89</a:t>
                      </a:r>
                    </a:p>
                  </a:txBody>
                  <a:tcPr marL="18288" marR="18288" marT="9144" marB="9144">
                    <a:solidFill>
                      <a:srgbClr val="FFFFFC"/>
                    </a:solidFill>
                  </a:tcPr>
                </a:tc>
                <a:tc>
                  <a:txBody>
                    <a:bodyPr/>
                    <a:lstStyle/>
                    <a:p>
                      <a:pPr algn="ctr">
                        <a:defRPr sz="2000" b="0">
                          <a:solidFill>
                            <a:srgbClr val="232624"/>
                          </a:solidFill>
                          <a:latin typeface="Aptos"/>
                        </a:defRPr>
                      </a:pPr>
                      <a:r>
                        <a:t>2.89</a:t>
                      </a:r>
                    </a:p>
                  </a:txBody>
                  <a:tcPr marL="18288" marR="18288" marT="9144" marB="9144">
                    <a:solidFill>
                      <a:srgbClr val="FFFFFC"/>
                    </a:solidFill>
                  </a:tcPr>
                </a:tc>
                <a:tc>
                  <a:txBody>
                    <a:bodyPr/>
                    <a:lstStyle/>
                    <a:p>
                      <a:pPr algn="ctr">
                        <a:defRPr sz="2000" b="0">
                          <a:solidFill>
                            <a:srgbClr val="232624"/>
                          </a:solidFill>
                          <a:latin typeface="Aptos"/>
                        </a:defRPr>
                      </a:pPr>
                      <a:r>
                        <a:rPr dirty="0"/>
                        <a:t>2.00</a:t>
                      </a:r>
                    </a:p>
                  </a:txBody>
                  <a:tcPr marL="18288" marR="18288" marT="9144" marB="9144">
                    <a:solidFill>
                      <a:srgbClr val="FFFFFC"/>
                    </a:solidFill>
                  </a:tcPr>
                </a:tc>
                <a:tc>
                  <a:txBody>
                    <a:bodyPr/>
                    <a:lstStyle/>
                    <a:p>
                      <a:pPr algn="ctr">
                        <a:defRPr sz="2000" b="0">
                          <a:solidFill>
                            <a:srgbClr val="232624"/>
                          </a:solidFill>
                          <a:latin typeface="Aptos"/>
                        </a:defRPr>
                      </a:pPr>
                      <a:r>
                        <a:t>2.22</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rPr dirty="0"/>
                        <a:t>C</a:t>
                      </a:r>
                    </a:p>
                  </a:txBody>
                  <a:tcPr marL="18288" marR="18288" marT="9144" marB="9144">
                    <a:solidFill>
                      <a:srgbClr val="FFFFFC"/>
                    </a:solidFill>
                  </a:tcPr>
                </a:tc>
                <a:tc>
                  <a:txBody>
                    <a:bodyPr/>
                    <a:lstStyle/>
                    <a:p>
                      <a:pPr algn="ctr">
                        <a:defRPr sz="2000" b="1">
                          <a:solidFill>
                            <a:srgbClr val="232624"/>
                          </a:solidFill>
                          <a:latin typeface="Aptos"/>
                        </a:defRPr>
                      </a:pPr>
                      <a:r>
                        <a:rPr dirty="0"/>
                        <a:t>3.37</a:t>
                      </a:r>
                    </a:p>
                  </a:txBody>
                  <a:tcPr marL="18288" marR="18288" marT="9144" marB="9144">
                    <a:solidFill>
                      <a:srgbClr val="DEEFB1"/>
                    </a:solidFill>
                  </a:tcPr>
                </a:tc>
                <a:tc>
                  <a:txBody>
                    <a:bodyPr/>
                    <a:lstStyle/>
                    <a:p>
                      <a:pPr algn="ctr">
                        <a:defRPr sz="2000" b="0">
                          <a:solidFill>
                            <a:srgbClr val="232624"/>
                          </a:solidFill>
                          <a:latin typeface="Aptos"/>
                        </a:defRPr>
                      </a:pPr>
                      <a:r>
                        <a:t>2.83</a:t>
                      </a:r>
                    </a:p>
                  </a:txBody>
                  <a:tcPr marL="18288" marR="18288" marT="9144" marB="9144">
                    <a:solidFill>
                      <a:srgbClr val="FFFFFC"/>
                    </a:solidFill>
                  </a:tcPr>
                </a:tc>
                <a:tc>
                  <a:txBody>
                    <a:bodyPr/>
                    <a:lstStyle/>
                    <a:p>
                      <a:pPr algn="ctr">
                        <a:defRPr sz="2000" b="1">
                          <a:solidFill>
                            <a:srgbClr val="232624"/>
                          </a:solidFill>
                          <a:latin typeface="Aptos"/>
                        </a:defRPr>
                      </a:pPr>
                      <a:r>
                        <a:t>2.89</a:t>
                      </a:r>
                    </a:p>
                  </a:txBody>
                  <a:tcPr marL="18288" marR="18288" marT="9144" marB="9144">
                    <a:solidFill>
                      <a:srgbClr val="DEEFB1"/>
                    </a:solidFill>
                  </a:tcPr>
                </a:tc>
                <a:tc>
                  <a:txBody>
                    <a:bodyPr/>
                    <a:lstStyle/>
                    <a:p>
                      <a:pPr algn="ctr">
                        <a:defRPr sz="2000" b="1">
                          <a:solidFill>
                            <a:srgbClr val="232624"/>
                          </a:solidFill>
                          <a:latin typeface="Aptos"/>
                        </a:defRPr>
                      </a:pPr>
                      <a:r>
                        <a:rPr dirty="0"/>
                        <a:t>3.22</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94360" y="4643842"/>
            <a:ext cx="11018520" cy="201168"/>
          </a:xfrm>
          <a:prstGeom prst="rect">
            <a:avLst/>
          </a:prstGeom>
          <a:noFill/>
        </p:spPr>
        <p:txBody>
          <a:bodyPr wrap="none">
            <a:spAutoFit/>
          </a:bodyPr>
          <a:lstStyle/>
          <a:p>
            <a:pPr>
              <a:defRPr sz="1600" b="1">
                <a:solidFill>
                  <a:srgbClr val="184E4B"/>
                </a:solidFill>
                <a:latin typeface="Aptos"/>
              </a:defRPr>
            </a:pPr>
            <a:r>
              <a:rPr dirty="0" err="1"/>
              <a:t>gpt</a:t>
            </a:r>
            <a:r>
              <a:rPr dirty="0"/>
              <a:t>-</a:t>
            </a:r>
            <a:r>
              <a:rPr dirty="0" err="1"/>
              <a:t>oss</a:t>
            </a:r>
            <a:r>
              <a:rPr dirty="0"/>
              <a:t>-medium</a:t>
            </a:r>
          </a:p>
        </p:txBody>
      </p:sp>
      <p:graphicFrame>
        <p:nvGraphicFramePr>
          <p:cNvPr id="9" name="Table 8"/>
          <p:cNvGraphicFramePr>
            <a:graphicFrameLocks noGrp="1"/>
          </p:cNvGraphicFramePr>
          <p:nvPr/>
        </p:nvGraphicFramePr>
        <p:xfrm>
          <a:off x="594360" y="4937759"/>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2.93</a:t>
                      </a:r>
                    </a:p>
                  </a:txBody>
                  <a:tcPr marL="18288" marR="18288" marT="9144" marB="9144">
                    <a:solidFill>
                      <a:srgbClr val="FFFFFC"/>
                    </a:solidFill>
                  </a:tcPr>
                </a:tc>
                <a:tc>
                  <a:txBody>
                    <a:bodyPr/>
                    <a:lstStyle/>
                    <a:p>
                      <a:pPr algn="ctr">
                        <a:defRPr sz="2000" b="0">
                          <a:solidFill>
                            <a:srgbClr val="232624"/>
                          </a:solidFill>
                          <a:latin typeface="Aptos"/>
                        </a:defRPr>
                      </a:pPr>
                      <a:r>
                        <a:t>2.78</a:t>
                      </a:r>
                    </a:p>
                  </a:txBody>
                  <a:tcPr marL="18288" marR="18288" marT="9144" marB="9144">
                    <a:solidFill>
                      <a:srgbClr val="FFFFFC"/>
                    </a:solidFill>
                  </a:tcPr>
                </a:tc>
                <a:tc>
                  <a:txBody>
                    <a:bodyPr/>
                    <a:lstStyle/>
                    <a:p>
                      <a:pPr algn="ctr">
                        <a:defRPr sz="2000" b="0">
                          <a:solidFill>
                            <a:srgbClr val="232624"/>
                          </a:solidFill>
                          <a:latin typeface="Aptos"/>
                        </a:defRPr>
                      </a:pPr>
                      <a:r>
                        <a:t>2.44</a:t>
                      </a:r>
                    </a:p>
                  </a:txBody>
                  <a:tcPr marL="18288" marR="18288" marT="9144" marB="9144">
                    <a:solidFill>
                      <a:srgbClr val="FFFFFC"/>
                    </a:solidFill>
                  </a:tcPr>
                </a:tc>
                <a:tc>
                  <a:txBody>
                    <a:bodyPr/>
                    <a:lstStyle/>
                    <a:p>
                      <a:pPr algn="ctr">
                        <a:defRPr sz="2000" b="0">
                          <a:solidFill>
                            <a:srgbClr val="232624"/>
                          </a:solidFill>
                          <a:latin typeface="Aptos"/>
                        </a:defRPr>
                      </a:pPr>
                      <a:r>
                        <a:t>2.44</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2.70</a:t>
                      </a:r>
                    </a:p>
                  </a:txBody>
                  <a:tcPr marL="18288" marR="18288" marT="9144" marB="9144">
                    <a:solidFill>
                      <a:srgbClr val="FFFFFC"/>
                    </a:solidFill>
                  </a:tcPr>
                </a:tc>
                <a:tc>
                  <a:txBody>
                    <a:bodyPr/>
                    <a:lstStyle/>
                    <a:p>
                      <a:pPr algn="ctr">
                        <a:defRPr sz="2000" b="0">
                          <a:solidFill>
                            <a:srgbClr val="232624"/>
                          </a:solidFill>
                          <a:latin typeface="Aptos"/>
                        </a:defRPr>
                      </a:pPr>
                      <a:r>
                        <a:t>3.00</a:t>
                      </a:r>
                    </a:p>
                  </a:txBody>
                  <a:tcPr marL="18288" marR="18288" marT="9144" marB="9144">
                    <a:solidFill>
                      <a:srgbClr val="FFFFFC"/>
                    </a:solidFill>
                  </a:tcPr>
                </a:tc>
                <a:tc>
                  <a:txBody>
                    <a:bodyPr/>
                    <a:lstStyle/>
                    <a:p>
                      <a:pPr algn="ctr">
                        <a:defRPr sz="2000" b="0">
                          <a:solidFill>
                            <a:srgbClr val="232624"/>
                          </a:solidFill>
                          <a:latin typeface="Aptos"/>
                        </a:defRPr>
                      </a:pPr>
                      <a:r>
                        <a:t>1.33</a:t>
                      </a:r>
                    </a:p>
                  </a:txBody>
                  <a:tcPr marL="18288" marR="18288" marT="9144" marB="9144">
                    <a:solidFill>
                      <a:srgbClr val="FFFFFC"/>
                    </a:solidFill>
                  </a:tcPr>
                </a:tc>
                <a:tc>
                  <a:txBody>
                    <a:bodyPr/>
                    <a:lstStyle/>
                    <a:p>
                      <a:pPr algn="ctr">
                        <a:defRPr sz="2000" b="0">
                          <a:solidFill>
                            <a:srgbClr val="232624"/>
                          </a:solidFill>
                          <a:latin typeface="Aptos"/>
                        </a:defRPr>
                      </a:pPr>
                      <a:r>
                        <a:t>1.89</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2.93</a:t>
                      </a:r>
                    </a:p>
                  </a:txBody>
                  <a:tcPr marL="18288" marR="18288" marT="9144" marB="9144">
                    <a:solidFill>
                      <a:srgbClr val="FFFFFC"/>
                    </a:solidFill>
                  </a:tcPr>
                </a:tc>
                <a:tc>
                  <a:txBody>
                    <a:bodyPr/>
                    <a:lstStyle/>
                    <a:p>
                      <a:pPr algn="ctr">
                        <a:defRPr sz="2000" b="1">
                          <a:solidFill>
                            <a:srgbClr val="232624"/>
                          </a:solidFill>
                          <a:latin typeface="Aptos"/>
                        </a:defRPr>
                      </a:pPr>
                      <a:r>
                        <a:t>3.11</a:t>
                      </a:r>
                    </a:p>
                  </a:txBody>
                  <a:tcPr marL="18288" marR="18288" marT="9144" marB="9144">
                    <a:solidFill>
                      <a:srgbClr val="DEEFB1"/>
                    </a:solidFill>
                  </a:tcPr>
                </a:tc>
                <a:tc>
                  <a:txBody>
                    <a:bodyPr/>
                    <a:lstStyle/>
                    <a:p>
                      <a:pPr algn="ctr">
                        <a:defRPr sz="2000" b="0">
                          <a:solidFill>
                            <a:srgbClr val="232624"/>
                          </a:solidFill>
                          <a:latin typeface="Aptos"/>
                        </a:defRPr>
                      </a:pPr>
                      <a:r>
                        <a:t>1.56</a:t>
                      </a:r>
                    </a:p>
                  </a:txBody>
                  <a:tcPr marL="18288" marR="18288" marT="9144" marB="9144">
                    <a:solidFill>
                      <a:srgbClr val="FFFFFC"/>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rPr dirty="0"/>
                        <a:t>C</a:t>
                      </a:r>
                    </a:p>
                  </a:txBody>
                  <a:tcPr marL="18288" marR="18288" marT="9144" marB="9144">
                    <a:solidFill>
                      <a:srgbClr val="FFFFFC"/>
                    </a:solidFill>
                  </a:tcPr>
                </a:tc>
                <a:tc>
                  <a:txBody>
                    <a:bodyPr/>
                    <a:lstStyle/>
                    <a:p>
                      <a:pPr algn="ctr">
                        <a:defRPr sz="2000" b="1">
                          <a:solidFill>
                            <a:srgbClr val="232624"/>
                          </a:solidFill>
                          <a:latin typeface="Aptos"/>
                        </a:defRPr>
                      </a:pPr>
                      <a:r>
                        <a:t>3.11</a:t>
                      </a:r>
                    </a:p>
                  </a:txBody>
                  <a:tcPr marL="18288" marR="18288" marT="9144" marB="9144">
                    <a:solidFill>
                      <a:srgbClr val="DEEFB1"/>
                    </a:solidFill>
                  </a:tcPr>
                </a:tc>
                <a:tc>
                  <a:txBody>
                    <a:bodyPr/>
                    <a:lstStyle/>
                    <a:p>
                      <a:pPr algn="ctr">
                        <a:defRPr sz="2000" b="0">
                          <a:solidFill>
                            <a:srgbClr val="232624"/>
                          </a:solidFill>
                          <a:latin typeface="Aptos"/>
                        </a:defRPr>
                      </a:pPr>
                      <a:r>
                        <a:t>2.44</a:t>
                      </a:r>
                    </a:p>
                  </a:txBody>
                  <a:tcPr marL="18288" marR="18288" marT="9144" marB="9144">
                    <a:solidFill>
                      <a:srgbClr val="FFFFFC"/>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1">
                          <a:solidFill>
                            <a:srgbClr val="232624"/>
                          </a:solidFill>
                          <a:latin typeface="Aptos"/>
                        </a:defRPr>
                      </a:pPr>
                      <a:r>
                        <a:rPr dirty="0"/>
                        <a:t>3.44</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Pattern 1 Results (2/2)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1187785"/>
            <a:ext cx="11018520" cy="201168"/>
          </a:xfrm>
          <a:prstGeom prst="rect">
            <a:avLst/>
          </a:prstGeom>
          <a:noFill/>
        </p:spPr>
        <p:txBody>
          <a:bodyPr wrap="none">
            <a:spAutoFit/>
          </a:bodyPr>
          <a:lstStyle/>
          <a:p>
            <a:pPr>
              <a:defRPr sz="1600" b="1">
                <a:solidFill>
                  <a:srgbClr val="184E4B"/>
                </a:solidFill>
                <a:latin typeface="Aptos"/>
              </a:defRPr>
            </a:pPr>
            <a:r>
              <a:t>qwen3-32B non-reasoning</a:t>
            </a:r>
          </a:p>
        </p:txBody>
      </p:sp>
      <p:graphicFrame>
        <p:nvGraphicFramePr>
          <p:cNvPr id="5" name="Table 4"/>
          <p:cNvGraphicFramePr>
            <a:graphicFrameLocks noGrp="1"/>
          </p:cNvGraphicFramePr>
          <p:nvPr/>
        </p:nvGraphicFramePr>
        <p:xfrm>
          <a:off x="594360" y="1463040"/>
          <a:ext cx="11018520" cy="182880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365760">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365760">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tc>
                  <a:txBody>
                    <a:bodyPr/>
                    <a:lstStyle/>
                    <a:p>
                      <a:pPr algn="ctr">
                        <a:defRPr sz="2000" b="1">
                          <a:solidFill>
                            <a:srgbClr val="232624"/>
                          </a:solidFill>
                          <a:latin typeface="Aptos"/>
                        </a:defRPr>
                      </a:pPr>
                      <a:r>
                        <a:t>2.17</a:t>
                      </a:r>
                    </a:p>
                  </a:txBody>
                  <a:tcPr marL="18288" marR="18288" marT="9144" marB="9144">
                    <a:solidFill>
                      <a:srgbClr val="DEEFB1"/>
                    </a:solidFill>
                  </a:tcPr>
                </a:tc>
                <a:tc>
                  <a:txBody>
                    <a:bodyPr/>
                    <a:lstStyle/>
                    <a:p>
                      <a:pPr algn="ctr">
                        <a:defRPr sz="2000" b="1">
                          <a:solidFill>
                            <a:srgbClr val="232624"/>
                          </a:solidFill>
                          <a:latin typeface="Aptos"/>
                        </a:defRPr>
                      </a:pPr>
                      <a:r>
                        <a:t>2.67</a:t>
                      </a:r>
                    </a:p>
                  </a:txBody>
                  <a:tcPr marL="18288" marR="18288" marT="9144" marB="9144">
                    <a:solidFill>
                      <a:srgbClr val="DEEFB1"/>
                    </a:solidFill>
                  </a:tcPr>
                </a:tc>
                <a:tc>
                  <a:txBody>
                    <a:bodyPr/>
                    <a:lstStyle/>
                    <a:p>
                      <a:pPr algn="ctr">
                        <a:defRPr sz="2000" b="1">
                          <a:solidFill>
                            <a:srgbClr val="232624"/>
                          </a:solidFill>
                          <a:latin typeface="Aptos"/>
                        </a:defRPr>
                      </a:pPr>
                      <a:r>
                        <a:t>3.44</a:t>
                      </a:r>
                    </a:p>
                  </a:txBody>
                  <a:tcPr marL="18288" marR="18288" marT="9144" marB="9144">
                    <a:solidFill>
                      <a:srgbClr val="DEEFB1"/>
                    </a:solidFill>
                  </a:tcPr>
                </a:tc>
                <a:extLst>
                  <a:ext uri="{0D108BD9-81ED-4DB2-BD59-A6C34878D82A}">
                    <a16:rowId xmlns:a16="http://schemas.microsoft.com/office/drawing/2014/main" val="10001"/>
                  </a:ext>
                </a:extLst>
              </a:tr>
              <a:tr h="365760">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2.53</a:t>
                      </a:r>
                    </a:p>
                  </a:txBody>
                  <a:tcPr marL="18288" marR="18288" marT="9144" marB="9144">
                    <a:solidFill>
                      <a:srgbClr val="FFFFFC"/>
                    </a:solidFill>
                  </a:tcPr>
                </a:tc>
                <a:tc>
                  <a:txBody>
                    <a:bodyPr/>
                    <a:lstStyle/>
                    <a:p>
                      <a:pPr algn="ctr">
                        <a:defRPr sz="2000" b="0">
                          <a:solidFill>
                            <a:srgbClr val="232624"/>
                          </a:solidFill>
                          <a:latin typeface="Aptos"/>
                        </a:defRPr>
                      </a:pPr>
                      <a:r>
                        <a:t>0.79</a:t>
                      </a:r>
                    </a:p>
                  </a:txBody>
                  <a:tcPr marL="18288" marR="18288" marT="9144" marB="9144">
                    <a:solidFill>
                      <a:srgbClr val="FFFFFC"/>
                    </a:solidFill>
                  </a:tcPr>
                </a:tc>
                <a:tc>
                  <a:txBody>
                    <a:bodyPr/>
                    <a:lstStyle/>
                    <a:p>
                      <a:pPr algn="ctr">
                        <a:defRPr sz="2000" b="0">
                          <a:solidFill>
                            <a:srgbClr val="232624"/>
                          </a:solidFill>
                          <a:latin typeface="Aptos"/>
                        </a:defRPr>
                      </a:pPr>
                      <a:r>
                        <a:t>1.22</a:t>
                      </a:r>
                    </a:p>
                  </a:txBody>
                  <a:tcPr marL="18288" marR="18288" marT="9144" marB="9144">
                    <a:solidFill>
                      <a:srgbClr val="FFFFFC"/>
                    </a:solidFill>
                  </a:tcPr>
                </a:tc>
                <a:tc>
                  <a:txBody>
                    <a:bodyPr/>
                    <a:lstStyle/>
                    <a:p>
                      <a:pPr algn="ctr">
                        <a:defRPr sz="2000" b="0">
                          <a:solidFill>
                            <a:srgbClr val="232624"/>
                          </a:solidFill>
                          <a:latin typeface="Aptos"/>
                        </a:defRPr>
                      </a:pPr>
                      <a:r>
                        <a:t>1.44</a:t>
                      </a:r>
                    </a:p>
                  </a:txBody>
                  <a:tcPr marL="18288" marR="18288" marT="9144" marB="9144">
                    <a:solidFill>
                      <a:srgbClr val="FFFFFC"/>
                    </a:solidFill>
                  </a:tcPr>
                </a:tc>
                <a:extLst>
                  <a:ext uri="{0D108BD9-81ED-4DB2-BD59-A6C34878D82A}">
                    <a16:rowId xmlns:a16="http://schemas.microsoft.com/office/drawing/2014/main" val="10002"/>
                  </a:ext>
                </a:extLst>
              </a:tr>
              <a:tr h="365760">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1.78</a:t>
                      </a:r>
                    </a:p>
                  </a:txBody>
                  <a:tcPr marL="18288" marR="18288" marT="9144" marB="9144">
                    <a:solidFill>
                      <a:srgbClr val="FFFFFC"/>
                    </a:solidFill>
                  </a:tcPr>
                </a:tc>
                <a:tc>
                  <a:txBody>
                    <a:bodyPr/>
                    <a:lstStyle/>
                    <a:p>
                      <a:pPr algn="ctr">
                        <a:defRPr sz="2000" b="0">
                          <a:solidFill>
                            <a:srgbClr val="232624"/>
                          </a:solidFill>
                          <a:latin typeface="Aptos"/>
                        </a:defRPr>
                      </a:pPr>
                      <a:r>
                        <a:t>1.82</a:t>
                      </a:r>
                    </a:p>
                  </a:txBody>
                  <a:tcPr marL="18288" marR="18288" marT="9144" marB="9144">
                    <a:solidFill>
                      <a:srgbClr val="FFFFFC"/>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tc>
                  <a:txBody>
                    <a:bodyPr/>
                    <a:lstStyle/>
                    <a:p>
                      <a:pPr algn="ctr">
                        <a:defRPr sz="2000" b="0">
                          <a:solidFill>
                            <a:srgbClr val="232624"/>
                          </a:solidFill>
                          <a:latin typeface="Aptos"/>
                        </a:defRPr>
                      </a:pPr>
                      <a:r>
                        <a:t>2.89</a:t>
                      </a:r>
                    </a:p>
                  </a:txBody>
                  <a:tcPr marL="18288" marR="18288" marT="9144" marB="9144">
                    <a:solidFill>
                      <a:srgbClr val="FFFFFC"/>
                    </a:solidFill>
                  </a:tcPr>
                </a:tc>
                <a:extLst>
                  <a:ext uri="{0D108BD9-81ED-4DB2-BD59-A6C34878D82A}">
                    <a16:rowId xmlns:a16="http://schemas.microsoft.com/office/drawing/2014/main" val="10003"/>
                  </a:ext>
                </a:extLst>
              </a:tr>
              <a:tr h="365760">
                <a:tc>
                  <a:txBody>
                    <a:bodyPr/>
                    <a:lstStyle/>
                    <a:p>
                      <a:pPr algn="l">
                        <a:defRPr sz="2000" b="1">
                          <a:solidFill>
                            <a:srgbClr val="232624"/>
                          </a:solidFill>
                          <a:latin typeface="Aptos"/>
                        </a:defRPr>
                      </a:pPr>
                      <a:r>
                        <a:rPr dirty="0"/>
                        <a:t>C</a:t>
                      </a:r>
                    </a:p>
                  </a:txBody>
                  <a:tcPr marL="18288" marR="18288" marT="9144" marB="9144">
                    <a:solidFill>
                      <a:srgbClr val="FFFFFC"/>
                    </a:solidFill>
                  </a:tcPr>
                </a:tc>
                <a:tc>
                  <a:txBody>
                    <a:bodyPr/>
                    <a:lstStyle/>
                    <a:p>
                      <a:pPr algn="ctr">
                        <a:defRPr sz="2000" b="1">
                          <a:solidFill>
                            <a:srgbClr val="232624"/>
                          </a:solidFill>
                          <a:latin typeface="Aptos"/>
                        </a:defRPr>
                      </a:pPr>
                      <a:r>
                        <a:t>2.81</a:t>
                      </a:r>
                    </a:p>
                  </a:txBody>
                  <a:tcPr marL="18288" marR="18288" marT="9144" marB="9144">
                    <a:solidFill>
                      <a:srgbClr val="DEEFB1"/>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tc>
                  <a:txBody>
                    <a:bodyPr/>
                    <a:lstStyle/>
                    <a:p>
                      <a:pPr algn="ctr">
                        <a:defRPr sz="2000" b="0">
                          <a:solidFill>
                            <a:srgbClr val="232624"/>
                          </a:solidFill>
                          <a:latin typeface="Aptos"/>
                        </a:defRPr>
                      </a:pPr>
                      <a:r>
                        <a:t>2.44</a:t>
                      </a:r>
                    </a:p>
                  </a:txBody>
                  <a:tcPr marL="18288" marR="18288" marT="9144" marB="9144">
                    <a:solidFill>
                      <a:srgbClr val="FFFFFC"/>
                    </a:solidFill>
                  </a:tcPr>
                </a:tc>
                <a:tc>
                  <a:txBody>
                    <a:bodyPr/>
                    <a:lstStyle/>
                    <a:p>
                      <a:pPr algn="ctr">
                        <a:defRPr sz="2000" b="0">
                          <a:solidFill>
                            <a:srgbClr val="232624"/>
                          </a:solidFill>
                          <a:latin typeface="Aptos"/>
                        </a:defRPr>
                      </a:pPr>
                      <a:r>
                        <a:rPr dirty="0"/>
                        <a:t>3.22</a:t>
                      </a:r>
                    </a:p>
                  </a:txBody>
                  <a:tcPr marL="18288" marR="18288" marT="9144" marB="9144">
                    <a:solidFill>
                      <a:srgbClr val="FFFF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94360" y="3510174"/>
            <a:ext cx="11018520" cy="201168"/>
          </a:xfrm>
          <a:prstGeom prst="rect">
            <a:avLst/>
          </a:prstGeom>
          <a:noFill/>
        </p:spPr>
        <p:txBody>
          <a:bodyPr wrap="none">
            <a:spAutoFit/>
          </a:bodyPr>
          <a:lstStyle/>
          <a:p>
            <a:pPr>
              <a:defRPr sz="1600" b="1">
                <a:solidFill>
                  <a:srgbClr val="184E4B"/>
                </a:solidFill>
                <a:latin typeface="Aptos"/>
              </a:defRPr>
            </a:pPr>
            <a:r>
              <a:t>llama3-70B</a:t>
            </a:r>
          </a:p>
        </p:txBody>
      </p:sp>
      <p:graphicFrame>
        <p:nvGraphicFramePr>
          <p:cNvPr id="7" name="Table 6"/>
          <p:cNvGraphicFramePr>
            <a:graphicFrameLocks noGrp="1"/>
          </p:cNvGraphicFramePr>
          <p:nvPr/>
        </p:nvGraphicFramePr>
        <p:xfrm>
          <a:off x="594360" y="3794760"/>
          <a:ext cx="11018520" cy="182880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365760">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365760">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1.59</a:t>
                      </a:r>
                    </a:p>
                  </a:txBody>
                  <a:tcPr marL="18288" marR="18288" marT="9144" marB="9144">
                    <a:solidFill>
                      <a:srgbClr val="FFFFFC"/>
                    </a:solidFill>
                  </a:tcPr>
                </a:tc>
                <a:tc>
                  <a:txBody>
                    <a:bodyPr/>
                    <a:lstStyle/>
                    <a:p>
                      <a:pPr algn="ctr">
                        <a:defRPr sz="2000" b="1">
                          <a:solidFill>
                            <a:srgbClr val="232624"/>
                          </a:solidFill>
                          <a:latin typeface="Aptos"/>
                        </a:defRPr>
                      </a:pPr>
                      <a:r>
                        <a:t>2.06</a:t>
                      </a:r>
                    </a:p>
                  </a:txBody>
                  <a:tcPr marL="18288" marR="18288" marT="9144" marB="9144">
                    <a:solidFill>
                      <a:srgbClr val="DEEFB1"/>
                    </a:solidFill>
                  </a:tcPr>
                </a:tc>
                <a:tc>
                  <a:txBody>
                    <a:bodyPr/>
                    <a:lstStyle/>
                    <a:p>
                      <a:pPr algn="ctr">
                        <a:defRPr sz="2000" b="0">
                          <a:solidFill>
                            <a:srgbClr val="232624"/>
                          </a:solidFill>
                          <a:latin typeface="Aptos"/>
                        </a:defRPr>
                      </a:pPr>
                      <a:r>
                        <a:t>1.67</a:t>
                      </a:r>
                    </a:p>
                  </a:txBody>
                  <a:tcPr marL="18288" marR="18288" marT="9144" marB="9144">
                    <a:solidFill>
                      <a:srgbClr val="FFFFFC"/>
                    </a:solidFill>
                  </a:tcPr>
                </a:tc>
                <a:tc>
                  <a:txBody>
                    <a:bodyPr/>
                    <a:lstStyle/>
                    <a:p>
                      <a:pPr algn="ctr">
                        <a:defRPr sz="2000" b="1">
                          <a:solidFill>
                            <a:srgbClr val="232624"/>
                          </a:solidFill>
                          <a:latin typeface="Aptos"/>
                        </a:defRPr>
                      </a:pPr>
                      <a:r>
                        <a:t>2.89</a:t>
                      </a:r>
                    </a:p>
                  </a:txBody>
                  <a:tcPr marL="18288" marR="18288" marT="9144" marB="9144">
                    <a:solidFill>
                      <a:srgbClr val="DEEFB1"/>
                    </a:solidFill>
                  </a:tcPr>
                </a:tc>
                <a:extLst>
                  <a:ext uri="{0D108BD9-81ED-4DB2-BD59-A6C34878D82A}">
                    <a16:rowId xmlns:a16="http://schemas.microsoft.com/office/drawing/2014/main" val="10001"/>
                  </a:ext>
                </a:extLst>
              </a:tr>
              <a:tr h="365760">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1.26</a:t>
                      </a:r>
                    </a:p>
                  </a:txBody>
                  <a:tcPr marL="18288" marR="18288" marT="9144" marB="9144">
                    <a:solidFill>
                      <a:srgbClr val="FFFFFC"/>
                    </a:solidFill>
                  </a:tcPr>
                </a:tc>
                <a:tc>
                  <a:txBody>
                    <a:bodyPr/>
                    <a:lstStyle/>
                    <a:p>
                      <a:pPr algn="ctr">
                        <a:defRPr sz="2000" b="0">
                          <a:solidFill>
                            <a:srgbClr val="232624"/>
                          </a:solidFill>
                          <a:latin typeface="Aptos"/>
                        </a:defRPr>
                      </a:pPr>
                      <a:r>
                        <a:t>0.89</a:t>
                      </a:r>
                    </a:p>
                  </a:txBody>
                  <a:tcPr marL="18288" marR="18288" marT="9144" marB="9144">
                    <a:solidFill>
                      <a:srgbClr val="FFFFFC"/>
                    </a:solidFill>
                  </a:tcPr>
                </a:tc>
                <a:tc>
                  <a:txBody>
                    <a:bodyPr/>
                    <a:lstStyle/>
                    <a:p>
                      <a:pPr algn="ctr">
                        <a:defRPr sz="2000" b="0">
                          <a:solidFill>
                            <a:srgbClr val="232624"/>
                          </a:solidFill>
                          <a:latin typeface="Aptos"/>
                        </a:defRPr>
                      </a:pPr>
                      <a:r>
                        <a:t>1.11</a:t>
                      </a:r>
                    </a:p>
                  </a:txBody>
                  <a:tcPr marL="18288" marR="18288" marT="9144" marB="9144">
                    <a:solidFill>
                      <a:srgbClr val="FFFFFC"/>
                    </a:solidFill>
                  </a:tcPr>
                </a:tc>
                <a:tc>
                  <a:txBody>
                    <a:bodyPr/>
                    <a:lstStyle/>
                    <a:p>
                      <a:pPr algn="ctr">
                        <a:defRPr sz="2000" b="0">
                          <a:solidFill>
                            <a:srgbClr val="232624"/>
                          </a:solidFill>
                          <a:latin typeface="Aptos"/>
                        </a:defRPr>
                      </a:pPr>
                      <a:r>
                        <a:t>1.33</a:t>
                      </a:r>
                    </a:p>
                  </a:txBody>
                  <a:tcPr marL="18288" marR="18288" marT="9144" marB="9144">
                    <a:solidFill>
                      <a:srgbClr val="FFFFFC"/>
                    </a:solidFill>
                  </a:tcPr>
                </a:tc>
                <a:extLst>
                  <a:ext uri="{0D108BD9-81ED-4DB2-BD59-A6C34878D82A}">
                    <a16:rowId xmlns:a16="http://schemas.microsoft.com/office/drawing/2014/main" val="10002"/>
                  </a:ext>
                </a:extLst>
              </a:tr>
              <a:tr h="365760">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0.70</a:t>
                      </a:r>
                    </a:p>
                  </a:txBody>
                  <a:tcPr marL="18288" marR="18288" marT="9144" marB="9144">
                    <a:solidFill>
                      <a:srgbClr val="FFFFFC"/>
                    </a:solidFill>
                  </a:tcPr>
                </a:tc>
                <a:tc>
                  <a:txBody>
                    <a:bodyPr/>
                    <a:lstStyle/>
                    <a:p>
                      <a:pPr algn="ctr">
                        <a:defRPr sz="2000" b="0">
                          <a:solidFill>
                            <a:srgbClr val="232624"/>
                          </a:solidFill>
                          <a:latin typeface="Aptos"/>
                        </a:defRPr>
                      </a:pPr>
                      <a:r>
                        <a:t>0.28</a:t>
                      </a:r>
                    </a:p>
                  </a:txBody>
                  <a:tcPr marL="18288" marR="18288" marT="9144" marB="9144">
                    <a:solidFill>
                      <a:srgbClr val="FFFFFC"/>
                    </a:solidFill>
                  </a:tcPr>
                </a:tc>
                <a:tc>
                  <a:txBody>
                    <a:bodyPr/>
                    <a:lstStyle/>
                    <a:p>
                      <a:pPr algn="ctr">
                        <a:defRPr sz="2000" b="0">
                          <a:solidFill>
                            <a:srgbClr val="232624"/>
                          </a:solidFill>
                          <a:latin typeface="Aptos"/>
                        </a:defRPr>
                      </a:pPr>
                      <a:r>
                        <a:t>1.11</a:t>
                      </a:r>
                    </a:p>
                  </a:txBody>
                  <a:tcPr marL="18288" marR="18288" marT="9144" marB="9144">
                    <a:solidFill>
                      <a:srgbClr val="FFFFFC"/>
                    </a:solidFill>
                  </a:tcPr>
                </a:tc>
                <a:tc>
                  <a:txBody>
                    <a:bodyPr/>
                    <a:lstStyle/>
                    <a:p>
                      <a:pPr algn="ctr">
                        <a:defRPr sz="2000" b="0">
                          <a:solidFill>
                            <a:srgbClr val="232624"/>
                          </a:solidFill>
                          <a:latin typeface="Aptos"/>
                        </a:defRPr>
                      </a:pPr>
                      <a:r>
                        <a:t>1.44</a:t>
                      </a:r>
                    </a:p>
                  </a:txBody>
                  <a:tcPr marL="18288" marR="18288" marT="9144" marB="9144">
                    <a:solidFill>
                      <a:srgbClr val="FFFFFC"/>
                    </a:solidFill>
                  </a:tcPr>
                </a:tc>
                <a:extLst>
                  <a:ext uri="{0D108BD9-81ED-4DB2-BD59-A6C34878D82A}">
                    <a16:rowId xmlns:a16="http://schemas.microsoft.com/office/drawing/2014/main" val="10003"/>
                  </a:ext>
                </a:extLst>
              </a:tr>
              <a:tr h="365760">
                <a:tc>
                  <a:txBody>
                    <a:bodyPr/>
                    <a:lstStyle/>
                    <a:p>
                      <a:pPr algn="l">
                        <a:defRPr sz="2000" b="1">
                          <a:solidFill>
                            <a:srgbClr val="232624"/>
                          </a:solidFill>
                          <a:latin typeface="Aptos"/>
                        </a:defRPr>
                      </a:pPr>
                      <a:r>
                        <a:rPr dirty="0"/>
                        <a:t>C</a:t>
                      </a:r>
                    </a:p>
                  </a:txBody>
                  <a:tcPr marL="18288" marR="18288" marT="9144" marB="9144">
                    <a:solidFill>
                      <a:srgbClr val="FFFFFC"/>
                    </a:solidFill>
                  </a:tcPr>
                </a:tc>
                <a:tc>
                  <a:txBody>
                    <a:bodyPr/>
                    <a:lstStyle/>
                    <a:p>
                      <a:pPr algn="ctr">
                        <a:defRPr sz="2000" b="1">
                          <a:solidFill>
                            <a:srgbClr val="232624"/>
                          </a:solidFill>
                          <a:latin typeface="Aptos"/>
                        </a:defRPr>
                      </a:pPr>
                      <a:r>
                        <a:t>3.15</a:t>
                      </a:r>
                    </a:p>
                  </a:txBody>
                  <a:tcPr marL="18288" marR="18288" marT="9144" marB="9144">
                    <a:solidFill>
                      <a:srgbClr val="DEEFB1"/>
                    </a:solidFill>
                  </a:tcPr>
                </a:tc>
                <a:tc>
                  <a:txBody>
                    <a:bodyPr/>
                    <a:lstStyle/>
                    <a:p>
                      <a:pPr algn="ctr">
                        <a:defRPr sz="2000" b="0">
                          <a:solidFill>
                            <a:srgbClr val="232624"/>
                          </a:solidFill>
                          <a:latin typeface="Aptos"/>
                        </a:defRPr>
                      </a:pPr>
                      <a:r>
                        <a:t>1.17</a:t>
                      </a:r>
                    </a:p>
                  </a:txBody>
                  <a:tcPr marL="18288" marR="18288" marT="9144" marB="9144">
                    <a:solidFill>
                      <a:srgbClr val="FFFFFC"/>
                    </a:solidFill>
                  </a:tcPr>
                </a:tc>
                <a:tc>
                  <a:txBody>
                    <a:bodyPr/>
                    <a:lstStyle/>
                    <a:p>
                      <a:pPr algn="ctr">
                        <a:defRPr sz="2000" b="1">
                          <a:solidFill>
                            <a:srgbClr val="232624"/>
                          </a:solidFill>
                          <a:latin typeface="Aptos"/>
                        </a:defRPr>
                      </a:pPr>
                      <a:r>
                        <a:t>1.89</a:t>
                      </a:r>
                    </a:p>
                  </a:txBody>
                  <a:tcPr marL="18288" marR="18288" marT="9144" marB="9144">
                    <a:solidFill>
                      <a:srgbClr val="DEEFB1"/>
                    </a:solidFill>
                  </a:tcPr>
                </a:tc>
                <a:tc>
                  <a:txBody>
                    <a:bodyPr/>
                    <a:lstStyle/>
                    <a:p>
                      <a:pPr algn="ctr">
                        <a:defRPr sz="2000" b="0">
                          <a:solidFill>
                            <a:srgbClr val="232624"/>
                          </a:solidFill>
                          <a:latin typeface="Aptos"/>
                        </a:defRPr>
                      </a:pPr>
                      <a:r>
                        <a:rPr dirty="0"/>
                        <a:t>2.00</a:t>
                      </a:r>
                    </a:p>
                  </a:txBody>
                  <a:tcPr marL="18288" marR="18288" marT="9144" marB="9144">
                    <a:solidFill>
                      <a:srgbClr val="FFFF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Pattern 2 Results (1/2)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960120"/>
            <a:ext cx="11018520" cy="201168"/>
          </a:xfrm>
          <a:prstGeom prst="rect">
            <a:avLst/>
          </a:prstGeom>
          <a:noFill/>
        </p:spPr>
        <p:txBody>
          <a:bodyPr wrap="none">
            <a:spAutoFit/>
          </a:bodyPr>
          <a:lstStyle/>
          <a:p>
            <a:pPr>
              <a:defRPr sz="1600" b="1">
                <a:solidFill>
                  <a:srgbClr val="184E4B"/>
                </a:solidFill>
                <a:latin typeface="Aptos"/>
              </a:defRPr>
            </a:pPr>
            <a:r>
              <a:t>gpt-4.1</a:t>
            </a:r>
          </a:p>
        </p:txBody>
      </p:sp>
      <p:graphicFrame>
        <p:nvGraphicFramePr>
          <p:cNvPr id="5" name="Table 4"/>
          <p:cNvGraphicFramePr>
            <a:graphicFrameLocks noGrp="1"/>
          </p:cNvGraphicFramePr>
          <p:nvPr/>
        </p:nvGraphicFramePr>
        <p:xfrm>
          <a:off x="594360" y="1188720"/>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tc>
                  <a:txBody>
                    <a:bodyPr/>
                    <a:lstStyle/>
                    <a:p>
                      <a:pPr algn="ctr">
                        <a:defRPr sz="2000" b="0">
                          <a:solidFill>
                            <a:srgbClr val="232624"/>
                          </a:solidFill>
                          <a:latin typeface="Aptos"/>
                        </a:defRPr>
                      </a:pPr>
                      <a:r>
                        <a:t>1.17</a:t>
                      </a:r>
                    </a:p>
                  </a:txBody>
                  <a:tcPr marL="18288" marR="18288" marT="9144" marB="9144">
                    <a:solidFill>
                      <a:srgbClr val="FFFFFC"/>
                    </a:solidFill>
                  </a:tcPr>
                </a:tc>
                <a:tc>
                  <a:txBody>
                    <a:bodyPr/>
                    <a:lstStyle/>
                    <a:p>
                      <a:pPr algn="ctr">
                        <a:defRPr sz="2000" b="0">
                          <a:solidFill>
                            <a:srgbClr val="232624"/>
                          </a:solidFill>
                          <a:latin typeface="Aptos"/>
                        </a:defRPr>
                      </a:pPr>
                      <a:r>
                        <a:t>3.22</a:t>
                      </a:r>
                    </a:p>
                  </a:txBody>
                  <a:tcPr marL="18288" marR="18288" marT="9144" marB="9144">
                    <a:solidFill>
                      <a:srgbClr val="FFFFFC"/>
                    </a:solidFill>
                  </a:tcPr>
                </a:tc>
                <a:tc>
                  <a:txBody>
                    <a:bodyPr/>
                    <a:lstStyle/>
                    <a:p>
                      <a:pPr algn="ctr">
                        <a:defRPr sz="2000" b="1">
                          <a:solidFill>
                            <a:srgbClr val="232624"/>
                          </a:solidFill>
                          <a:latin typeface="Aptos"/>
                        </a:defRPr>
                      </a:pPr>
                      <a:r>
                        <a:t>4.00</a:t>
                      </a:r>
                    </a:p>
                  </a:txBody>
                  <a:tcPr marL="18288" marR="18288" marT="9144" marB="9144">
                    <a:solidFill>
                      <a:srgbClr val="DEEFB1"/>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2.11</a:t>
                      </a:r>
                    </a:p>
                  </a:txBody>
                  <a:tcPr marL="18288" marR="18288" marT="9144" marB="9144">
                    <a:solidFill>
                      <a:srgbClr val="FFFFFC"/>
                    </a:solidFill>
                  </a:tcPr>
                </a:tc>
                <a:tc>
                  <a:txBody>
                    <a:bodyPr/>
                    <a:lstStyle/>
                    <a:p>
                      <a:pPr algn="ctr">
                        <a:defRPr sz="2000" b="0">
                          <a:solidFill>
                            <a:srgbClr val="232624"/>
                          </a:solidFill>
                          <a:latin typeface="Aptos"/>
                        </a:defRPr>
                      </a:pPr>
                      <a:r>
                        <a:t>1.39</a:t>
                      </a:r>
                    </a:p>
                  </a:txBody>
                  <a:tcPr marL="18288" marR="18288" marT="9144" marB="9144">
                    <a:solidFill>
                      <a:srgbClr val="FFFFFC"/>
                    </a:solidFill>
                  </a:tcPr>
                </a:tc>
                <a:tc>
                  <a:txBody>
                    <a:bodyPr/>
                    <a:lstStyle/>
                    <a:p>
                      <a:pPr algn="ctr">
                        <a:defRPr sz="2000" b="0">
                          <a:solidFill>
                            <a:srgbClr val="232624"/>
                          </a:solidFill>
                          <a:latin typeface="Aptos"/>
                        </a:defRPr>
                      </a:pPr>
                      <a:r>
                        <a:t>2.78</a:t>
                      </a:r>
                    </a:p>
                  </a:txBody>
                  <a:tcPr marL="18288" marR="18288" marT="9144" marB="9144">
                    <a:solidFill>
                      <a:srgbClr val="FFFFFC"/>
                    </a:solidFill>
                  </a:tcPr>
                </a:tc>
                <a:tc>
                  <a:txBody>
                    <a:bodyPr/>
                    <a:lstStyle/>
                    <a:p>
                      <a:pPr algn="ctr">
                        <a:defRPr sz="2000" b="0">
                          <a:solidFill>
                            <a:srgbClr val="232624"/>
                          </a:solidFill>
                          <a:latin typeface="Aptos"/>
                        </a:defRPr>
                      </a:pPr>
                      <a:r>
                        <a:t>3.78</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1.93</a:t>
                      </a:r>
                    </a:p>
                  </a:txBody>
                  <a:tcPr marL="18288" marR="18288" marT="9144" marB="9144">
                    <a:solidFill>
                      <a:srgbClr val="FFFFFC"/>
                    </a:solidFill>
                  </a:tcPr>
                </a:tc>
                <a:tc>
                  <a:txBody>
                    <a:bodyPr/>
                    <a:lstStyle/>
                    <a:p>
                      <a:pPr algn="ctr">
                        <a:defRPr sz="2000" b="0">
                          <a:solidFill>
                            <a:srgbClr val="232624"/>
                          </a:solidFill>
                          <a:latin typeface="Aptos"/>
                        </a:defRPr>
                      </a:pPr>
                      <a:r>
                        <a:t>1.67</a:t>
                      </a:r>
                    </a:p>
                  </a:txBody>
                  <a:tcPr marL="18288" marR="18288" marT="9144" marB="9144">
                    <a:solidFill>
                      <a:srgbClr val="FFFFFC"/>
                    </a:solidFill>
                  </a:tcPr>
                </a:tc>
                <a:tc>
                  <a:txBody>
                    <a:bodyPr/>
                    <a:lstStyle/>
                    <a:p>
                      <a:pPr algn="ctr">
                        <a:defRPr sz="2000" b="0">
                          <a:solidFill>
                            <a:srgbClr val="232624"/>
                          </a:solidFill>
                          <a:latin typeface="Aptos"/>
                        </a:defRPr>
                      </a:pPr>
                      <a:r>
                        <a:t>3.11</a:t>
                      </a:r>
                    </a:p>
                  </a:txBody>
                  <a:tcPr marL="18288" marR="18288" marT="9144" marB="9144">
                    <a:solidFill>
                      <a:srgbClr val="FFFFFC"/>
                    </a:solidFill>
                  </a:tcPr>
                </a:tc>
                <a:tc>
                  <a:txBody>
                    <a:bodyPr/>
                    <a:lstStyle/>
                    <a:p>
                      <a:pPr algn="ctr">
                        <a:defRPr sz="2000" b="1">
                          <a:solidFill>
                            <a:srgbClr val="232624"/>
                          </a:solidFill>
                          <a:latin typeface="Aptos"/>
                        </a:defRPr>
                      </a:pPr>
                      <a:r>
                        <a:t>4.00</a:t>
                      </a:r>
                    </a:p>
                  </a:txBody>
                  <a:tcPr marL="18288" marR="18288" marT="9144" marB="9144">
                    <a:solidFill>
                      <a:srgbClr val="DEEFB1"/>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2.26</a:t>
                      </a:r>
                    </a:p>
                  </a:txBody>
                  <a:tcPr marL="18288" marR="18288" marT="9144" marB="9144">
                    <a:solidFill>
                      <a:srgbClr val="DEEFB1"/>
                    </a:solidFill>
                  </a:tcPr>
                </a:tc>
                <a:tc>
                  <a:txBody>
                    <a:bodyPr/>
                    <a:lstStyle/>
                    <a:p>
                      <a:pPr algn="ctr">
                        <a:defRPr sz="2000" b="1">
                          <a:solidFill>
                            <a:srgbClr val="232624"/>
                          </a:solidFill>
                          <a:latin typeface="Aptos"/>
                        </a:defRPr>
                      </a:pPr>
                      <a:r>
                        <a:t>1.89</a:t>
                      </a:r>
                    </a:p>
                  </a:txBody>
                  <a:tcPr marL="18288" marR="18288" marT="9144" marB="9144">
                    <a:solidFill>
                      <a:srgbClr val="DEEFB1"/>
                    </a:solidFill>
                  </a:tcPr>
                </a:tc>
                <a:tc>
                  <a:txBody>
                    <a:bodyPr/>
                    <a:lstStyle/>
                    <a:p>
                      <a:pPr algn="ctr">
                        <a:defRPr sz="2000" b="1">
                          <a:solidFill>
                            <a:srgbClr val="232624"/>
                          </a:solidFill>
                          <a:latin typeface="Aptos"/>
                        </a:defRPr>
                      </a:pPr>
                      <a:r>
                        <a:t>3.33</a:t>
                      </a:r>
                    </a:p>
                  </a:txBody>
                  <a:tcPr marL="18288" marR="18288" marT="9144" marB="9144">
                    <a:solidFill>
                      <a:srgbClr val="DEEFB1"/>
                    </a:solidFill>
                  </a:tcPr>
                </a:tc>
                <a:tc>
                  <a:txBody>
                    <a:bodyPr/>
                    <a:lstStyle/>
                    <a:p>
                      <a:pPr algn="ctr">
                        <a:defRPr sz="2000" b="1">
                          <a:solidFill>
                            <a:srgbClr val="232624"/>
                          </a:solidFill>
                          <a:latin typeface="Aptos"/>
                        </a:defRPr>
                      </a:pPr>
                      <a:r>
                        <a:rPr dirty="0"/>
                        <a:t>4.00</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94360" y="2834639"/>
            <a:ext cx="11018520" cy="201168"/>
          </a:xfrm>
          <a:prstGeom prst="rect">
            <a:avLst/>
          </a:prstGeom>
          <a:noFill/>
        </p:spPr>
        <p:txBody>
          <a:bodyPr wrap="none">
            <a:spAutoFit/>
          </a:bodyPr>
          <a:lstStyle/>
          <a:p>
            <a:pPr>
              <a:defRPr sz="1600" b="1">
                <a:solidFill>
                  <a:srgbClr val="184E4B"/>
                </a:solidFill>
                <a:latin typeface="Aptos"/>
              </a:defRPr>
            </a:pPr>
            <a:r>
              <a:t>gpt-oss-high</a:t>
            </a:r>
          </a:p>
        </p:txBody>
      </p:sp>
      <p:graphicFrame>
        <p:nvGraphicFramePr>
          <p:cNvPr id="7" name="Table 6"/>
          <p:cNvGraphicFramePr>
            <a:graphicFrameLocks noGrp="1"/>
          </p:cNvGraphicFramePr>
          <p:nvPr/>
        </p:nvGraphicFramePr>
        <p:xfrm>
          <a:off x="594360" y="3063239"/>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1.33</a:t>
                      </a:r>
                    </a:p>
                  </a:txBody>
                  <a:tcPr marL="18288" marR="18288" marT="9144" marB="9144">
                    <a:solidFill>
                      <a:srgbClr val="FFFFFC"/>
                    </a:solidFill>
                  </a:tcPr>
                </a:tc>
                <a:tc>
                  <a:txBody>
                    <a:bodyPr/>
                    <a:lstStyle/>
                    <a:p>
                      <a:pPr algn="ctr">
                        <a:defRPr sz="2000" b="0">
                          <a:solidFill>
                            <a:srgbClr val="232624"/>
                          </a:solidFill>
                          <a:latin typeface="Aptos"/>
                        </a:defRPr>
                      </a:pPr>
                      <a:r>
                        <a:t>0.94</a:t>
                      </a:r>
                    </a:p>
                  </a:txBody>
                  <a:tcPr marL="18288" marR="18288" marT="9144" marB="9144">
                    <a:solidFill>
                      <a:srgbClr val="FFFFFC"/>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0">
                          <a:solidFill>
                            <a:srgbClr val="232624"/>
                          </a:solidFill>
                          <a:latin typeface="Aptos"/>
                        </a:defRPr>
                      </a:pPr>
                      <a:r>
                        <a:t>3.22</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1.41</a:t>
                      </a:r>
                    </a:p>
                  </a:txBody>
                  <a:tcPr marL="18288" marR="18288" marT="9144" marB="9144">
                    <a:solidFill>
                      <a:srgbClr val="FFFFFC"/>
                    </a:solidFill>
                  </a:tcPr>
                </a:tc>
                <a:tc>
                  <a:txBody>
                    <a:bodyPr/>
                    <a:lstStyle/>
                    <a:p>
                      <a:pPr algn="ctr">
                        <a:defRPr sz="2000" b="1">
                          <a:solidFill>
                            <a:srgbClr val="232624"/>
                          </a:solidFill>
                          <a:latin typeface="Aptos"/>
                        </a:defRPr>
                      </a:pPr>
                      <a:r>
                        <a:t>1.17</a:t>
                      </a:r>
                    </a:p>
                  </a:txBody>
                  <a:tcPr marL="18288" marR="18288" marT="9144" marB="9144">
                    <a:solidFill>
                      <a:srgbClr val="DEEFB1"/>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0">
                          <a:solidFill>
                            <a:srgbClr val="232624"/>
                          </a:solidFill>
                          <a:latin typeface="Aptos"/>
                        </a:defRPr>
                      </a:pPr>
                      <a:r>
                        <a:t>3.11</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1.78</a:t>
                      </a:r>
                    </a:p>
                  </a:txBody>
                  <a:tcPr marL="18288" marR="18288" marT="9144" marB="9144">
                    <a:solidFill>
                      <a:srgbClr val="FFFFFC"/>
                    </a:solidFill>
                  </a:tcPr>
                </a:tc>
                <a:tc>
                  <a:txBody>
                    <a:bodyPr/>
                    <a:lstStyle/>
                    <a:p>
                      <a:pPr algn="ctr">
                        <a:defRPr sz="2000" b="0">
                          <a:solidFill>
                            <a:srgbClr val="232624"/>
                          </a:solidFill>
                          <a:latin typeface="Aptos"/>
                        </a:defRPr>
                      </a:pPr>
                      <a:r>
                        <a:t>0.94</a:t>
                      </a:r>
                    </a:p>
                  </a:txBody>
                  <a:tcPr marL="18288" marR="18288" marT="9144" marB="9144">
                    <a:solidFill>
                      <a:srgbClr val="FFFFFC"/>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0">
                          <a:solidFill>
                            <a:srgbClr val="232624"/>
                          </a:solidFill>
                          <a:latin typeface="Aptos"/>
                        </a:defRPr>
                      </a:pPr>
                      <a:r>
                        <a:t>3.00</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rPr dirty="0"/>
                        <a:t>C</a:t>
                      </a:r>
                    </a:p>
                  </a:txBody>
                  <a:tcPr marL="18288" marR="18288" marT="9144" marB="9144">
                    <a:solidFill>
                      <a:srgbClr val="FFFFFC"/>
                    </a:solidFill>
                  </a:tcPr>
                </a:tc>
                <a:tc>
                  <a:txBody>
                    <a:bodyPr/>
                    <a:lstStyle/>
                    <a:p>
                      <a:pPr algn="ctr">
                        <a:defRPr sz="2000" b="1">
                          <a:solidFill>
                            <a:srgbClr val="232624"/>
                          </a:solidFill>
                          <a:latin typeface="Aptos"/>
                        </a:defRPr>
                      </a:pPr>
                      <a:r>
                        <a:t>2.48</a:t>
                      </a:r>
                    </a:p>
                  </a:txBody>
                  <a:tcPr marL="18288" marR="18288" marT="9144" marB="9144">
                    <a:solidFill>
                      <a:srgbClr val="DEEFB1"/>
                    </a:solidFill>
                  </a:tcPr>
                </a:tc>
                <a:tc>
                  <a:txBody>
                    <a:bodyPr/>
                    <a:lstStyle/>
                    <a:p>
                      <a:pPr algn="ctr">
                        <a:defRPr sz="2000" b="0">
                          <a:solidFill>
                            <a:srgbClr val="232624"/>
                          </a:solidFill>
                          <a:latin typeface="Aptos"/>
                        </a:defRPr>
                      </a:pPr>
                      <a:r>
                        <a:t>1.00</a:t>
                      </a:r>
                    </a:p>
                  </a:txBody>
                  <a:tcPr marL="18288" marR="18288" marT="9144" marB="9144">
                    <a:solidFill>
                      <a:srgbClr val="FFFFFC"/>
                    </a:solidFill>
                  </a:tcPr>
                </a:tc>
                <a:tc>
                  <a:txBody>
                    <a:bodyPr/>
                    <a:lstStyle/>
                    <a:p>
                      <a:pPr algn="ctr">
                        <a:defRPr sz="2000" b="1">
                          <a:solidFill>
                            <a:srgbClr val="232624"/>
                          </a:solidFill>
                          <a:latin typeface="Aptos"/>
                        </a:defRPr>
                      </a:pPr>
                      <a:r>
                        <a:t>3.00</a:t>
                      </a:r>
                    </a:p>
                  </a:txBody>
                  <a:tcPr marL="18288" marR="18288" marT="9144" marB="9144">
                    <a:solidFill>
                      <a:srgbClr val="DEEFB1"/>
                    </a:solidFill>
                  </a:tcPr>
                </a:tc>
                <a:tc>
                  <a:txBody>
                    <a:bodyPr/>
                    <a:lstStyle/>
                    <a:p>
                      <a:pPr algn="ctr">
                        <a:defRPr sz="2000" b="1">
                          <a:solidFill>
                            <a:srgbClr val="232624"/>
                          </a:solidFill>
                          <a:latin typeface="Aptos"/>
                        </a:defRPr>
                      </a:pPr>
                      <a:r>
                        <a:rPr dirty="0"/>
                        <a:t>3.67</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94360" y="4709159"/>
            <a:ext cx="11018520" cy="201168"/>
          </a:xfrm>
          <a:prstGeom prst="rect">
            <a:avLst/>
          </a:prstGeom>
          <a:noFill/>
        </p:spPr>
        <p:txBody>
          <a:bodyPr wrap="none">
            <a:spAutoFit/>
          </a:bodyPr>
          <a:lstStyle/>
          <a:p>
            <a:pPr>
              <a:defRPr sz="1600" b="1">
                <a:solidFill>
                  <a:srgbClr val="184E4B"/>
                </a:solidFill>
                <a:latin typeface="Aptos"/>
              </a:defRPr>
            </a:pPr>
            <a:r>
              <a:t>gpt-oss-medium</a:t>
            </a:r>
          </a:p>
        </p:txBody>
      </p:sp>
      <p:graphicFrame>
        <p:nvGraphicFramePr>
          <p:cNvPr id="9" name="Table 8"/>
          <p:cNvGraphicFramePr>
            <a:graphicFrameLocks noGrp="1"/>
          </p:cNvGraphicFramePr>
          <p:nvPr/>
        </p:nvGraphicFramePr>
        <p:xfrm>
          <a:off x="594360" y="4937759"/>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1.28</a:t>
                      </a:r>
                    </a:p>
                  </a:txBody>
                  <a:tcPr marL="18288" marR="18288" marT="9144" marB="9144">
                    <a:solidFill>
                      <a:srgbClr val="FFFFFC"/>
                    </a:solidFill>
                  </a:tcPr>
                </a:tc>
                <a:tc>
                  <a:txBody>
                    <a:bodyPr/>
                    <a:lstStyle/>
                    <a:p>
                      <a:pPr algn="ctr">
                        <a:defRPr sz="2000" b="0">
                          <a:solidFill>
                            <a:srgbClr val="232624"/>
                          </a:solidFill>
                          <a:latin typeface="Aptos"/>
                        </a:defRPr>
                      </a:pPr>
                      <a:r>
                        <a:t>0.89</a:t>
                      </a:r>
                    </a:p>
                  </a:txBody>
                  <a:tcPr marL="18288" marR="18288" marT="9144" marB="9144">
                    <a:solidFill>
                      <a:srgbClr val="FFFFFC"/>
                    </a:solidFill>
                  </a:tcPr>
                </a:tc>
                <a:tc>
                  <a:txBody>
                    <a:bodyPr/>
                    <a:lstStyle/>
                    <a:p>
                      <a:pPr algn="ctr">
                        <a:defRPr sz="2000" b="0">
                          <a:solidFill>
                            <a:srgbClr val="232624"/>
                          </a:solidFill>
                          <a:latin typeface="Aptos"/>
                        </a:defRPr>
                      </a:pPr>
                      <a:r>
                        <a:t>1.11</a:t>
                      </a:r>
                    </a:p>
                  </a:txBody>
                  <a:tcPr marL="18288" marR="18288" marT="9144" marB="9144">
                    <a:solidFill>
                      <a:srgbClr val="FFFFFC"/>
                    </a:solidFill>
                  </a:tcPr>
                </a:tc>
                <a:tc>
                  <a:txBody>
                    <a:bodyPr/>
                    <a:lstStyle/>
                    <a:p>
                      <a:pPr algn="ctr">
                        <a:defRPr sz="2000" b="0">
                          <a:solidFill>
                            <a:srgbClr val="232624"/>
                          </a:solidFill>
                          <a:latin typeface="Aptos"/>
                        </a:defRPr>
                      </a:pPr>
                      <a:r>
                        <a:t>2.00</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0.78</a:t>
                      </a:r>
                    </a:p>
                  </a:txBody>
                  <a:tcPr marL="18288" marR="18288" marT="9144" marB="9144">
                    <a:solidFill>
                      <a:srgbClr val="FFFFFC"/>
                    </a:solidFill>
                  </a:tcPr>
                </a:tc>
                <a:tc>
                  <a:txBody>
                    <a:bodyPr/>
                    <a:lstStyle/>
                    <a:p>
                      <a:pPr algn="ctr">
                        <a:defRPr sz="2000" b="1">
                          <a:solidFill>
                            <a:srgbClr val="232624"/>
                          </a:solidFill>
                          <a:latin typeface="Aptos"/>
                        </a:defRPr>
                      </a:pPr>
                      <a:r>
                        <a:t>1.17</a:t>
                      </a:r>
                    </a:p>
                  </a:txBody>
                  <a:tcPr marL="18288" marR="18288" marT="9144" marB="9144">
                    <a:solidFill>
                      <a:srgbClr val="DEEFB1"/>
                    </a:solidFill>
                  </a:tcPr>
                </a:tc>
                <a:tc>
                  <a:txBody>
                    <a:bodyPr/>
                    <a:lstStyle/>
                    <a:p>
                      <a:pPr algn="ctr">
                        <a:defRPr sz="2000" b="0">
                          <a:solidFill>
                            <a:srgbClr val="232624"/>
                          </a:solidFill>
                          <a:latin typeface="Aptos"/>
                        </a:defRPr>
                      </a:pPr>
                      <a:r>
                        <a:t>1.11</a:t>
                      </a:r>
                    </a:p>
                  </a:txBody>
                  <a:tcPr marL="18288" marR="18288" marT="9144" marB="9144">
                    <a:solidFill>
                      <a:srgbClr val="FFFFFC"/>
                    </a:solidFill>
                  </a:tcPr>
                </a:tc>
                <a:tc>
                  <a:txBody>
                    <a:bodyPr/>
                    <a:lstStyle/>
                    <a:p>
                      <a:pPr algn="ctr">
                        <a:defRPr sz="2000" b="0">
                          <a:solidFill>
                            <a:srgbClr val="232624"/>
                          </a:solidFill>
                          <a:latin typeface="Aptos"/>
                        </a:defRPr>
                      </a:pPr>
                      <a:r>
                        <a:t>1.67</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0.89</a:t>
                      </a:r>
                    </a:p>
                  </a:txBody>
                  <a:tcPr marL="18288" marR="18288" marT="9144" marB="9144">
                    <a:solidFill>
                      <a:srgbClr val="FFFFFC"/>
                    </a:solidFill>
                  </a:tcPr>
                </a:tc>
                <a:tc>
                  <a:txBody>
                    <a:bodyPr/>
                    <a:lstStyle/>
                    <a:p>
                      <a:pPr algn="ctr">
                        <a:defRPr sz="2000" b="0">
                          <a:solidFill>
                            <a:srgbClr val="232624"/>
                          </a:solidFill>
                          <a:latin typeface="Aptos"/>
                        </a:defRPr>
                      </a:pPr>
                      <a:r>
                        <a:t>1.11</a:t>
                      </a:r>
                    </a:p>
                  </a:txBody>
                  <a:tcPr marL="18288" marR="18288" marT="9144" marB="9144">
                    <a:solidFill>
                      <a:srgbClr val="FFFFFC"/>
                    </a:solidFill>
                  </a:tcPr>
                </a:tc>
                <a:tc>
                  <a:txBody>
                    <a:bodyPr/>
                    <a:lstStyle/>
                    <a:p>
                      <a:pPr algn="ctr">
                        <a:defRPr sz="2000" b="0">
                          <a:solidFill>
                            <a:srgbClr val="232624"/>
                          </a:solidFill>
                          <a:latin typeface="Aptos"/>
                        </a:defRPr>
                      </a:pPr>
                      <a:r>
                        <a:t>1.11</a:t>
                      </a:r>
                    </a:p>
                  </a:txBody>
                  <a:tcPr marL="18288" marR="18288" marT="9144" marB="9144">
                    <a:solidFill>
                      <a:srgbClr val="FFFFFC"/>
                    </a:solidFill>
                  </a:tcPr>
                </a:tc>
                <a:tc>
                  <a:txBody>
                    <a:bodyPr/>
                    <a:lstStyle/>
                    <a:p>
                      <a:pPr algn="ctr">
                        <a:defRPr sz="2000" b="0">
                          <a:solidFill>
                            <a:srgbClr val="232624"/>
                          </a:solidFill>
                          <a:latin typeface="Aptos"/>
                        </a:defRPr>
                      </a:pPr>
                      <a:r>
                        <a:t>1.67</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2.11</a:t>
                      </a:r>
                    </a:p>
                  </a:txBody>
                  <a:tcPr marL="18288" marR="18288" marT="9144" marB="9144">
                    <a:solidFill>
                      <a:srgbClr val="DEEFB1"/>
                    </a:solidFill>
                  </a:tcPr>
                </a:tc>
                <a:tc>
                  <a:txBody>
                    <a:bodyPr/>
                    <a:lstStyle/>
                    <a:p>
                      <a:pPr algn="ctr">
                        <a:defRPr sz="2000" b="0">
                          <a:solidFill>
                            <a:srgbClr val="232624"/>
                          </a:solidFill>
                          <a:latin typeface="Aptos"/>
                        </a:defRPr>
                      </a:pPr>
                      <a:r>
                        <a:t>1.06</a:t>
                      </a:r>
                    </a:p>
                  </a:txBody>
                  <a:tcPr marL="18288" marR="18288" marT="9144" marB="9144">
                    <a:solidFill>
                      <a:srgbClr val="FFFFFC"/>
                    </a:solidFill>
                  </a:tcPr>
                </a:tc>
                <a:tc>
                  <a:txBody>
                    <a:bodyPr/>
                    <a:lstStyle/>
                    <a:p>
                      <a:pPr algn="ctr">
                        <a:defRPr sz="2000" b="1">
                          <a:solidFill>
                            <a:srgbClr val="232624"/>
                          </a:solidFill>
                          <a:latin typeface="Aptos"/>
                        </a:defRPr>
                      </a:pPr>
                      <a:r>
                        <a:t>3.22</a:t>
                      </a:r>
                    </a:p>
                  </a:txBody>
                  <a:tcPr marL="18288" marR="18288" marT="9144" marB="9144">
                    <a:solidFill>
                      <a:srgbClr val="DEEFB1"/>
                    </a:solidFill>
                  </a:tcPr>
                </a:tc>
                <a:tc>
                  <a:txBody>
                    <a:bodyPr/>
                    <a:lstStyle/>
                    <a:p>
                      <a:pPr algn="ctr">
                        <a:defRPr sz="2000" b="1">
                          <a:solidFill>
                            <a:srgbClr val="232624"/>
                          </a:solidFill>
                          <a:latin typeface="Aptos"/>
                        </a:defRPr>
                      </a:pPr>
                      <a:r>
                        <a:t>3.56</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Pattern 2 Results (2/2)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1234440"/>
            <a:ext cx="11018520" cy="201168"/>
          </a:xfrm>
          <a:prstGeom prst="rect">
            <a:avLst/>
          </a:prstGeom>
          <a:noFill/>
        </p:spPr>
        <p:txBody>
          <a:bodyPr wrap="none">
            <a:spAutoFit/>
          </a:bodyPr>
          <a:lstStyle/>
          <a:p>
            <a:pPr>
              <a:defRPr sz="1600" b="1">
                <a:solidFill>
                  <a:srgbClr val="184E4B"/>
                </a:solidFill>
                <a:latin typeface="Aptos"/>
              </a:defRPr>
            </a:pPr>
            <a:r>
              <a:t>qwen3-32B non-reasoning</a:t>
            </a:r>
          </a:p>
        </p:txBody>
      </p:sp>
      <p:graphicFrame>
        <p:nvGraphicFramePr>
          <p:cNvPr id="5" name="Table 4"/>
          <p:cNvGraphicFramePr>
            <a:graphicFrameLocks noGrp="1"/>
          </p:cNvGraphicFramePr>
          <p:nvPr/>
        </p:nvGraphicFramePr>
        <p:xfrm>
          <a:off x="594360" y="1463040"/>
          <a:ext cx="11018520" cy="182880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365760">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365760">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rPr dirty="0"/>
                        <a:t>1.04</a:t>
                      </a:r>
                    </a:p>
                  </a:txBody>
                  <a:tcPr marL="18288" marR="18288" marT="9144" marB="9144">
                    <a:solidFill>
                      <a:srgbClr val="FFFFFC"/>
                    </a:solidFill>
                  </a:tcPr>
                </a:tc>
                <a:tc>
                  <a:txBody>
                    <a:bodyPr/>
                    <a:lstStyle/>
                    <a:p>
                      <a:pPr algn="ctr">
                        <a:defRPr sz="2000" b="0">
                          <a:solidFill>
                            <a:srgbClr val="232624"/>
                          </a:solidFill>
                          <a:latin typeface="Aptos"/>
                        </a:defRPr>
                      </a:pPr>
                      <a:r>
                        <a:t>0.72</a:t>
                      </a:r>
                    </a:p>
                  </a:txBody>
                  <a:tcPr marL="18288" marR="18288" marT="9144" marB="9144">
                    <a:solidFill>
                      <a:srgbClr val="FFFFFC"/>
                    </a:solidFill>
                  </a:tcPr>
                </a:tc>
                <a:tc>
                  <a:txBody>
                    <a:bodyPr/>
                    <a:lstStyle/>
                    <a:p>
                      <a:pPr algn="ctr">
                        <a:defRPr sz="2000" b="1">
                          <a:solidFill>
                            <a:srgbClr val="232624"/>
                          </a:solidFill>
                          <a:latin typeface="Aptos"/>
                        </a:defRPr>
                      </a:pPr>
                      <a:r>
                        <a:t>3.11</a:t>
                      </a:r>
                    </a:p>
                  </a:txBody>
                  <a:tcPr marL="18288" marR="18288" marT="9144" marB="9144">
                    <a:solidFill>
                      <a:srgbClr val="DEEFB1"/>
                    </a:solidFill>
                  </a:tcPr>
                </a:tc>
                <a:tc>
                  <a:txBody>
                    <a:bodyPr/>
                    <a:lstStyle/>
                    <a:p>
                      <a:pPr algn="ctr">
                        <a:defRPr sz="2000" b="1">
                          <a:solidFill>
                            <a:srgbClr val="232624"/>
                          </a:solidFill>
                          <a:latin typeface="Aptos"/>
                        </a:defRPr>
                      </a:pPr>
                      <a:r>
                        <a:t>3.78</a:t>
                      </a:r>
                    </a:p>
                  </a:txBody>
                  <a:tcPr marL="18288" marR="18288" marT="9144" marB="9144">
                    <a:solidFill>
                      <a:srgbClr val="DEEFB1"/>
                    </a:solidFill>
                  </a:tcPr>
                </a:tc>
                <a:extLst>
                  <a:ext uri="{0D108BD9-81ED-4DB2-BD59-A6C34878D82A}">
                    <a16:rowId xmlns:a16="http://schemas.microsoft.com/office/drawing/2014/main" val="10001"/>
                  </a:ext>
                </a:extLst>
              </a:tr>
              <a:tr h="365760">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0.85</a:t>
                      </a:r>
                    </a:p>
                  </a:txBody>
                  <a:tcPr marL="18288" marR="18288" marT="9144" marB="9144">
                    <a:solidFill>
                      <a:srgbClr val="FFFFFC"/>
                    </a:solidFill>
                  </a:tcPr>
                </a:tc>
                <a:tc>
                  <a:txBody>
                    <a:bodyPr/>
                    <a:lstStyle/>
                    <a:p>
                      <a:pPr algn="ctr">
                        <a:defRPr sz="2000" b="0">
                          <a:solidFill>
                            <a:srgbClr val="232624"/>
                          </a:solidFill>
                          <a:latin typeface="Aptos"/>
                        </a:defRPr>
                      </a:pPr>
                      <a:r>
                        <a:t>1.00</a:t>
                      </a:r>
                    </a:p>
                  </a:txBody>
                  <a:tcPr marL="18288" marR="18288" marT="9144" marB="9144">
                    <a:solidFill>
                      <a:srgbClr val="FFFFFC"/>
                    </a:solidFill>
                  </a:tcPr>
                </a:tc>
                <a:tc>
                  <a:txBody>
                    <a:bodyPr/>
                    <a:lstStyle/>
                    <a:p>
                      <a:pPr algn="ctr">
                        <a:defRPr sz="2000" b="0">
                          <a:solidFill>
                            <a:srgbClr val="232624"/>
                          </a:solidFill>
                          <a:latin typeface="Aptos"/>
                        </a:defRPr>
                      </a:pPr>
                      <a:r>
                        <a:t>1.89</a:t>
                      </a:r>
                    </a:p>
                  </a:txBody>
                  <a:tcPr marL="18288" marR="18288" marT="9144" marB="9144">
                    <a:solidFill>
                      <a:srgbClr val="FFFFFC"/>
                    </a:solidFill>
                  </a:tcPr>
                </a:tc>
                <a:tc>
                  <a:txBody>
                    <a:bodyPr/>
                    <a:lstStyle/>
                    <a:p>
                      <a:pPr algn="ctr">
                        <a:defRPr sz="2000" b="0">
                          <a:solidFill>
                            <a:srgbClr val="232624"/>
                          </a:solidFill>
                          <a:latin typeface="Aptos"/>
                        </a:defRPr>
                      </a:pPr>
                      <a:r>
                        <a:t>2.67</a:t>
                      </a:r>
                    </a:p>
                  </a:txBody>
                  <a:tcPr marL="18288" marR="18288" marT="9144" marB="9144">
                    <a:solidFill>
                      <a:srgbClr val="FFFFFC"/>
                    </a:solidFill>
                  </a:tcPr>
                </a:tc>
                <a:extLst>
                  <a:ext uri="{0D108BD9-81ED-4DB2-BD59-A6C34878D82A}">
                    <a16:rowId xmlns:a16="http://schemas.microsoft.com/office/drawing/2014/main" val="10002"/>
                  </a:ext>
                </a:extLst>
              </a:tr>
              <a:tr h="365760">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1.00</a:t>
                      </a:r>
                    </a:p>
                  </a:txBody>
                  <a:tcPr marL="18288" marR="18288" marT="9144" marB="9144">
                    <a:solidFill>
                      <a:srgbClr val="FFFFFC"/>
                    </a:solidFill>
                  </a:tcPr>
                </a:tc>
                <a:tc>
                  <a:txBody>
                    <a:bodyPr/>
                    <a:lstStyle/>
                    <a:p>
                      <a:pPr algn="ctr">
                        <a:defRPr sz="2000" b="1">
                          <a:solidFill>
                            <a:srgbClr val="232624"/>
                          </a:solidFill>
                          <a:latin typeface="Aptos"/>
                        </a:defRPr>
                      </a:pPr>
                      <a:r>
                        <a:t>1.17</a:t>
                      </a:r>
                    </a:p>
                  </a:txBody>
                  <a:tcPr marL="18288" marR="18288" marT="9144" marB="9144">
                    <a:solidFill>
                      <a:srgbClr val="DEEFB1"/>
                    </a:solidFill>
                  </a:tcPr>
                </a:tc>
                <a:tc>
                  <a:txBody>
                    <a:bodyPr/>
                    <a:lstStyle/>
                    <a:p>
                      <a:pPr algn="ctr">
                        <a:defRPr sz="2000" b="0">
                          <a:solidFill>
                            <a:srgbClr val="232624"/>
                          </a:solidFill>
                          <a:latin typeface="Aptos"/>
                        </a:defRPr>
                      </a:pPr>
                      <a:r>
                        <a:t>2.11</a:t>
                      </a:r>
                    </a:p>
                  </a:txBody>
                  <a:tcPr marL="18288" marR="18288" marT="9144" marB="9144">
                    <a:solidFill>
                      <a:srgbClr val="FFFFFC"/>
                    </a:solidFill>
                  </a:tcPr>
                </a:tc>
                <a:tc>
                  <a:txBody>
                    <a:bodyPr/>
                    <a:lstStyle/>
                    <a:p>
                      <a:pPr algn="ctr">
                        <a:defRPr sz="2000" b="0">
                          <a:solidFill>
                            <a:srgbClr val="232624"/>
                          </a:solidFill>
                          <a:latin typeface="Aptos"/>
                        </a:defRPr>
                      </a:pPr>
                      <a:r>
                        <a:t>3.11</a:t>
                      </a:r>
                    </a:p>
                  </a:txBody>
                  <a:tcPr marL="18288" marR="18288" marT="9144" marB="9144">
                    <a:solidFill>
                      <a:srgbClr val="FFFFFC"/>
                    </a:solidFill>
                  </a:tcPr>
                </a:tc>
                <a:extLst>
                  <a:ext uri="{0D108BD9-81ED-4DB2-BD59-A6C34878D82A}">
                    <a16:rowId xmlns:a16="http://schemas.microsoft.com/office/drawing/2014/main" val="10003"/>
                  </a:ext>
                </a:extLst>
              </a:tr>
              <a:tr h="365760">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2.15</a:t>
                      </a:r>
                    </a:p>
                  </a:txBody>
                  <a:tcPr marL="18288" marR="18288" marT="9144" marB="9144">
                    <a:solidFill>
                      <a:srgbClr val="DEEFB1"/>
                    </a:solidFill>
                  </a:tcPr>
                </a:tc>
                <a:tc>
                  <a:txBody>
                    <a:bodyPr/>
                    <a:lstStyle/>
                    <a:p>
                      <a:pPr algn="ctr">
                        <a:defRPr sz="2000" b="0">
                          <a:solidFill>
                            <a:srgbClr val="232624"/>
                          </a:solidFill>
                          <a:latin typeface="Aptos"/>
                        </a:defRPr>
                      </a:pPr>
                      <a:r>
                        <a:t>0.40</a:t>
                      </a:r>
                    </a:p>
                  </a:txBody>
                  <a:tcPr marL="18288" marR="18288" marT="9144" marB="9144">
                    <a:solidFill>
                      <a:srgbClr val="FFFFFC"/>
                    </a:solidFill>
                  </a:tcPr>
                </a:tc>
                <a:tc>
                  <a:txBody>
                    <a:bodyPr/>
                    <a:lstStyle/>
                    <a:p>
                      <a:pPr algn="ctr">
                        <a:defRPr sz="2000" b="0">
                          <a:solidFill>
                            <a:srgbClr val="232624"/>
                          </a:solidFill>
                          <a:latin typeface="Aptos"/>
                        </a:defRPr>
                      </a:pPr>
                      <a:r>
                        <a:t>2.33</a:t>
                      </a:r>
                    </a:p>
                  </a:txBody>
                  <a:tcPr marL="18288" marR="18288" marT="9144" marB="9144">
                    <a:solidFill>
                      <a:srgbClr val="FFFFFC"/>
                    </a:solidFill>
                  </a:tcPr>
                </a:tc>
                <a:tc>
                  <a:txBody>
                    <a:bodyPr/>
                    <a:lstStyle/>
                    <a:p>
                      <a:pPr algn="ctr">
                        <a:defRPr sz="2000" b="0">
                          <a:solidFill>
                            <a:srgbClr val="232624"/>
                          </a:solidFill>
                          <a:latin typeface="Aptos"/>
                        </a:defRPr>
                      </a:pPr>
                      <a:r>
                        <a:rPr dirty="0"/>
                        <a:t>3.11</a:t>
                      </a:r>
                    </a:p>
                  </a:txBody>
                  <a:tcPr marL="18288" marR="18288" marT="9144" marB="9144">
                    <a:solidFill>
                      <a:srgbClr val="FFFF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94360" y="3566160"/>
            <a:ext cx="11018520" cy="201168"/>
          </a:xfrm>
          <a:prstGeom prst="rect">
            <a:avLst/>
          </a:prstGeom>
          <a:noFill/>
        </p:spPr>
        <p:txBody>
          <a:bodyPr wrap="none">
            <a:spAutoFit/>
          </a:bodyPr>
          <a:lstStyle/>
          <a:p>
            <a:pPr>
              <a:defRPr sz="1600" b="1">
                <a:solidFill>
                  <a:srgbClr val="184E4B"/>
                </a:solidFill>
                <a:latin typeface="Aptos"/>
              </a:defRPr>
            </a:pPr>
            <a:r>
              <a:t>llama3-70B</a:t>
            </a:r>
          </a:p>
        </p:txBody>
      </p:sp>
      <p:graphicFrame>
        <p:nvGraphicFramePr>
          <p:cNvPr id="7" name="Table 6"/>
          <p:cNvGraphicFramePr>
            <a:graphicFrameLocks noGrp="1"/>
          </p:cNvGraphicFramePr>
          <p:nvPr/>
        </p:nvGraphicFramePr>
        <p:xfrm>
          <a:off x="594360" y="3794760"/>
          <a:ext cx="11018520" cy="182880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365760">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365760">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1.48</a:t>
                      </a:r>
                    </a:p>
                  </a:txBody>
                  <a:tcPr marL="18288" marR="18288" marT="9144" marB="9144">
                    <a:solidFill>
                      <a:srgbClr val="FFFFFC"/>
                    </a:solidFill>
                  </a:tcPr>
                </a:tc>
                <a:tc>
                  <a:txBody>
                    <a:bodyPr/>
                    <a:lstStyle/>
                    <a:p>
                      <a:pPr algn="ctr">
                        <a:defRPr sz="2000" b="1">
                          <a:solidFill>
                            <a:srgbClr val="232624"/>
                          </a:solidFill>
                          <a:latin typeface="Aptos"/>
                        </a:defRPr>
                      </a:pPr>
                      <a:r>
                        <a:t>1.17</a:t>
                      </a:r>
                    </a:p>
                  </a:txBody>
                  <a:tcPr marL="18288" marR="18288" marT="9144" marB="9144">
                    <a:solidFill>
                      <a:srgbClr val="DEEFB1"/>
                    </a:solidFill>
                  </a:tcPr>
                </a:tc>
                <a:tc>
                  <a:txBody>
                    <a:bodyPr/>
                    <a:lstStyle/>
                    <a:p>
                      <a:pPr algn="ctr">
                        <a:defRPr sz="2000" b="1">
                          <a:solidFill>
                            <a:srgbClr val="232624"/>
                          </a:solidFill>
                          <a:latin typeface="Aptos"/>
                        </a:defRPr>
                      </a:pPr>
                      <a:r>
                        <a:t>2.67</a:t>
                      </a:r>
                    </a:p>
                  </a:txBody>
                  <a:tcPr marL="18288" marR="18288" marT="9144" marB="9144">
                    <a:solidFill>
                      <a:srgbClr val="DEEFB1"/>
                    </a:solidFill>
                  </a:tcPr>
                </a:tc>
                <a:tc>
                  <a:txBody>
                    <a:bodyPr/>
                    <a:lstStyle/>
                    <a:p>
                      <a:pPr algn="ctr">
                        <a:defRPr sz="2000" b="1">
                          <a:solidFill>
                            <a:srgbClr val="232624"/>
                          </a:solidFill>
                          <a:latin typeface="Aptos"/>
                        </a:defRPr>
                      </a:pPr>
                      <a:r>
                        <a:t>3.56</a:t>
                      </a:r>
                    </a:p>
                  </a:txBody>
                  <a:tcPr marL="18288" marR="18288" marT="9144" marB="9144">
                    <a:solidFill>
                      <a:srgbClr val="DEEFB1"/>
                    </a:solidFill>
                  </a:tcPr>
                </a:tc>
                <a:extLst>
                  <a:ext uri="{0D108BD9-81ED-4DB2-BD59-A6C34878D82A}">
                    <a16:rowId xmlns:a16="http://schemas.microsoft.com/office/drawing/2014/main" val="10001"/>
                  </a:ext>
                </a:extLst>
              </a:tr>
              <a:tr h="365760">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1.04</a:t>
                      </a:r>
                    </a:p>
                  </a:txBody>
                  <a:tcPr marL="18288" marR="18288" marT="9144" marB="9144">
                    <a:solidFill>
                      <a:srgbClr val="FFFFFC"/>
                    </a:solidFill>
                  </a:tcPr>
                </a:tc>
                <a:tc>
                  <a:txBody>
                    <a:bodyPr/>
                    <a:lstStyle/>
                    <a:p>
                      <a:pPr algn="ctr">
                        <a:defRPr sz="2000" b="0">
                          <a:solidFill>
                            <a:srgbClr val="232624"/>
                          </a:solidFill>
                          <a:latin typeface="Aptos"/>
                        </a:defRPr>
                      </a:pPr>
                      <a:r>
                        <a:t>0.61</a:t>
                      </a:r>
                    </a:p>
                  </a:txBody>
                  <a:tcPr marL="18288" marR="18288" marT="9144" marB="9144">
                    <a:solidFill>
                      <a:srgbClr val="FFFFFC"/>
                    </a:solidFill>
                  </a:tcPr>
                </a:tc>
                <a:tc>
                  <a:txBody>
                    <a:bodyPr/>
                    <a:lstStyle/>
                    <a:p>
                      <a:pPr algn="ctr">
                        <a:defRPr sz="2000" b="0">
                          <a:solidFill>
                            <a:srgbClr val="232624"/>
                          </a:solidFill>
                          <a:latin typeface="Aptos"/>
                        </a:defRPr>
                      </a:pPr>
                      <a:r>
                        <a:t>1.00</a:t>
                      </a:r>
                    </a:p>
                  </a:txBody>
                  <a:tcPr marL="18288" marR="18288" marT="9144" marB="9144">
                    <a:solidFill>
                      <a:srgbClr val="FFFFFC"/>
                    </a:solidFill>
                  </a:tcPr>
                </a:tc>
                <a:tc>
                  <a:txBody>
                    <a:bodyPr/>
                    <a:lstStyle/>
                    <a:p>
                      <a:pPr algn="ctr">
                        <a:defRPr sz="2000" b="0">
                          <a:solidFill>
                            <a:srgbClr val="232624"/>
                          </a:solidFill>
                          <a:latin typeface="Aptos"/>
                        </a:defRPr>
                      </a:pPr>
                      <a:r>
                        <a:t>1.22</a:t>
                      </a:r>
                    </a:p>
                  </a:txBody>
                  <a:tcPr marL="18288" marR="18288" marT="9144" marB="9144">
                    <a:solidFill>
                      <a:srgbClr val="FFFFFC"/>
                    </a:solidFill>
                  </a:tcPr>
                </a:tc>
                <a:extLst>
                  <a:ext uri="{0D108BD9-81ED-4DB2-BD59-A6C34878D82A}">
                    <a16:rowId xmlns:a16="http://schemas.microsoft.com/office/drawing/2014/main" val="10002"/>
                  </a:ext>
                </a:extLst>
              </a:tr>
              <a:tr h="365760">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0.89</a:t>
                      </a:r>
                    </a:p>
                  </a:txBody>
                  <a:tcPr marL="18288" marR="18288" marT="9144" marB="9144">
                    <a:solidFill>
                      <a:srgbClr val="FFFFFC"/>
                    </a:solidFill>
                  </a:tcPr>
                </a:tc>
                <a:tc>
                  <a:txBody>
                    <a:bodyPr/>
                    <a:lstStyle/>
                    <a:p>
                      <a:pPr algn="ctr">
                        <a:defRPr sz="2000" b="0">
                          <a:solidFill>
                            <a:srgbClr val="232624"/>
                          </a:solidFill>
                          <a:latin typeface="Aptos"/>
                        </a:defRPr>
                      </a:pPr>
                      <a:r>
                        <a:t>0.44</a:t>
                      </a:r>
                    </a:p>
                  </a:txBody>
                  <a:tcPr marL="18288" marR="18288" marT="9144" marB="9144">
                    <a:solidFill>
                      <a:srgbClr val="FFFFFC"/>
                    </a:solidFill>
                  </a:tcPr>
                </a:tc>
                <a:tc>
                  <a:txBody>
                    <a:bodyPr/>
                    <a:lstStyle/>
                    <a:p>
                      <a:pPr algn="ctr">
                        <a:defRPr sz="2000" b="0">
                          <a:solidFill>
                            <a:srgbClr val="232624"/>
                          </a:solidFill>
                          <a:latin typeface="Aptos"/>
                        </a:defRPr>
                      </a:pPr>
                      <a:r>
                        <a:t>2.33</a:t>
                      </a:r>
                    </a:p>
                  </a:txBody>
                  <a:tcPr marL="18288" marR="18288" marT="9144" marB="9144">
                    <a:solidFill>
                      <a:srgbClr val="FFFFFC"/>
                    </a:solidFill>
                  </a:tcPr>
                </a:tc>
                <a:tc>
                  <a:txBody>
                    <a:bodyPr/>
                    <a:lstStyle/>
                    <a:p>
                      <a:pPr algn="ctr">
                        <a:defRPr sz="2000" b="0">
                          <a:solidFill>
                            <a:srgbClr val="232624"/>
                          </a:solidFill>
                          <a:latin typeface="Aptos"/>
                        </a:defRPr>
                      </a:pPr>
                      <a:r>
                        <a:t>2.67</a:t>
                      </a:r>
                    </a:p>
                  </a:txBody>
                  <a:tcPr marL="18288" marR="18288" marT="9144" marB="9144">
                    <a:solidFill>
                      <a:srgbClr val="FFFFFC"/>
                    </a:solidFill>
                  </a:tcPr>
                </a:tc>
                <a:extLst>
                  <a:ext uri="{0D108BD9-81ED-4DB2-BD59-A6C34878D82A}">
                    <a16:rowId xmlns:a16="http://schemas.microsoft.com/office/drawing/2014/main" val="10003"/>
                  </a:ext>
                </a:extLst>
              </a:tr>
              <a:tr h="365760">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2.11</a:t>
                      </a:r>
                    </a:p>
                  </a:txBody>
                  <a:tcPr marL="18288" marR="18288" marT="9144" marB="9144">
                    <a:solidFill>
                      <a:srgbClr val="DEEFB1"/>
                    </a:solidFill>
                  </a:tcPr>
                </a:tc>
                <a:tc>
                  <a:txBody>
                    <a:bodyPr/>
                    <a:lstStyle/>
                    <a:p>
                      <a:pPr algn="ctr">
                        <a:defRPr sz="2000" b="0">
                          <a:solidFill>
                            <a:srgbClr val="232624"/>
                          </a:solidFill>
                          <a:latin typeface="Aptos"/>
                        </a:defRPr>
                      </a:pPr>
                      <a:r>
                        <a:t>0.56</a:t>
                      </a:r>
                    </a:p>
                  </a:txBody>
                  <a:tcPr marL="18288" marR="18288" marT="9144" marB="9144">
                    <a:solidFill>
                      <a:srgbClr val="FFFFFC"/>
                    </a:solidFill>
                  </a:tcPr>
                </a:tc>
                <a:tc>
                  <a:txBody>
                    <a:bodyPr/>
                    <a:lstStyle/>
                    <a:p>
                      <a:pPr algn="ctr">
                        <a:defRPr sz="2000" b="0">
                          <a:solidFill>
                            <a:srgbClr val="232624"/>
                          </a:solidFill>
                          <a:latin typeface="Aptos"/>
                        </a:defRPr>
                      </a:pPr>
                      <a:r>
                        <a:t>1.67</a:t>
                      </a:r>
                    </a:p>
                  </a:txBody>
                  <a:tcPr marL="18288" marR="18288" marT="9144" marB="9144">
                    <a:solidFill>
                      <a:srgbClr val="FFFFFC"/>
                    </a:solidFill>
                  </a:tcPr>
                </a:tc>
                <a:tc>
                  <a:txBody>
                    <a:bodyPr/>
                    <a:lstStyle/>
                    <a:p>
                      <a:pPr algn="ctr">
                        <a:defRPr sz="2000" b="0">
                          <a:solidFill>
                            <a:srgbClr val="232624"/>
                          </a:solidFill>
                          <a:latin typeface="Aptos"/>
                        </a:defRPr>
                      </a:pPr>
                      <a:r>
                        <a:t>2.44</a:t>
                      </a:r>
                    </a:p>
                  </a:txBody>
                  <a:tcPr marL="18288" marR="18288" marT="9144" marB="9144">
                    <a:solidFill>
                      <a:srgbClr val="FFFF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Macro Average Results (1/2)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960120"/>
            <a:ext cx="11018520" cy="201168"/>
          </a:xfrm>
          <a:prstGeom prst="rect">
            <a:avLst/>
          </a:prstGeom>
          <a:noFill/>
        </p:spPr>
        <p:txBody>
          <a:bodyPr wrap="none">
            <a:spAutoFit/>
          </a:bodyPr>
          <a:lstStyle/>
          <a:p>
            <a:pPr>
              <a:defRPr sz="1600" b="1">
                <a:solidFill>
                  <a:srgbClr val="184E4B"/>
                </a:solidFill>
                <a:latin typeface="Aptos"/>
              </a:defRPr>
            </a:pPr>
            <a:r>
              <a:t>gpt-4.1</a:t>
            </a:r>
          </a:p>
        </p:txBody>
      </p:sp>
      <p:graphicFrame>
        <p:nvGraphicFramePr>
          <p:cNvPr id="5" name="Table 4"/>
          <p:cNvGraphicFramePr>
            <a:graphicFrameLocks noGrp="1"/>
          </p:cNvGraphicFramePr>
          <p:nvPr/>
        </p:nvGraphicFramePr>
        <p:xfrm>
          <a:off x="594360" y="1188720"/>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2.78</a:t>
                      </a:r>
                    </a:p>
                  </a:txBody>
                  <a:tcPr marL="18288" marR="18288" marT="9144" marB="9144">
                    <a:solidFill>
                      <a:srgbClr val="FFFFFC"/>
                    </a:solidFill>
                  </a:tcPr>
                </a:tc>
                <a:tc>
                  <a:txBody>
                    <a:bodyPr/>
                    <a:lstStyle/>
                    <a:p>
                      <a:pPr algn="ctr">
                        <a:defRPr sz="2000" b="0">
                          <a:solidFill>
                            <a:srgbClr val="232624"/>
                          </a:solidFill>
                          <a:latin typeface="Aptos"/>
                        </a:defRPr>
                      </a:pPr>
                      <a:r>
                        <a:t>2.33</a:t>
                      </a:r>
                    </a:p>
                  </a:txBody>
                  <a:tcPr marL="18288" marR="18288" marT="9144" marB="9144">
                    <a:solidFill>
                      <a:srgbClr val="FFFFFC"/>
                    </a:solidFill>
                  </a:tcPr>
                </a:tc>
                <a:tc>
                  <a:txBody>
                    <a:bodyPr/>
                    <a:lstStyle/>
                    <a:p>
                      <a:pPr algn="ctr">
                        <a:defRPr sz="2000" b="0">
                          <a:solidFill>
                            <a:srgbClr val="232624"/>
                          </a:solidFill>
                          <a:latin typeface="Aptos"/>
                        </a:defRPr>
                      </a:pPr>
                      <a:r>
                        <a:t>3.00</a:t>
                      </a:r>
                    </a:p>
                  </a:txBody>
                  <a:tcPr marL="18288" marR="18288" marT="9144" marB="9144">
                    <a:solidFill>
                      <a:srgbClr val="FFFFFC"/>
                    </a:solidFill>
                  </a:tcPr>
                </a:tc>
                <a:tc>
                  <a:txBody>
                    <a:bodyPr/>
                    <a:lstStyle/>
                    <a:p>
                      <a:pPr algn="ctr">
                        <a:defRPr sz="2000" b="0">
                          <a:solidFill>
                            <a:srgbClr val="232624"/>
                          </a:solidFill>
                          <a:latin typeface="Aptos"/>
                        </a:defRPr>
                      </a:pPr>
                      <a:r>
                        <a:t>3.83</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2.80</a:t>
                      </a:r>
                    </a:p>
                  </a:txBody>
                  <a:tcPr marL="18288" marR="18288" marT="9144" marB="9144">
                    <a:solidFill>
                      <a:srgbClr val="FFFFFC"/>
                    </a:solidFill>
                  </a:tcPr>
                </a:tc>
                <a:tc>
                  <a:txBody>
                    <a:bodyPr/>
                    <a:lstStyle/>
                    <a:p>
                      <a:pPr algn="ctr">
                        <a:defRPr sz="2000" b="0">
                          <a:solidFill>
                            <a:srgbClr val="232624"/>
                          </a:solidFill>
                          <a:latin typeface="Aptos"/>
                        </a:defRPr>
                      </a:pPr>
                      <a:r>
                        <a:t>2.33</a:t>
                      </a:r>
                    </a:p>
                  </a:txBody>
                  <a:tcPr marL="18288" marR="18288" marT="9144" marB="9144">
                    <a:solidFill>
                      <a:srgbClr val="FFFFFC"/>
                    </a:solidFill>
                  </a:tcPr>
                </a:tc>
                <a:tc>
                  <a:txBody>
                    <a:bodyPr/>
                    <a:lstStyle/>
                    <a:p>
                      <a:pPr algn="ctr">
                        <a:defRPr sz="2000" b="0">
                          <a:solidFill>
                            <a:srgbClr val="232624"/>
                          </a:solidFill>
                          <a:latin typeface="Aptos"/>
                        </a:defRPr>
                      </a:pPr>
                      <a:r>
                        <a:t>1.89</a:t>
                      </a:r>
                    </a:p>
                  </a:txBody>
                  <a:tcPr marL="18288" marR="18288" marT="9144" marB="9144">
                    <a:solidFill>
                      <a:srgbClr val="FFFFFC"/>
                    </a:solidFill>
                  </a:tcPr>
                </a:tc>
                <a:tc>
                  <a:txBody>
                    <a:bodyPr/>
                    <a:lstStyle/>
                    <a:p>
                      <a:pPr algn="ctr">
                        <a:defRPr sz="2000" b="0">
                          <a:solidFill>
                            <a:srgbClr val="232624"/>
                          </a:solidFill>
                          <a:latin typeface="Aptos"/>
                        </a:defRPr>
                      </a:pPr>
                      <a:r>
                        <a:t>2.67</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2.70</a:t>
                      </a:r>
                    </a:p>
                  </a:txBody>
                  <a:tcPr marL="18288" marR="18288" marT="9144" marB="9144">
                    <a:solidFill>
                      <a:srgbClr val="FFFFFC"/>
                    </a:solidFill>
                  </a:tcPr>
                </a:tc>
                <a:tc>
                  <a:txBody>
                    <a:bodyPr/>
                    <a:lstStyle/>
                    <a:p>
                      <a:pPr algn="ctr">
                        <a:defRPr sz="2000" b="0">
                          <a:solidFill>
                            <a:srgbClr val="232624"/>
                          </a:solidFill>
                          <a:latin typeface="Aptos"/>
                        </a:defRPr>
                      </a:pPr>
                      <a:r>
                        <a:t>2.42</a:t>
                      </a:r>
                    </a:p>
                  </a:txBody>
                  <a:tcPr marL="18288" marR="18288" marT="9144" marB="9144">
                    <a:solidFill>
                      <a:srgbClr val="FFFFFC"/>
                    </a:solidFill>
                  </a:tcPr>
                </a:tc>
                <a:tc>
                  <a:txBody>
                    <a:bodyPr/>
                    <a:lstStyle/>
                    <a:p>
                      <a:pPr algn="ctr">
                        <a:defRPr sz="2000" b="0">
                          <a:solidFill>
                            <a:srgbClr val="232624"/>
                          </a:solidFill>
                          <a:latin typeface="Aptos"/>
                        </a:defRPr>
                      </a:pPr>
                      <a:r>
                        <a:t>2.72</a:t>
                      </a:r>
                    </a:p>
                  </a:txBody>
                  <a:tcPr marL="18288" marR="18288" marT="9144" marB="9144">
                    <a:solidFill>
                      <a:srgbClr val="FFFFFC"/>
                    </a:solidFill>
                  </a:tcPr>
                </a:tc>
                <a:tc>
                  <a:txBody>
                    <a:bodyPr/>
                    <a:lstStyle/>
                    <a:p>
                      <a:pPr algn="ctr">
                        <a:defRPr sz="2000" b="0">
                          <a:solidFill>
                            <a:srgbClr val="232624"/>
                          </a:solidFill>
                          <a:latin typeface="Aptos"/>
                        </a:defRPr>
                      </a:pPr>
                      <a:r>
                        <a:t>3.39</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3.07</a:t>
                      </a:r>
                    </a:p>
                  </a:txBody>
                  <a:tcPr marL="18288" marR="18288" marT="9144" marB="9144">
                    <a:solidFill>
                      <a:srgbClr val="DEEFB1"/>
                    </a:solidFill>
                  </a:tcPr>
                </a:tc>
                <a:tc>
                  <a:txBody>
                    <a:bodyPr/>
                    <a:lstStyle/>
                    <a:p>
                      <a:pPr algn="ctr">
                        <a:defRPr sz="2000" b="1">
                          <a:solidFill>
                            <a:srgbClr val="232624"/>
                          </a:solidFill>
                          <a:latin typeface="Aptos"/>
                        </a:defRPr>
                      </a:pPr>
                      <a:r>
                        <a:t>2.78</a:t>
                      </a:r>
                    </a:p>
                  </a:txBody>
                  <a:tcPr marL="18288" marR="18288" marT="9144" marB="9144">
                    <a:solidFill>
                      <a:srgbClr val="DEEFB1"/>
                    </a:solidFill>
                  </a:tcPr>
                </a:tc>
                <a:tc>
                  <a:txBody>
                    <a:bodyPr/>
                    <a:lstStyle/>
                    <a:p>
                      <a:pPr algn="ctr">
                        <a:defRPr sz="2000" b="1">
                          <a:solidFill>
                            <a:srgbClr val="232624"/>
                          </a:solidFill>
                          <a:latin typeface="Aptos"/>
                        </a:defRPr>
                      </a:pPr>
                      <a:r>
                        <a:t>3.17</a:t>
                      </a:r>
                    </a:p>
                  </a:txBody>
                  <a:tcPr marL="18288" marR="18288" marT="9144" marB="9144">
                    <a:solidFill>
                      <a:srgbClr val="DEEFB1"/>
                    </a:solidFill>
                  </a:tcPr>
                </a:tc>
                <a:tc>
                  <a:txBody>
                    <a:bodyPr/>
                    <a:lstStyle/>
                    <a:p>
                      <a:pPr algn="ctr">
                        <a:defRPr sz="2000" b="1">
                          <a:solidFill>
                            <a:srgbClr val="232624"/>
                          </a:solidFill>
                          <a:latin typeface="Aptos"/>
                        </a:defRPr>
                      </a:pPr>
                      <a:r>
                        <a:t>3.89</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94360" y="2834639"/>
            <a:ext cx="11018520" cy="201168"/>
          </a:xfrm>
          <a:prstGeom prst="rect">
            <a:avLst/>
          </a:prstGeom>
          <a:noFill/>
        </p:spPr>
        <p:txBody>
          <a:bodyPr wrap="none">
            <a:spAutoFit/>
          </a:bodyPr>
          <a:lstStyle/>
          <a:p>
            <a:pPr>
              <a:defRPr sz="1600" b="1">
                <a:solidFill>
                  <a:srgbClr val="184E4B"/>
                </a:solidFill>
                <a:latin typeface="Aptos"/>
              </a:defRPr>
            </a:pPr>
            <a:r>
              <a:t>gpt-oss-high</a:t>
            </a:r>
          </a:p>
        </p:txBody>
      </p:sp>
      <p:graphicFrame>
        <p:nvGraphicFramePr>
          <p:cNvPr id="7" name="Table 6"/>
          <p:cNvGraphicFramePr>
            <a:graphicFrameLocks noGrp="1"/>
          </p:cNvGraphicFramePr>
          <p:nvPr/>
        </p:nvGraphicFramePr>
        <p:xfrm>
          <a:off x="594360" y="3063239"/>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2.17</a:t>
                      </a:r>
                    </a:p>
                  </a:txBody>
                  <a:tcPr marL="18288" marR="18288" marT="9144" marB="9144">
                    <a:solidFill>
                      <a:srgbClr val="FFFFFC"/>
                    </a:solidFill>
                  </a:tcPr>
                </a:tc>
                <a:tc>
                  <a:txBody>
                    <a:bodyPr/>
                    <a:lstStyle/>
                    <a:p>
                      <a:pPr algn="ctr">
                        <a:defRPr sz="2000" b="0">
                          <a:solidFill>
                            <a:srgbClr val="232624"/>
                          </a:solidFill>
                          <a:latin typeface="Aptos"/>
                        </a:defRPr>
                      </a:pPr>
                      <a:r>
                        <a:t>1.97</a:t>
                      </a:r>
                    </a:p>
                  </a:txBody>
                  <a:tcPr marL="18288" marR="18288" marT="9144" marB="9144">
                    <a:solidFill>
                      <a:srgbClr val="FFFFFC"/>
                    </a:solidFill>
                  </a:tcPr>
                </a:tc>
                <a:tc>
                  <a:txBody>
                    <a:bodyPr/>
                    <a:lstStyle/>
                    <a:p>
                      <a:pPr algn="ctr">
                        <a:defRPr sz="2000" b="0">
                          <a:solidFill>
                            <a:srgbClr val="232624"/>
                          </a:solidFill>
                          <a:latin typeface="Aptos"/>
                        </a:defRPr>
                      </a:pPr>
                      <a:r>
                        <a:t>2.39</a:t>
                      </a:r>
                    </a:p>
                  </a:txBody>
                  <a:tcPr marL="18288" marR="18288" marT="9144" marB="9144">
                    <a:solidFill>
                      <a:srgbClr val="FFFFFC"/>
                    </a:solidFill>
                  </a:tcPr>
                </a:tc>
                <a:tc>
                  <a:txBody>
                    <a:bodyPr/>
                    <a:lstStyle/>
                    <a:p>
                      <a:pPr algn="ctr">
                        <a:defRPr sz="2000" b="0">
                          <a:solidFill>
                            <a:srgbClr val="232624"/>
                          </a:solidFill>
                          <a:latin typeface="Aptos"/>
                        </a:defRPr>
                      </a:pPr>
                      <a:r>
                        <a:t>2.61</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2.17</a:t>
                      </a:r>
                    </a:p>
                  </a:txBody>
                  <a:tcPr marL="18288" marR="18288" marT="9144" marB="9144">
                    <a:solidFill>
                      <a:srgbClr val="FFFFFC"/>
                    </a:solidFill>
                  </a:tcPr>
                </a:tc>
                <a:tc>
                  <a:txBody>
                    <a:bodyPr/>
                    <a:lstStyle/>
                    <a:p>
                      <a:pPr algn="ctr">
                        <a:defRPr sz="2000" b="1">
                          <a:solidFill>
                            <a:srgbClr val="232624"/>
                          </a:solidFill>
                          <a:latin typeface="Aptos"/>
                        </a:defRPr>
                      </a:pPr>
                      <a:r>
                        <a:t>2.03</a:t>
                      </a:r>
                    </a:p>
                  </a:txBody>
                  <a:tcPr marL="18288" marR="18288" marT="9144" marB="9144">
                    <a:solidFill>
                      <a:srgbClr val="DEEFB1"/>
                    </a:solidFill>
                  </a:tcPr>
                </a:tc>
                <a:tc>
                  <a:txBody>
                    <a:bodyPr/>
                    <a:lstStyle/>
                    <a:p>
                      <a:pPr algn="ctr">
                        <a:defRPr sz="2000" b="0">
                          <a:solidFill>
                            <a:srgbClr val="232624"/>
                          </a:solidFill>
                          <a:latin typeface="Aptos"/>
                        </a:defRPr>
                      </a:pPr>
                      <a:r>
                        <a:t>2.44</a:t>
                      </a:r>
                    </a:p>
                  </a:txBody>
                  <a:tcPr marL="18288" marR="18288" marT="9144" marB="9144">
                    <a:solidFill>
                      <a:srgbClr val="FFFFFC"/>
                    </a:solidFill>
                  </a:tcPr>
                </a:tc>
                <a:tc>
                  <a:txBody>
                    <a:bodyPr/>
                    <a:lstStyle/>
                    <a:p>
                      <a:pPr algn="ctr">
                        <a:defRPr sz="2000" b="0">
                          <a:solidFill>
                            <a:srgbClr val="232624"/>
                          </a:solidFill>
                          <a:latin typeface="Aptos"/>
                        </a:defRPr>
                      </a:pPr>
                      <a:r>
                        <a:t>2.83</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2.33</a:t>
                      </a:r>
                    </a:p>
                  </a:txBody>
                  <a:tcPr marL="18288" marR="18288" marT="9144" marB="9144">
                    <a:solidFill>
                      <a:srgbClr val="FFFFFC"/>
                    </a:solidFill>
                  </a:tcPr>
                </a:tc>
                <a:tc>
                  <a:txBody>
                    <a:bodyPr/>
                    <a:lstStyle/>
                    <a:p>
                      <a:pPr algn="ctr">
                        <a:defRPr sz="2000" b="0">
                          <a:solidFill>
                            <a:srgbClr val="232624"/>
                          </a:solidFill>
                          <a:latin typeface="Aptos"/>
                        </a:defRPr>
                      </a:pPr>
                      <a:r>
                        <a:t>1.92</a:t>
                      </a:r>
                    </a:p>
                  </a:txBody>
                  <a:tcPr marL="18288" marR="18288" marT="9144" marB="9144">
                    <a:solidFill>
                      <a:srgbClr val="FFFFFC"/>
                    </a:solidFill>
                  </a:tcPr>
                </a:tc>
                <a:tc>
                  <a:txBody>
                    <a:bodyPr/>
                    <a:lstStyle/>
                    <a:p>
                      <a:pPr algn="ctr">
                        <a:defRPr sz="2000" b="0">
                          <a:solidFill>
                            <a:srgbClr val="232624"/>
                          </a:solidFill>
                          <a:latin typeface="Aptos"/>
                        </a:defRPr>
                      </a:pPr>
                      <a:r>
                        <a:t>2.50</a:t>
                      </a:r>
                    </a:p>
                  </a:txBody>
                  <a:tcPr marL="18288" marR="18288" marT="9144" marB="9144">
                    <a:solidFill>
                      <a:srgbClr val="FFFFFC"/>
                    </a:solidFill>
                  </a:tcPr>
                </a:tc>
                <a:tc>
                  <a:txBody>
                    <a:bodyPr/>
                    <a:lstStyle/>
                    <a:p>
                      <a:pPr algn="ctr">
                        <a:defRPr sz="2000" b="0">
                          <a:solidFill>
                            <a:srgbClr val="232624"/>
                          </a:solidFill>
                          <a:latin typeface="Aptos"/>
                        </a:defRPr>
                      </a:pPr>
                      <a:r>
                        <a:t>2.61</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2.93</a:t>
                      </a:r>
                    </a:p>
                  </a:txBody>
                  <a:tcPr marL="18288" marR="18288" marT="9144" marB="9144">
                    <a:solidFill>
                      <a:srgbClr val="DEEFB1"/>
                    </a:solidFill>
                  </a:tcPr>
                </a:tc>
                <a:tc>
                  <a:txBody>
                    <a:bodyPr/>
                    <a:lstStyle/>
                    <a:p>
                      <a:pPr algn="ctr">
                        <a:defRPr sz="2000" b="0">
                          <a:solidFill>
                            <a:srgbClr val="232624"/>
                          </a:solidFill>
                          <a:latin typeface="Aptos"/>
                        </a:defRPr>
                      </a:pPr>
                      <a:r>
                        <a:t>1.92</a:t>
                      </a:r>
                    </a:p>
                  </a:txBody>
                  <a:tcPr marL="18288" marR="18288" marT="9144" marB="9144">
                    <a:solidFill>
                      <a:srgbClr val="FFFFFC"/>
                    </a:solidFill>
                  </a:tcPr>
                </a:tc>
                <a:tc>
                  <a:txBody>
                    <a:bodyPr/>
                    <a:lstStyle/>
                    <a:p>
                      <a:pPr algn="ctr">
                        <a:defRPr sz="2000" b="1">
                          <a:solidFill>
                            <a:srgbClr val="232624"/>
                          </a:solidFill>
                          <a:latin typeface="Aptos"/>
                        </a:defRPr>
                      </a:pPr>
                      <a:r>
                        <a:t>2.94</a:t>
                      </a:r>
                    </a:p>
                  </a:txBody>
                  <a:tcPr marL="18288" marR="18288" marT="9144" marB="9144">
                    <a:solidFill>
                      <a:srgbClr val="DEEFB1"/>
                    </a:solidFill>
                  </a:tcPr>
                </a:tc>
                <a:tc>
                  <a:txBody>
                    <a:bodyPr/>
                    <a:lstStyle/>
                    <a:p>
                      <a:pPr algn="ctr">
                        <a:defRPr sz="2000" b="1">
                          <a:solidFill>
                            <a:srgbClr val="232624"/>
                          </a:solidFill>
                          <a:latin typeface="Aptos"/>
                        </a:defRPr>
                      </a:pPr>
                      <a:r>
                        <a:t>3.44</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94360" y="4709159"/>
            <a:ext cx="11018520" cy="201168"/>
          </a:xfrm>
          <a:prstGeom prst="rect">
            <a:avLst/>
          </a:prstGeom>
          <a:noFill/>
        </p:spPr>
        <p:txBody>
          <a:bodyPr wrap="none">
            <a:spAutoFit/>
          </a:bodyPr>
          <a:lstStyle/>
          <a:p>
            <a:pPr>
              <a:defRPr sz="1600" b="1">
                <a:solidFill>
                  <a:srgbClr val="184E4B"/>
                </a:solidFill>
                <a:latin typeface="Aptos"/>
              </a:defRPr>
            </a:pPr>
            <a:r>
              <a:t>gpt-oss-medium</a:t>
            </a:r>
          </a:p>
        </p:txBody>
      </p:sp>
      <p:graphicFrame>
        <p:nvGraphicFramePr>
          <p:cNvPr id="9" name="Table 8"/>
          <p:cNvGraphicFramePr>
            <a:graphicFrameLocks noGrp="1"/>
          </p:cNvGraphicFramePr>
          <p:nvPr/>
        </p:nvGraphicFramePr>
        <p:xfrm>
          <a:off x="594360" y="4937759"/>
          <a:ext cx="11018520" cy="1658112"/>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292608">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292608">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2.10</a:t>
                      </a:r>
                    </a:p>
                  </a:txBody>
                  <a:tcPr marL="18288" marR="18288" marT="9144" marB="9144">
                    <a:solidFill>
                      <a:srgbClr val="FFFFFC"/>
                    </a:solidFill>
                  </a:tcPr>
                </a:tc>
                <a:tc>
                  <a:txBody>
                    <a:bodyPr/>
                    <a:lstStyle/>
                    <a:p>
                      <a:pPr algn="ctr">
                        <a:defRPr sz="2000" b="0">
                          <a:solidFill>
                            <a:srgbClr val="232624"/>
                          </a:solidFill>
                          <a:latin typeface="Aptos"/>
                        </a:defRPr>
                      </a:pPr>
                      <a:r>
                        <a:t>1.83</a:t>
                      </a:r>
                    </a:p>
                  </a:txBody>
                  <a:tcPr marL="18288" marR="18288" marT="9144" marB="9144">
                    <a:solidFill>
                      <a:srgbClr val="FFFFFC"/>
                    </a:solidFill>
                  </a:tcPr>
                </a:tc>
                <a:tc>
                  <a:txBody>
                    <a:bodyPr/>
                    <a:lstStyle/>
                    <a:p>
                      <a:pPr algn="ctr">
                        <a:defRPr sz="2000" b="0">
                          <a:solidFill>
                            <a:srgbClr val="232624"/>
                          </a:solidFill>
                          <a:latin typeface="Aptos"/>
                        </a:defRPr>
                      </a:pPr>
                      <a:r>
                        <a:t>1.78</a:t>
                      </a:r>
                    </a:p>
                  </a:txBody>
                  <a:tcPr marL="18288" marR="18288" marT="9144" marB="9144">
                    <a:solidFill>
                      <a:srgbClr val="FFFFFC"/>
                    </a:solidFill>
                  </a:tcPr>
                </a:tc>
                <a:tc>
                  <a:txBody>
                    <a:bodyPr/>
                    <a:lstStyle/>
                    <a:p>
                      <a:pPr algn="ctr">
                        <a:defRPr sz="2000" b="0">
                          <a:solidFill>
                            <a:srgbClr val="232624"/>
                          </a:solidFill>
                          <a:latin typeface="Aptos"/>
                        </a:defRPr>
                      </a:pPr>
                      <a:r>
                        <a:t>2.22</a:t>
                      </a:r>
                    </a:p>
                  </a:txBody>
                  <a:tcPr marL="18288" marR="18288" marT="9144" marB="9144">
                    <a:solidFill>
                      <a:srgbClr val="FFFFFC"/>
                    </a:solidFill>
                  </a:tcPr>
                </a:tc>
                <a:extLst>
                  <a:ext uri="{0D108BD9-81ED-4DB2-BD59-A6C34878D82A}">
                    <a16:rowId xmlns:a16="http://schemas.microsoft.com/office/drawing/2014/main" val="10001"/>
                  </a:ext>
                </a:extLst>
              </a:tr>
              <a:tr h="292608">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1.74</a:t>
                      </a:r>
                    </a:p>
                  </a:txBody>
                  <a:tcPr marL="18288" marR="18288" marT="9144" marB="9144">
                    <a:solidFill>
                      <a:srgbClr val="FFFFFC"/>
                    </a:solidFill>
                  </a:tcPr>
                </a:tc>
                <a:tc>
                  <a:txBody>
                    <a:bodyPr/>
                    <a:lstStyle/>
                    <a:p>
                      <a:pPr algn="ctr">
                        <a:defRPr sz="2000" b="0">
                          <a:solidFill>
                            <a:srgbClr val="232624"/>
                          </a:solidFill>
                          <a:latin typeface="Aptos"/>
                        </a:defRPr>
                      </a:pPr>
                      <a:r>
                        <a:t>2.08</a:t>
                      </a:r>
                    </a:p>
                  </a:txBody>
                  <a:tcPr marL="18288" marR="18288" marT="9144" marB="9144">
                    <a:solidFill>
                      <a:srgbClr val="FFFFFC"/>
                    </a:solidFill>
                  </a:tcPr>
                </a:tc>
                <a:tc>
                  <a:txBody>
                    <a:bodyPr/>
                    <a:lstStyle/>
                    <a:p>
                      <a:pPr algn="ctr">
                        <a:defRPr sz="2000" b="0">
                          <a:solidFill>
                            <a:srgbClr val="232624"/>
                          </a:solidFill>
                          <a:latin typeface="Aptos"/>
                        </a:defRPr>
                      </a:pPr>
                      <a:r>
                        <a:t>1.22</a:t>
                      </a:r>
                    </a:p>
                  </a:txBody>
                  <a:tcPr marL="18288" marR="18288" marT="9144" marB="9144">
                    <a:solidFill>
                      <a:srgbClr val="FFFFFC"/>
                    </a:solidFill>
                  </a:tcPr>
                </a:tc>
                <a:tc>
                  <a:txBody>
                    <a:bodyPr/>
                    <a:lstStyle/>
                    <a:p>
                      <a:pPr algn="ctr">
                        <a:defRPr sz="2000" b="0">
                          <a:solidFill>
                            <a:srgbClr val="232624"/>
                          </a:solidFill>
                          <a:latin typeface="Aptos"/>
                        </a:defRPr>
                      </a:pPr>
                      <a:r>
                        <a:t>1.78</a:t>
                      </a:r>
                    </a:p>
                  </a:txBody>
                  <a:tcPr marL="18288" marR="18288" marT="9144" marB="9144">
                    <a:solidFill>
                      <a:srgbClr val="FFFFFC"/>
                    </a:solidFill>
                  </a:tcPr>
                </a:tc>
                <a:extLst>
                  <a:ext uri="{0D108BD9-81ED-4DB2-BD59-A6C34878D82A}">
                    <a16:rowId xmlns:a16="http://schemas.microsoft.com/office/drawing/2014/main" val="10002"/>
                  </a:ext>
                </a:extLst>
              </a:tr>
              <a:tr h="292608">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1.91</a:t>
                      </a:r>
                    </a:p>
                  </a:txBody>
                  <a:tcPr marL="18288" marR="18288" marT="9144" marB="9144">
                    <a:solidFill>
                      <a:srgbClr val="FFFFFC"/>
                    </a:solidFill>
                  </a:tcPr>
                </a:tc>
                <a:tc>
                  <a:txBody>
                    <a:bodyPr/>
                    <a:lstStyle/>
                    <a:p>
                      <a:pPr algn="ctr">
                        <a:defRPr sz="2000" b="1">
                          <a:solidFill>
                            <a:srgbClr val="232624"/>
                          </a:solidFill>
                          <a:latin typeface="Aptos"/>
                        </a:defRPr>
                      </a:pPr>
                      <a:r>
                        <a:t>2.11</a:t>
                      </a:r>
                    </a:p>
                  </a:txBody>
                  <a:tcPr marL="18288" marR="18288" marT="9144" marB="9144">
                    <a:solidFill>
                      <a:srgbClr val="DEEFB1"/>
                    </a:solidFill>
                  </a:tcPr>
                </a:tc>
                <a:tc>
                  <a:txBody>
                    <a:bodyPr/>
                    <a:lstStyle/>
                    <a:p>
                      <a:pPr algn="ctr">
                        <a:defRPr sz="2000" b="0">
                          <a:solidFill>
                            <a:srgbClr val="232624"/>
                          </a:solidFill>
                          <a:latin typeface="Aptos"/>
                        </a:defRPr>
                      </a:pPr>
                      <a:r>
                        <a:t>1.33</a:t>
                      </a:r>
                    </a:p>
                  </a:txBody>
                  <a:tcPr marL="18288" marR="18288" marT="9144" marB="9144">
                    <a:solidFill>
                      <a:srgbClr val="FFFFFC"/>
                    </a:solidFill>
                  </a:tcPr>
                </a:tc>
                <a:tc>
                  <a:txBody>
                    <a:bodyPr/>
                    <a:lstStyle/>
                    <a:p>
                      <a:pPr algn="ctr">
                        <a:defRPr sz="2000" b="0">
                          <a:solidFill>
                            <a:srgbClr val="232624"/>
                          </a:solidFill>
                          <a:latin typeface="Aptos"/>
                        </a:defRPr>
                      </a:pPr>
                      <a:r>
                        <a:t>1.83</a:t>
                      </a:r>
                    </a:p>
                  </a:txBody>
                  <a:tcPr marL="18288" marR="18288" marT="9144" marB="9144">
                    <a:solidFill>
                      <a:srgbClr val="FFFFFC"/>
                    </a:solidFill>
                  </a:tcPr>
                </a:tc>
                <a:extLst>
                  <a:ext uri="{0D108BD9-81ED-4DB2-BD59-A6C34878D82A}">
                    <a16:rowId xmlns:a16="http://schemas.microsoft.com/office/drawing/2014/main" val="10003"/>
                  </a:ext>
                </a:extLst>
              </a:tr>
              <a:tr h="292608">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2.61</a:t>
                      </a:r>
                    </a:p>
                  </a:txBody>
                  <a:tcPr marL="18288" marR="18288" marT="9144" marB="9144">
                    <a:solidFill>
                      <a:srgbClr val="DEEFB1"/>
                    </a:solidFill>
                  </a:tcPr>
                </a:tc>
                <a:tc>
                  <a:txBody>
                    <a:bodyPr/>
                    <a:lstStyle/>
                    <a:p>
                      <a:pPr algn="ctr">
                        <a:defRPr sz="2000" b="0">
                          <a:solidFill>
                            <a:srgbClr val="232624"/>
                          </a:solidFill>
                          <a:latin typeface="Aptos"/>
                        </a:defRPr>
                      </a:pPr>
                      <a:r>
                        <a:t>1.75</a:t>
                      </a:r>
                    </a:p>
                  </a:txBody>
                  <a:tcPr marL="18288" marR="18288" marT="9144" marB="9144">
                    <a:solidFill>
                      <a:srgbClr val="FFFFFC"/>
                    </a:solidFill>
                  </a:tcPr>
                </a:tc>
                <a:tc>
                  <a:txBody>
                    <a:bodyPr/>
                    <a:lstStyle/>
                    <a:p>
                      <a:pPr algn="ctr">
                        <a:defRPr sz="2000" b="1">
                          <a:solidFill>
                            <a:srgbClr val="232624"/>
                          </a:solidFill>
                          <a:latin typeface="Aptos"/>
                        </a:defRPr>
                      </a:pPr>
                      <a:r>
                        <a:t>3.11</a:t>
                      </a:r>
                    </a:p>
                  </a:txBody>
                  <a:tcPr marL="18288" marR="18288" marT="9144" marB="9144">
                    <a:solidFill>
                      <a:srgbClr val="DEEFB1"/>
                    </a:solidFill>
                  </a:tcPr>
                </a:tc>
                <a:tc>
                  <a:txBody>
                    <a:bodyPr/>
                    <a:lstStyle/>
                    <a:p>
                      <a:pPr algn="ctr">
                        <a:defRPr sz="2000" b="1">
                          <a:solidFill>
                            <a:srgbClr val="232624"/>
                          </a:solidFill>
                          <a:latin typeface="Aptos"/>
                        </a:defRPr>
                      </a:pPr>
                      <a:r>
                        <a:t>3.50</a:t>
                      </a:r>
                    </a:p>
                  </a:txBody>
                  <a:tcPr marL="18288" marR="18288" marT="9144" marB="9144">
                    <a:solidFill>
                      <a:srgbClr val="DEEFB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Macro Average Results (2/2)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1234440"/>
            <a:ext cx="11018520" cy="201168"/>
          </a:xfrm>
          <a:prstGeom prst="rect">
            <a:avLst/>
          </a:prstGeom>
          <a:noFill/>
        </p:spPr>
        <p:txBody>
          <a:bodyPr wrap="none">
            <a:spAutoFit/>
          </a:bodyPr>
          <a:lstStyle/>
          <a:p>
            <a:pPr>
              <a:defRPr sz="1600" b="1">
                <a:solidFill>
                  <a:srgbClr val="184E4B"/>
                </a:solidFill>
                <a:latin typeface="Aptos"/>
              </a:defRPr>
            </a:pPr>
            <a:r>
              <a:t>qwen3-32B non-reasoning</a:t>
            </a:r>
          </a:p>
        </p:txBody>
      </p:sp>
      <p:graphicFrame>
        <p:nvGraphicFramePr>
          <p:cNvPr id="5" name="Table 4"/>
          <p:cNvGraphicFramePr>
            <a:graphicFrameLocks noGrp="1"/>
          </p:cNvGraphicFramePr>
          <p:nvPr/>
        </p:nvGraphicFramePr>
        <p:xfrm>
          <a:off x="594360" y="1463040"/>
          <a:ext cx="11018520" cy="182880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365760">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365760">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1.52</a:t>
                      </a:r>
                    </a:p>
                  </a:txBody>
                  <a:tcPr marL="18288" marR="18288" marT="9144" marB="9144">
                    <a:solidFill>
                      <a:srgbClr val="FFFFFC"/>
                    </a:solidFill>
                  </a:tcPr>
                </a:tc>
                <a:tc>
                  <a:txBody>
                    <a:bodyPr/>
                    <a:lstStyle/>
                    <a:p>
                      <a:pPr algn="ctr">
                        <a:defRPr sz="2000" b="0">
                          <a:solidFill>
                            <a:srgbClr val="232624"/>
                          </a:solidFill>
                          <a:latin typeface="Aptos"/>
                        </a:defRPr>
                      </a:pPr>
                      <a:r>
                        <a:t>1.44</a:t>
                      </a:r>
                    </a:p>
                  </a:txBody>
                  <a:tcPr marL="18288" marR="18288" marT="9144" marB="9144">
                    <a:solidFill>
                      <a:srgbClr val="FFFFFC"/>
                    </a:solidFill>
                  </a:tcPr>
                </a:tc>
                <a:tc>
                  <a:txBody>
                    <a:bodyPr/>
                    <a:lstStyle/>
                    <a:p>
                      <a:pPr algn="ctr">
                        <a:defRPr sz="2000" b="1">
                          <a:solidFill>
                            <a:srgbClr val="232624"/>
                          </a:solidFill>
                          <a:latin typeface="Aptos"/>
                        </a:defRPr>
                      </a:pPr>
                      <a:r>
                        <a:t>2.89</a:t>
                      </a:r>
                    </a:p>
                  </a:txBody>
                  <a:tcPr marL="18288" marR="18288" marT="9144" marB="9144">
                    <a:solidFill>
                      <a:srgbClr val="DEEFB1"/>
                    </a:solidFill>
                  </a:tcPr>
                </a:tc>
                <a:tc>
                  <a:txBody>
                    <a:bodyPr/>
                    <a:lstStyle/>
                    <a:p>
                      <a:pPr algn="ctr">
                        <a:defRPr sz="2000" b="1">
                          <a:solidFill>
                            <a:srgbClr val="232624"/>
                          </a:solidFill>
                          <a:latin typeface="Aptos"/>
                        </a:defRPr>
                      </a:pPr>
                      <a:r>
                        <a:t>3.61</a:t>
                      </a:r>
                    </a:p>
                  </a:txBody>
                  <a:tcPr marL="18288" marR="18288" marT="9144" marB="9144">
                    <a:solidFill>
                      <a:srgbClr val="DEEFB1"/>
                    </a:solidFill>
                  </a:tcPr>
                </a:tc>
                <a:extLst>
                  <a:ext uri="{0D108BD9-81ED-4DB2-BD59-A6C34878D82A}">
                    <a16:rowId xmlns:a16="http://schemas.microsoft.com/office/drawing/2014/main" val="10001"/>
                  </a:ext>
                </a:extLst>
              </a:tr>
              <a:tr h="365760">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1.69</a:t>
                      </a:r>
                    </a:p>
                  </a:txBody>
                  <a:tcPr marL="18288" marR="18288" marT="9144" marB="9144">
                    <a:solidFill>
                      <a:srgbClr val="FFFFFC"/>
                    </a:solidFill>
                  </a:tcPr>
                </a:tc>
                <a:tc>
                  <a:txBody>
                    <a:bodyPr/>
                    <a:lstStyle/>
                    <a:p>
                      <a:pPr algn="ctr">
                        <a:defRPr sz="2000" b="0">
                          <a:solidFill>
                            <a:srgbClr val="232624"/>
                          </a:solidFill>
                          <a:latin typeface="Aptos"/>
                        </a:defRPr>
                      </a:pPr>
                      <a:r>
                        <a:t>0.89</a:t>
                      </a:r>
                    </a:p>
                  </a:txBody>
                  <a:tcPr marL="18288" marR="18288" marT="9144" marB="9144">
                    <a:solidFill>
                      <a:srgbClr val="FFFFFC"/>
                    </a:solidFill>
                  </a:tcPr>
                </a:tc>
                <a:tc>
                  <a:txBody>
                    <a:bodyPr/>
                    <a:lstStyle/>
                    <a:p>
                      <a:pPr algn="ctr">
                        <a:defRPr sz="2000" b="0">
                          <a:solidFill>
                            <a:srgbClr val="232624"/>
                          </a:solidFill>
                          <a:latin typeface="Aptos"/>
                        </a:defRPr>
                      </a:pPr>
                      <a:r>
                        <a:t>1.56</a:t>
                      </a:r>
                    </a:p>
                  </a:txBody>
                  <a:tcPr marL="18288" marR="18288" marT="9144" marB="9144">
                    <a:solidFill>
                      <a:srgbClr val="FFFFFC"/>
                    </a:solidFill>
                  </a:tcPr>
                </a:tc>
                <a:tc>
                  <a:txBody>
                    <a:bodyPr/>
                    <a:lstStyle/>
                    <a:p>
                      <a:pPr algn="ctr">
                        <a:defRPr sz="2000" b="0">
                          <a:solidFill>
                            <a:srgbClr val="232624"/>
                          </a:solidFill>
                          <a:latin typeface="Aptos"/>
                        </a:defRPr>
                      </a:pPr>
                      <a:r>
                        <a:t>2.06</a:t>
                      </a:r>
                    </a:p>
                  </a:txBody>
                  <a:tcPr marL="18288" marR="18288" marT="9144" marB="9144">
                    <a:solidFill>
                      <a:srgbClr val="FFFFFC"/>
                    </a:solidFill>
                  </a:tcPr>
                </a:tc>
                <a:extLst>
                  <a:ext uri="{0D108BD9-81ED-4DB2-BD59-A6C34878D82A}">
                    <a16:rowId xmlns:a16="http://schemas.microsoft.com/office/drawing/2014/main" val="10002"/>
                  </a:ext>
                </a:extLst>
              </a:tr>
              <a:tr h="365760">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1.39</a:t>
                      </a:r>
                    </a:p>
                  </a:txBody>
                  <a:tcPr marL="18288" marR="18288" marT="9144" marB="9144">
                    <a:solidFill>
                      <a:srgbClr val="FFFFFC"/>
                    </a:solidFill>
                  </a:tcPr>
                </a:tc>
                <a:tc>
                  <a:txBody>
                    <a:bodyPr/>
                    <a:lstStyle/>
                    <a:p>
                      <a:pPr algn="ctr">
                        <a:defRPr sz="2000" b="1">
                          <a:solidFill>
                            <a:srgbClr val="232624"/>
                          </a:solidFill>
                          <a:latin typeface="Aptos"/>
                        </a:defRPr>
                      </a:pPr>
                      <a:r>
                        <a:t>1.50</a:t>
                      </a:r>
                    </a:p>
                  </a:txBody>
                  <a:tcPr marL="18288" marR="18288" marT="9144" marB="9144">
                    <a:solidFill>
                      <a:srgbClr val="DEEFB1"/>
                    </a:solidFill>
                  </a:tcPr>
                </a:tc>
                <a:tc>
                  <a:txBody>
                    <a:bodyPr/>
                    <a:lstStyle/>
                    <a:p>
                      <a:pPr algn="ctr">
                        <a:defRPr sz="2000" b="0">
                          <a:solidFill>
                            <a:srgbClr val="232624"/>
                          </a:solidFill>
                          <a:latin typeface="Aptos"/>
                        </a:defRPr>
                      </a:pPr>
                      <a:r>
                        <a:t>2.06</a:t>
                      </a:r>
                    </a:p>
                  </a:txBody>
                  <a:tcPr marL="18288" marR="18288" marT="9144" marB="9144">
                    <a:solidFill>
                      <a:srgbClr val="FFFFFC"/>
                    </a:solidFill>
                  </a:tcPr>
                </a:tc>
                <a:tc>
                  <a:txBody>
                    <a:bodyPr/>
                    <a:lstStyle/>
                    <a:p>
                      <a:pPr algn="ctr">
                        <a:defRPr sz="2000" b="0">
                          <a:solidFill>
                            <a:srgbClr val="232624"/>
                          </a:solidFill>
                          <a:latin typeface="Aptos"/>
                        </a:defRPr>
                      </a:pPr>
                      <a:r>
                        <a:t>3.00</a:t>
                      </a:r>
                    </a:p>
                  </a:txBody>
                  <a:tcPr marL="18288" marR="18288" marT="9144" marB="9144">
                    <a:solidFill>
                      <a:srgbClr val="FFFFFC"/>
                    </a:solidFill>
                  </a:tcPr>
                </a:tc>
                <a:extLst>
                  <a:ext uri="{0D108BD9-81ED-4DB2-BD59-A6C34878D82A}">
                    <a16:rowId xmlns:a16="http://schemas.microsoft.com/office/drawing/2014/main" val="10003"/>
                  </a:ext>
                </a:extLst>
              </a:tr>
              <a:tr h="365760">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2.48</a:t>
                      </a:r>
                    </a:p>
                  </a:txBody>
                  <a:tcPr marL="18288" marR="18288" marT="9144" marB="9144">
                    <a:solidFill>
                      <a:srgbClr val="DEEFB1"/>
                    </a:solidFill>
                  </a:tcPr>
                </a:tc>
                <a:tc>
                  <a:txBody>
                    <a:bodyPr/>
                    <a:lstStyle/>
                    <a:p>
                      <a:pPr algn="ctr">
                        <a:defRPr sz="2000" b="0">
                          <a:solidFill>
                            <a:srgbClr val="232624"/>
                          </a:solidFill>
                          <a:latin typeface="Aptos"/>
                        </a:defRPr>
                      </a:pPr>
                      <a:r>
                        <a:t>1.20</a:t>
                      </a:r>
                    </a:p>
                  </a:txBody>
                  <a:tcPr marL="18288" marR="18288" marT="9144" marB="9144">
                    <a:solidFill>
                      <a:srgbClr val="FFFFFC"/>
                    </a:solidFill>
                  </a:tcPr>
                </a:tc>
                <a:tc>
                  <a:txBody>
                    <a:bodyPr/>
                    <a:lstStyle/>
                    <a:p>
                      <a:pPr algn="ctr">
                        <a:defRPr sz="2000" b="0">
                          <a:solidFill>
                            <a:srgbClr val="232624"/>
                          </a:solidFill>
                          <a:latin typeface="Aptos"/>
                        </a:defRPr>
                      </a:pPr>
                      <a:r>
                        <a:t>2.39</a:t>
                      </a:r>
                    </a:p>
                  </a:txBody>
                  <a:tcPr marL="18288" marR="18288" marT="9144" marB="9144">
                    <a:solidFill>
                      <a:srgbClr val="FFFFFC"/>
                    </a:solidFill>
                  </a:tcPr>
                </a:tc>
                <a:tc>
                  <a:txBody>
                    <a:bodyPr/>
                    <a:lstStyle/>
                    <a:p>
                      <a:pPr algn="ctr">
                        <a:defRPr sz="2000" b="0">
                          <a:solidFill>
                            <a:srgbClr val="232624"/>
                          </a:solidFill>
                          <a:latin typeface="Aptos"/>
                        </a:defRPr>
                      </a:pPr>
                      <a:r>
                        <a:t>3.17</a:t>
                      </a:r>
                    </a:p>
                  </a:txBody>
                  <a:tcPr marL="18288" marR="18288" marT="9144" marB="9144">
                    <a:solidFill>
                      <a:srgbClr val="FFFF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94360" y="3566160"/>
            <a:ext cx="11018520" cy="201168"/>
          </a:xfrm>
          <a:prstGeom prst="rect">
            <a:avLst/>
          </a:prstGeom>
          <a:noFill/>
        </p:spPr>
        <p:txBody>
          <a:bodyPr wrap="none">
            <a:spAutoFit/>
          </a:bodyPr>
          <a:lstStyle/>
          <a:p>
            <a:pPr>
              <a:defRPr sz="1600" b="1">
                <a:solidFill>
                  <a:srgbClr val="184E4B"/>
                </a:solidFill>
                <a:latin typeface="Aptos"/>
              </a:defRPr>
            </a:pPr>
            <a:r>
              <a:t>llama3-70B</a:t>
            </a:r>
          </a:p>
        </p:txBody>
      </p:sp>
      <p:graphicFrame>
        <p:nvGraphicFramePr>
          <p:cNvPr id="7" name="Table 6"/>
          <p:cNvGraphicFramePr>
            <a:graphicFrameLocks noGrp="1"/>
          </p:cNvGraphicFramePr>
          <p:nvPr/>
        </p:nvGraphicFramePr>
        <p:xfrm>
          <a:off x="594360" y="3794760"/>
          <a:ext cx="11018520" cy="182880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gridCol w="2203704">
                  <a:extLst>
                    <a:ext uri="{9D8B030D-6E8A-4147-A177-3AD203B41FA5}">
                      <a16:colId xmlns:a16="http://schemas.microsoft.com/office/drawing/2014/main" val="20003"/>
                    </a:ext>
                  </a:extLst>
                </a:gridCol>
                <a:gridCol w="2203704">
                  <a:extLst>
                    <a:ext uri="{9D8B030D-6E8A-4147-A177-3AD203B41FA5}">
                      <a16:colId xmlns:a16="http://schemas.microsoft.com/office/drawing/2014/main" val="20004"/>
                    </a:ext>
                  </a:extLst>
                </a:gridCol>
              </a:tblGrid>
              <a:tr h="365760">
                <a:tc>
                  <a:txBody>
                    <a:bodyPr/>
                    <a:lstStyle/>
                    <a:p>
                      <a:pPr algn="ctr">
                        <a:defRPr sz="1800" b="1">
                          <a:solidFill>
                            <a:srgbClr val="FFFFFF"/>
                          </a:solidFill>
                          <a:latin typeface="Aptos"/>
                        </a:defRPr>
                      </a:pPr>
                      <a:r>
                        <a:t>Setup</a:t>
                      </a:r>
                    </a:p>
                  </a:txBody>
                  <a:tcPr>
                    <a:solidFill>
                      <a:srgbClr val="25484C"/>
                    </a:solidFill>
                  </a:tcPr>
                </a:tc>
                <a:tc>
                  <a:txBody>
                    <a:bodyPr/>
                    <a:lstStyle/>
                    <a:p>
                      <a:pPr algn="ctr">
                        <a:defRPr sz="1800" b="1">
                          <a:solidFill>
                            <a:srgbClr val="FFFFFF"/>
                          </a:solidFill>
                          <a:latin typeface="Aptos"/>
                        </a:defRPr>
                      </a:pPr>
                      <a:r>
                        <a:t>E1</a:t>
                      </a:r>
                    </a:p>
                  </a:txBody>
                  <a:tcPr>
                    <a:solidFill>
                      <a:srgbClr val="25484C"/>
                    </a:solidFill>
                  </a:tcPr>
                </a:tc>
                <a:tc>
                  <a:txBody>
                    <a:bodyPr/>
                    <a:lstStyle/>
                    <a:p>
                      <a:pPr algn="ctr">
                        <a:defRPr sz="1800" b="1">
                          <a:solidFill>
                            <a:srgbClr val="FFFFFF"/>
                          </a:solidFill>
                          <a:latin typeface="Aptos"/>
                        </a:defRPr>
                      </a:pPr>
                      <a:r>
                        <a:t>E2</a:t>
                      </a:r>
                    </a:p>
                  </a:txBody>
                  <a:tcPr>
                    <a:solidFill>
                      <a:srgbClr val="25484C"/>
                    </a:solidFill>
                  </a:tcPr>
                </a:tc>
                <a:tc>
                  <a:txBody>
                    <a:bodyPr/>
                    <a:lstStyle/>
                    <a:p>
                      <a:pPr algn="ctr">
                        <a:defRPr sz="1800" b="1">
                          <a:solidFill>
                            <a:srgbClr val="FFFFFF"/>
                          </a:solidFill>
                          <a:latin typeface="Aptos"/>
                        </a:defRPr>
                      </a:pPr>
                      <a:r>
                        <a:t>E3-M</a:t>
                      </a:r>
                    </a:p>
                  </a:txBody>
                  <a:tcPr>
                    <a:solidFill>
                      <a:srgbClr val="25484C"/>
                    </a:solidFill>
                  </a:tcPr>
                </a:tc>
                <a:tc>
                  <a:txBody>
                    <a:bodyPr/>
                    <a:lstStyle/>
                    <a:p>
                      <a:pPr algn="ctr">
                        <a:defRPr sz="1800" b="1">
                          <a:solidFill>
                            <a:srgbClr val="FFFFFF"/>
                          </a:solidFill>
                          <a:latin typeface="Aptos"/>
                        </a:defRPr>
                      </a:pPr>
                      <a:r>
                        <a:t>E3-T</a:t>
                      </a:r>
                    </a:p>
                  </a:txBody>
                  <a:tcPr>
                    <a:solidFill>
                      <a:srgbClr val="25484C"/>
                    </a:solidFill>
                  </a:tcPr>
                </a:tc>
                <a:extLst>
                  <a:ext uri="{0D108BD9-81ED-4DB2-BD59-A6C34878D82A}">
                    <a16:rowId xmlns:a16="http://schemas.microsoft.com/office/drawing/2014/main" val="10000"/>
                  </a:ext>
                </a:extLst>
              </a:tr>
              <a:tr h="365760">
                <a:tc>
                  <a:txBody>
                    <a:bodyPr/>
                    <a:lstStyle/>
                    <a:p>
                      <a:pPr algn="l">
                        <a:defRPr sz="2000" b="1">
                          <a:solidFill>
                            <a:srgbClr val="232624"/>
                          </a:solidFill>
                          <a:latin typeface="Aptos"/>
                        </a:defRPr>
                      </a:pPr>
                      <a:r>
                        <a:t>A</a:t>
                      </a:r>
                    </a:p>
                  </a:txBody>
                  <a:tcPr marL="18288" marR="18288" marT="9144" marB="9144">
                    <a:solidFill>
                      <a:srgbClr val="FFFFFC"/>
                    </a:solidFill>
                  </a:tcPr>
                </a:tc>
                <a:tc>
                  <a:txBody>
                    <a:bodyPr/>
                    <a:lstStyle/>
                    <a:p>
                      <a:pPr algn="ctr">
                        <a:defRPr sz="2000" b="0">
                          <a:solidFill>
                            <a:srgbClr val="232624"/>
                          </a:solidFill>
                          <a:latin typeface="Aptos"/>
                        </a:defRPr>
                      </a:pPr>
                      <a:r>
                        <a:t>1.54</a:t>
                      </a:r>
                    </a:p>
                  </a:txBody>
                  <a:tcPr marL="18288" marR="18288" marT="9144" marB="9144">
                    <a:solidFill>
                      <a:srgbClr val="FFFFFC"/>
                    </a:solidFill>
                  </a:tcPr>
                </a:tc>
                <a:tc>
                  <a:txBody>
                    <a:bodyPr/>
                    <a:lstStyle/>
                    <a:p>
                      <a:pPr algn="ctr">
                        <a:defRPr sz="2000" b="1">
                          <a:solidFill>
                            <a:srgbClr val="232624"/>
                          </a:solidFill>
                          <a:latin typeface="Aptos"/>
                        </a:defRPr>
                      </a:pPr>
                      <a:r>
                        <a:t>1.61</a:t>
                      </a:r>
                    </a:p>
                  </a:txBody>
                  <a:tcPr marL="18288" marR="18288" marT="9144" marB="9144">
                    <a:solidFill>
                      <a:srgbClr val="DEEFB1"/>
                    </a:solidFill>
                  </a:tcPr>
                </a:tc>
                <a:tc>
                  <a:txBody>
                    <a:bodyPr/>
                    <a:lstStyle/>
                    <a:p>
                      <a:pPr algn="ctr">
                        <a:defRPr sz="2000" b="1">
                          <a:solidFill>
                            <a:srgbClr val="232624"/>
                          </a:solidFill>
                          <a:latin typeface="Aptos"/>
                        </a:defRPr>
                      </a:pPr>
                      <a:r>
                        <a:t>2.17</a:t>
                      </a:r>
                    </a:p>
                  </a:txBody>
                  <a:tcPr marL="18288" marR="18288" marT="9144" marB="9144">
                    <a:solidFill>
                      <a:srgbClr val="DEEFB1"/>
                    </a:solidFill>
                  </a:tcPr>
                </a:tc>
                <a:tc>
                  <a:txBody>
                    <a:bodyPr/>
                    <a:lstStyle/>
                    <a:p>
                      <a:pPr algn="ctr">
                        <a:defRPr sz="2000" b="1">
                          <a:solidFill>
                            <a:srgbClr val="232624"/>
                          </a:solidFill>
                          <a:latin typeface="Aptos"/>
                        </a:defRPr>
                      </a:pPr>
                      <a:r>
                        <a:t>3.22</a:t>
                      </a:r>
                    </a:p>
                  </a:txBody>
                  <a:tcPr marL="18288" marR="18288" marT="9144" marB="9144">
                    <a:solidFill>
                      <a:srgbClr val="DEEFB1"/>
                    </a:solidFill>
                  </a:tcPr>
                </a:tc>
                <a:extLst>
                  <a:ext uri="{0D108BD9-81ED-4DB2-BD59-A6C34878D82A}">
                    <a16:rowId xmlns:a16="http://schemas.microsoft.com/office/drawing/2014/main" val="10001"/>
                  </a:ext>
                </a:extLst>
              </a:tr>
              <a:tr h="365760">
                <a:tc>
                  <a:txBody>
                    <a:bodyPr/>
                    <a:lstStyle/>
                    <a:p>
                      <a:pPr algn="l">
                        <a:defRPr sz="2000" b="1">
                          <a:solidFill>
                            <a:srgbClr val="232624"/>
                          </a:solidFill>
                          <a:latin typeface="Aptos"/>
                        </a:defRPr>
                      </a:pPr>
                      <a:r>
                        <a:t>B-query</a:t>
                      </a:r>
                    </a:p>
                  </a:txBody>
                  <a:tcPr marL="18288" marR="18288" marT="9144" marB="9144">
                    <a:solidFill>
                      <a:srgbClr val="FFFFFC"/>
                    </a:solidFill>
                  </a:tcPr>
                </a:tc>
                <a:tc>
                  <a:txBody>
                    <a:bodyPr/>
                    <a:lstStyle/>
                    <a:p>
                      <a:pPr algn="ctr">
                        <a:defRPr sz="2000" b="0">
                          <a:solidFill>
                            <a:srgbClr val="232624"/>
                          </a:solidFill>
                          <a:latin typeface="Aptos"/>
                        </a:defRPr>
                      </a:pPr>
                      <a:r>
                        <a:t>1.15</a:t>
                      </a:r>
                    </a:p>
                  </a:txBody>
                  <a:tcPr marL="18288" marR="18288" marT="9144" marB="9144">
                    <a:solidFill>
                      <a:srgbClr val="FFFFFC"/>
                    </a:solidFill>
                  </a:tcPr>
                </a:tc>
                <a:tc>
                  <a:txBody>
                    <a:bodyPr/>
                    <a:lstStyle/>
                    <a:p>
                      <a:pPr algn="ctr">
                        <a:defRPr sz="2000" b="0">
                          <a:solidFill>
                            <a:srgbClr val="232624"/>
                          </a:solidFill>
                          <a:latin typeface="Aptos"/>
                        </a:defRPr>
                      </a:pPr>
                      <a:r>
                        <a:t>0.75</a:t>
                      </a:r>
                    </a:p>
                  </a:txBody>
                  <a:tcPr marL="18288" marR="18288" marT="9144" marB="9144">
                    <a:solidFill>
                      <a:srgbClr val="FFFFFC"/>
                    </a:solidFill>
                  </a:tcPr>
                </a:tc>
                <a:tc>
                  <a:txBody>
                    <a:bodyPr/>
                    <a:lstStyle/>
                    <a:p>
                      <a:pPr algn="ctr">
                        <a:defRPr sz="2000" b="0">
                          <a:solidFill>
                            <a:srgbClr val="232624"/>
                          </a:solidFill>
                          <a:latin typeface="Aptos"/>
                        </a:defRPr>
                      </a:pPr>
                      <a:r>
                        <a:t>1.06</a:t>
                      </a:r>
                    </a:p>
                  </a:txBody>
                  <a:tcPr marL="18288" marR="18288" marT="9144" marB="9144">
                    <a:solidFill>
                      <a:srgbClr val="FFFFFC"/>
                    </a:solidFill>
                  </a:tcPr>
                </a:tc>
                <a:tc>
                  <a:txBody>
                    <a:bodyPr/>
                    <a:lstStyle/>
                    <a:p>
                      <a:pPr algn="ctr">
                        <a:defRPr sz="2000" b="0">
                          <a:solidFill>
                            <a:srgbClr val="232624"/>
                          </a:solidFill>
                          <a:latin typeface="Aptos"/>
                        </a:defRPr>
                      </a:pPr>
                      <a:r>
                        <a:t>1.28</a:t>
                      </a:r>
                    </a:p>
                  </a:txBody>
                  <a:tcPr marL="18288" marR="18288" marT="9144" marB="9144">
                    <a:solidFill>
                      <a:srgbClr val="FFFFFC"/>
                    </a:solidFill>
                  </a:tcPr>
                </a:tc>
                <a:extLst>
                  <a:ext uri="{0D108BD9-81ED-4DB2-BD59-A6C34878D82A}">
                    <a16:rowId xmlns:a16="http://schemas.microsoft.com/office/drawing/2014/main" val="10002"/>
                  </a:ext>
                </a:extLst>
              </a:tr>
              <a:tr h="365760">
                <a:tc>
                  <a:txBody>
                    <a:bodyPr/>
                    <a:lstStyle/>
                    <a:p>
                      <a:pPr algn="l">
                        <a:defRPr sz="2000" b="1">
                          <a:solidFill>
                            <a:srgbClr val="232624"/>
                          </a:solidFill>
                          <a:latin typeface="Aptos"/>
                        </a:defRPr>
                      </a:pPr>
                      <a:r>
                        <a:t>B-resolved</a:t>
                      </a:r>
                    </a:p>
                  </a:txBody>
                  <a:tcPr marL="18288" marR="18288" marT="9144" marB="9144">
                    <a:solidFill>
                      <a:srgbClr val="FFFFFC"/>
                    </a:solidFill>
                  </a:tcPr>
                </a:tc>
                <a:tc>
                  <a:txBody>
                    <a:bodyPr/>
                    <a:lstStyle/>
                    <a:p>
                      <a:pPr algn="ctr">
                        <a:defRPr sz="2000" b="0">
                          <a:solidFill>
                            <a:srgbClr val="232624"/>
                          </a:solidFill>
                          <a:latin typeface="Aptos"/>
                        </a:defRPr>
                      </a:pPr>
                      <a:r>
                        <a:t>0.80</a:t>
                      </a:r>
                    </a:p>
                  </a:txBody>
                  <a:tcPr marL="18288" marR="18288" marT="9144" marB="9144">
                    <a:solidFill>
                      <a:srgbClr val="FFFFFC"/>
                    </a:solidFill>
                  </a:tcPr>
                </a:tc>
                <a:tc>
                  <a:txBody>
                    <a:bodyPr/>
                    <a:lstStyle/>
                    <a:p>
                      <a:pPr algn="ctr">
                        <a:defRPr sz="2000" b="0">
                          <a:solidFill>
                            <a:srgbClr val="232624"/>
                          </a:solidFill>
                          <a:latin typeface="Aptos"/>
                        </a:defRPr>
                      </a:pPr>
                      <a:r>
                        <a:t>0.36</a:t>
                      </a:r>
                    </a:p>
                  </a:txBody>
                  <a:tcPr marL="18288" marR="18288" marT="9144" marB="9144">
                    <a:solidFill>
                      <a:srgbClr val="FFFFFC"/>
                    </a:solidFill>
                  </a:tcPr>
                </a:tc>
                <a:tc>
                  <a:txBody>
                    <a:bodyPr/>
                    <a:lstStyle/>
                    <a:p>
                      <a:pPr algn="ctr">
                        <a:defRPr sz="2000" b="0">
                          <a:solidFill>
                            <a:srgbClr val="232624"/>
                          </a:solidFill>
                          <a:latin typeface="Aptos"/>
                        </a:defRPr>
                      </a:pPr>
                      <a:r>
                        <a:t>1.72</a:t>
                      </a:r>
                    </a:p>
                  </a:txBody>
                  <a:tcPr marL="18288" marR="18288" marT="9144" marB="9144">
                    <a:solidFill>
                      <a:srgbClr val="FFFFFC"/>
                    </a:solidFill>
                  </a:tcPr>
                </a:tc>
                <a:tc>
                  <a:txBody>
                    <a:bodyPr/>
                    <a:lstStyle/>
                    <a:p>
                      <a:pPr algn="ctr">
                        <a:defRPr sz="2000" b="0">
                          <a:solidFill>
                            <a:srgbClr val="232624"/>
                          </a:solidFill>
                          <a:latin typeface="Aptos"/>
                        </a:defRPr>
                      </a:pPr>
                      <a:r>
                        <a:t>2.06</a:t>
                      </a:r>
                    </a:p>
                  </a:txBody>
                  <a:tcPr marL="18288" marR="18288" marT="9144" marB="9144">
                    <a:solidFill>
                      <a:srgbClr val="FFFFFC"/>
                    </a:solidFill>
                  </a:tcPr>
                </a:tc>
                <a:extLst>
                  <a:ext uri="{0D108BD9-81ED-4DB2-BD59-A6C34878D82A}">
                    <a16:rowId xmlns:a16="http://schemas.microsoft.com/office/drawing/2014/main" val="10003"/>
                  </a:ext>
                </a:extLst>
              </a:tr>
              <a:tr h="365760">
                <a:tc>
                  <a:txBody>
                    <a:bodyPr/>
                    <a:lstStyle/>
                    <a:p>
                      <a:pPr algn="l">
                        <a:defRPr sz="2000" b="1">
                          <a:solidFill>
                            <a:srgbClr val="232624"/>
                          </a:solidFill>
                          <a:latin typeface="Aptos"/>
                        </a:defRPr>
                      </a:pPr>
                      <a:r>
                        <a:t>C</a:t>
                      </a:r>
                    </a:p>
                  </a:txBody>
                  <a:tcPr marL="18288" marR="18288" marT="9144" marB="9144">
                    <a:solidFill>
                      <a:srgbClr val="FFFFFC"/>
                    </a:solidFill>
                  </a:tcPr>
                </a:tc>
                <a:tc>
                  <a:txBody>
                    <a:bodyPr/>
                    <a:lstStyle/>
                    <a:p>
                      <a:pPr algn="ctr">
                        <a:defRPr sz="2000" b="1">
                          <a:solidFill>
                            <a:srgbClr val="232624"/>
                          </a:solidFill>
                          <a:latin typeface="Aptos"/>
                        </a:defRPr>
                      </a:pPr>
                      <a:r>
                        <a:t>2.63</a:t>
                      </a:r>
                    </a:p>
                  </a:txBody>
                  <a:tcPr marL="18288" marR="18288" marT="9144" marB="9144">
                    <a:solidFill>
                      <a:srgbClr val="DEEFB1"/>
                    </a:solidFill>
                  </a:tcPr>
                </a:tc>
                <a:tc>
                  <a:txBody>
                    <a:bodyPr/>
                    <a:lstStyle/>
                    <a:p>
                      <a:pPr algn="ctr">
                        <a:defRPr sz="2000" b="0">
                          <a:solidFill>
                            <a:srgbClr val="232624"/>
                          </a:solidFill>
                          <a:latin typeface="Aptos"/>
                        </a:defRPr>
                      </a:pPr>
                      <a:r>
                        <a:t>0.86</a:t>
                      </a:r>
                    </a:p>
                  </a:txBody>
                  <a:tcPr marL="18288" marR="18288" marT="9144" marB="9144">
                    <a:solidFill>
                      <a:srgbClr val="FFFFFC"/>
                    </a:solidFill>
                  </a:tcPr>
                </a:tc>
                <a:tc>
                  <a:txBody>
                    <a:bodyPr/>
                    <a:lstStyle/>
                    <a:p>
                      <a:pPr algn="ctr">
                        <a:defRPr sz="2000" b="0">
                          <a:solidFill>
                            <a:srgbClr val="232624"/>
                          </a:solidFill>
                          <a:latin typeface="Aptos"/>
                        </a:defRPr>
                      </a:pPr>
                      <a:r>
                        <a:t>1.78</a:t>
                      </a:r>
                    </a:p>
                  </a:txBody>
                  <a:tcPr marL="18288" marR="18288" marT="9144" marB="9144">
                    <a:solidFill>
                      <a:srgbClr val="FFFFFC"/>
                    </a:solidFill>
                  </a:tcPr>
                </a:tc>
                <a:tc>
                  <a:txBody>
                    <a:bodyPr/>
                    <a:lstStyle/>
                    <a:p>
                      <a:pPr algn="ctr">
                        <a:defRPr sz="2000" b="0">
                          <a:solidFill>
                            <a:srgbClr val="232624"/>
                          </a:solidFill>
                          <a:latin typeface="Aptos"/>
                        </a:defRPr>
                      </a:pPr>
                      <a:r>
                        <a:t>2.22</a:t>
                      </a:r>
                    </a:p>
                  </a:txBody>
                  <a:tcPr marL="18288" marR="18288" marT="9144" marB="9144">
                    <a:solidFill>
                      <a:srgbClr val="FFFF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Scoring Audit</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Rationales were not stored; score slides use gpt-4.1 examples for apples-to-apples comparison.</a:t>
            </a:r>
          </a:p>
        </p:txBody>
      </p:sp>
      <p:sp>
        <p:nvSpPr>
          <p:cNvPr id="4" name="TextBox 3"/>
          <p:cNvSpPr txBox="1"/>
          <p:nvPr/>
        </p:nvSpPr>
        <p:spPr>
          <a:xfrm>
            <a:off x="685800" y="1097280"/>
            <a:ext cx="10881360" cy="4389120"/>
          </a:xfrm>
          <a:prstGeom prst="rect">
            <a:avLst/>
          </a:prstGeom>
          <a:noFill/>
        </p:spPr>
        <p:txBody>
          <a:bodyPr wrap="square">
            <a:spAutoFit/>
          </a:bodyPr>
          <a:lstStyle/>
          <a:p>
            <a:pPr>
              <a:spcAft>
                <a:spcPts val="700"/>
              </a:spcAft>
              <a:defRPr sz="2300">
                <a:solidFill>
                  <a:srgbClr val="232624"/>
                </a:solidFill>
                <a:latin typeface="Aptos"/>
              </a:defRPr>
            </a:pPr>
            <a:r>
              <a:t>Score 0 is assigned before an LLM judge call when the predicted excerpt cannot be recovered or snapped to the report.</a:t>
            </a:r>
          </a:p>
          <a:p>
            <a:pPr>
              <a:spcAft>
                <a:spcPts val="700"/>
              </a:spcAft>
              <a:defRPr sz="2300">
                <a:solidFill>
                  <a:srgbClr val="232624"/>
                </a:solidFill>
                <a:latin typeface="Aptos"/>
              </a:defRPr>
            </a:pPr>
            <a:r>
              <a:t>Scores 1-5 are judge alignment scores: 1 unrelated, 3 partial, 5 clear and complete.</a:t>
            </a:r>
          </a:p>
          <a:p>
            <a:pPr>
              <a:spcAft>
                <a:spcPts val="700"/>
              </a:spcAft>
              <a:defRPr sz="2300">
                <a:solidFill>
                  <a:srgbClr val="232624"/>
                </a:solidFill>
                <a:latin typeface="Aptos"/>
              </a:defRPr>
            </a:pPr>
            <a:r>
              <a:t>Full reconstructed audit export: judge_score_audit.csv</a:t>
            </a:r>
          </a:p>
          <a:p>
            <a:pPr>
              <a:spcAft>
                <a:spcPts val="700"/>
              </a:spcAft>
              <a:defRPr sz="2300">
                <a:solidFill>
                  <a:srgbClr val="232624"/>
                </a:solidFill>
                <a:latin typeface="Aptos"/>
              </a:defRPr>
            </a:pPr>
            <a:r>
              <a:t>Retained robustness score counts, all models: 0: 380, 1: 555, 2: 484, 3: 599, 4: 315, 5: 130</a:t>
            </a:r>
          </a:p>
          <a:p>
            <a:pPr>
              <a:spcAft>
                <a:spcPts val="700"/>
              </a:spcAft>
              <a:defRPr sz="2300">
                <a:solidFill>
                  <a:srgbClr val="232624"/>
                </a:solidFill>
                <a:latin typeface="Aptos"/>
              </a:defRPr>
            </a:pPr>
            <a:r>
              <a:t>Displayed gpt-4.1 score counts: 0: 25, 1: 80, 2: 85, 3: 146, 4: 118, 5: 50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Score 5</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Clear and complete alignment | 50 gpt-4.1 audit rows in retained robustness evaluations</a:t>
            </a:r>
          </a:p>
        </p:txBody>
      </p:sp>
      <p:sp>
        <p:nvSpPr>
          <p:cNvPr id="4" name="Rectangle 3"/>
          <p:cNvSpPr/>
          <p:nvPr/>
        </p:nvSpPr>
        <p:spPr>
          <a:xfrm>
            <a:off x="502920" y="114300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1. E1 | P1 | gpt-4.1 | C | score 5</a:t>
            </a:r>
          </a:p>
          <a:p>
            <a:pPr>
              <a:spcBef>
                <a:spcPts val="200"/>
              </a:spcBef>
              <a:defRPr sz="2000">
                <a:solidFill>
                  <a:srgbClr val="232624"/>
                </a:solidFill>
                <a:latin typeface="Aptos"/>
              </a:defRPr>
            </a:pPr>
            <a:r>
              <a:rPr lang="en-US" b="1" dirty="0"/>
              <a:t>Prediction</a:t>
            </a:r>
            <a:r>
              <a:rPr b="1" dirty="0"/>
              <a:t>: Patenting activity in vehicle design and tire technologies also grew rapidly between 2000 and 2014 but has largely plateaued since then.</a:t>
            </a:r>
          </a:p>
          <a:p>
            <a:pPr>
              <a:spcBef>
                <a:spcPts val="200"/>
              </a:spcBef>
              <a:defRPr sz="2000">
                <a:solidFill>
                  <a:srgbClr val="232624"/>
                </a:solidFill>
                <a:latin typeface="Aptos"/>
              </a:defRPr>
            </a:pPr>
            <a:r>
              <a:rPr dirty="0"/>
              <a:t>Ground truth: Canonical M:</a:t>
            </a:r>
            <a:r>
              <a:rPr lang="en-US" dirty="0"/>
              <a:t> Let e be an entity and let m be an attribute defined over time. Let v(e, m, t) denote the value or state of entity e with respect to attribute m at time t. A trajectory shift p...</a:t>
            </a:r>
          </a:p>
        </p:txBody>
      </p:sp>
      <p:sp>
        <p:nvSpPr>
          <p:cNvPr id="5" name="Rectangle 4"/>
          <p:cNvSpPr/>
          <p:nvPr/>
        </p:nvSpPr>
        <p:spPr>
          <a:xfrm>
            <a:off x="518160" y="3723847"/>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2. E2 | P1 | gpt-4.1 | A | score 5</a:t>
            </a:r>
          </a:p>
          <a:p>
            <a:pPr>
              <a:spcBef>
                <a:spcPts val="200"/>
              </a:spcBef>
              <a:defRPr sz="2000">
                <a:solidFill>
                  <a:srgbClr val="232624"/>
                </a:solidFill>
                <a:latin typeface="Aptos"/>
              </a:defRPr>
            </a:pPr>
            <a:r>
              <a:rPr b="1" dirty="0"/>
              <a:t>Prediction: While the growth of GenAI patent families in the Republic of Korea has been very dynamic across all modes in recent years, Japan's GenAI patent families peaked in 2020/2021 and have been de...</a:t>
            </a:r>
          </a:p>
          <a:p>
            <a:pPr>
              <a:spcBef>
                <a:spcPts val="200"/>
              </a:spcBef>
              <a:defRPr sz="2000">
                <a:solidFill>
                  <a:srgbClr val="232624"/>
                </a:solidFill>
                <a:latin typeface="Aptos"/>
              </a:defRPr>
            </a:pPr>
            <a:r>
              <a:rPr dirty="0"/>
              <a:t>Ground truth: Reference </a:t>
            </a:r>
            <a:r>
              <a:rPr dirty="0" err="1"/>
              <a:t>E.text</a:t>
            </a:r>
            <a:r>
              <a:rPr dirty="0"/>
              <a:t>: In both Japan and the Republic of Korea, speech/voice/music is a very important GenAI mode in terms of patent families. However, patent growth rates differ significantly 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Score 4</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Valid with minor omission or ambiguity | 118 gpt-4.1 audit rows in retained robustness evaluations</a:t>
            </a:r>
          </a:p>
        </p:txBody>
      </p:sp>
      <p:sp>
        <p:nvSpPr>
          <p:cNvPr id="4" name="Rectangle 3"/>
          <p:cNvSpPr/>
          <p:nvPr/>
        </p:nvSpPr>
        <p:spPr>
          <a:xfrm>
            <a:off x="502920" y="114300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1. E1 | P1 | gpt-4.1 | C | score 4</a:t>
            </a:r>
          </a:p>
          <a:p>
            <a:pPr>
              <a:spcBef>
                <a:spcPts val="200"/>
              </a:spcBef>
              <a:defRPr sz="2000">
                <a:solidFill>
                  <a:srgbClr val="232624"/>
                </a:solidFill>
                <a:latin typeface="Aptos"/>
              </a:defRPr>
            </a:pPr>
            <a:r>
              <a:rPr b="1" dirty="0"/>
              <a:t>Prediction: The number of patent families related to titanium-containing coatings has strongly increased since 2012.</a:t>
            </a:r>
          </a:p>
          <a:p>
            <a:pPr>
              <a:spcBef>
                <a:spcPts val="200"/>
              </a:spcBef>
              <a:defRPr sz="2000">
                <a:solidFill>
                  <a:srgbClr val="232624"/>
                </a:solidFill>
                <a:latin typeface="Aptos"/>
              </a:defRPr>
            </a:pPr>
            <a:r>
              <a:rPr dirty="0"/>
              <a:t>Ground truth: Canonical M: Let e be an entity and let m be an attribute defined over time. Let v(e, m, t) denote the value or state of entity e with respect to attribute m at time t. A trajectory shift p...</a:t>
            </a:r>
          </a:p>
        </p:txBody>
      </p:sp>
      <p:sp>
        <p:nvSpPr>
          <p:cNvPr id="5" name="Rectangle 4"/>
          <p:cNvSpPr/>
          <p:nvPr/>
        </p:nvSpPr>
        <p:spPr>
          <a:xfrm>
            <a:off x="502920" y="356616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2. E2 | P1 | gpt-4.1 | A | score 4</a:t>
            </a:r>
          </a:p>
          <a:p>
            <a:pPr>
              <a:spcBef>
                <a:spcPts val="200"/>
              </a:spcBef>
              <a:defRPr sz="2000">
                <a:solidFill>
                  <a:srgbClr val="232624"/>
                </a:solidFill>
                <a:latin typeface="Aptos"/>
              </a:defRPr>
            </a:pPr>
            <a:r>
              <a:rPr b="1" dirty="0"/>
              <a:t>Prediction: Among the core models of GenAI, many patent families belong to the category of generative adversarial networks (GANs). Between 2014 and 2023, there were almost 9,700 publications of patent...</a:t>
            </a:r>
          </a:p>
          <a:p>
            <a:pPr>
              <a:spcBef>
                <a:spcPts val="200"/>
              </a:spcBef>
              <a:defRPr sz="2000">
                <a:solidFill>
                  <a:srgbClr val="232624"/>
                </a:solidFill>
                <a:latin typeface="Aptos"/>
              </a:defRPr>
            </a:pPr>
            <a:r>
              <a:rPr dirty="0"/>
              <a:t>Ground truth: Reference </a:t>
            </a:r>
            <a:r>
              <a:rPr dirty="0" err="1"/>
              <a:t>E.text</a:t>
            </a:r>
            <a:r>
              <a:rPr dirty="0"/>
              <a:t>: Although patent publications in GANs dominated up to 2020, it has slowed down since and patent publications in diffusion models have grown tremendously since 2021.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Score 3</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Partial or uncertain alignment | 146 gpt-4.1 audit rows in retained robustness evaluations</a:t>
            </a:r>
          </a:p>
        </p:txBody>
      </p:sp>
      <p:sp>
        <p:nvSpPr>
          <p:cNvPr id="4" name="Rectangle 3"/>
          <p:cNvSpPr/>
          <p:nvPr/>
        </p:nvSpPr>
        <p:spPr>
          <a:xfrm>
            <a:off x="502920" y="114300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1. E1 | P1 | gpt-4.1 | A | score 3</a:t>
            </a:r>
          </a:p>
          <a:p>
            <a:pPr>
              <a:spcBef>
                <a:spcPts val="200"/>
              </a:spcBef>
              <a:defRPr sz="2000">
                <a:solidFill>
                  <a:srgbClr val="232624"/>
                </a:solidFill>
                <a:latin typeface="Aptos"/>
              </a:defRPr>
            </a:pPr>
            <a:r>
              <a:rPr b="1" dirty="0"/>
              <a:t>Prediction: Patent activity shows a growing interest in ceramics as an industrial application of titanium since 2016, with a CAGR of +15 percent between 2014 and 2019.</a:t>
            </a:r>
          </a:p>
          <a:p>
            <a:pPr>
              <a:spcBef>
                <a:spcPts val="200"/>
              </a:spcBef>
              <a:defRPr sz="2000">
                <a:solidFill>
                  <a:srgbClr val="232624"/>
                </a:solidFill>
                <a:latin typeface="Aptos"/>
              </a:defRPr>
            </a:pPr>
            <a:r>
              <a:rPr dirty="0"/>
              <a:t>Ground truth: Canonical M: Let e be an entity and let m be an attribute defined over time. Let v(e, m, t) denote the value or state of entity e with respect to attribute m at time t. A trajectory shift p...</a:t>
            </a:r>
          </a:p>
        </p:txBody>
      </p:sp>
      <p:sp>
        <p:nvSpPr>
          <p:cNvPr id="5" name="Rectangle 4"/>
          <p:cNvSpPr/>
          <p:nvPr/>
        </p:nvSpPr>
        <p:spPr>
          <a:xfrm>
            <a:off x="502920" y="356616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2. E2 | P1 | gpt-4.1 | C | score 3</a:t>
            </a:r>
          </a:p>
          <a:p>
            <a:pPr>
              <a:spcBef>
                <a:spcPts val="200"/>
              </a:spcBef>
              <a:defRPr sz="2000">
                <a:solidFill>
                  <a:srgbClr val="232624"/>
                </a:solidFill>
                <a:latin typeface="Aptos"/>
              </a:defRPr>
            </a:pPr>
            <a:r>
              <a:rPr b="1" dirty="0"/>
              <a:t>Prediction: Patent filings related to the use of titanium and titanium dioxide in ceramics have strongly increased since 2012.</a:t>
            </a:r>
          </a:p>
          <a:p>
            <a:pPr>
              <a:spcBef>
                <a:spcPts val="200"/>
              </a:spcBef>
              <a:defRPr sz="2000">
                <a:solidFill>
                  <a:srgbClr val="232624"/>
                </a:solidFill>
                <a:latin typeface="Aptos"/>
              </a:defRPr>
            </a:pPr>
            <a:r>
              <a:rPr dirty="0"/>
              <a:t>Ground truth: Reference </a:t>
            </a:r>
            <a:r>
              <a:rPr dirty="0" err="1"/>
              <a:t>E.text</a:t>
            </a:r>
            <a:r>
              <a:rPr dirty="0"/>
              <a:t>: Between 2012 and 2022, there were 2,027 active patent families describing the use of titanium dioxide and titanium in ceramics (Figure 24). Patent activity shows a growing...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Score 2</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Weakly related, central conditions missing | 85 gpt-4.1 audit rows in retained robustness evaluations</a:t>
            </a:r>
          </a:p>
        </p:txBody>
      </p:sp>
      <p:sp>
        <p:nvSpPr>
          <p:cNvPr id="4" name="Rectangle 3"/>
          <p:cNvSpPr/>
          <p:nvPr/>
        </p:nvSpPr>
        <p:spPr>
          <a:xfrm>
            <a:off x="502920" y="114300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1. E1 | P1 | gpt-4.1 | B-query | score 2</a:t>
            </a:r>
          </a:p>
          <a:p>
            <a:pPr>
              <a:spcBef>
                <a:spcPts val="200"/>
              </a:spcBef>
              <a:defRPr sz="2000">
                <a:solidFill>
                  <a:srgbClr val="232624"/>
                </a:solidFill>
                <a:latin typeface="Aptos"/>
              </a:defRPr>
            </a:pPr>
            <a:r>
              <a:rPr b="1" dirty="0"/>
              <a:t>Prediction: Patent activity shows a growing interest in this field, with a CAGR of +23 percent between 2014 and 2019 (Figure 34).</a:t>
            </a:r>
          </a:p>
          <a:p>
            <a:pPr>
              <a:spcBef>
                <a:spcPts val="200"/>
              </a:spcBef>
              <a:defRPr sz="2000">
                <a:solidFill>
                  <a:srgbClr val="232624"/>
                </a:solidFill>
                <a:latin typeface="Aptos"/>
              </a:defRPr>
            </a:pPr>
            <a:r>
              <a:rPr dirty="0"/>
              <a:t>Ground truth: Canonical M: Let e be an entity and let m be an attribute defined over time. Let v(e, m, t) denote the value or state of entity e with respect to attribute m at time t. A trajectory shift p...</a:t>
            </a:r>
          </a:p>
        </p:txBody>
      </p:sp>
      <p:sp>
        <p:nvSpPr>
          <p:cNvPr id="5" name="Rectangle 4"/>
          <p:cNvSpPr/>
          <p:nvPr/>
        </p:nvSpPr>
        <p:spPr>
          <a:xfrm>
            <a:off x="502920" y="356616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2. E2 | P1 | gpt-4.1 | A | score 2</a:t>
            </a:r>
          </a:p>
          <a:p>
            <a:pPr>
              <a:spcBef>
                <a:spcPts val="200"/>
              </a:spcBef>
              <a:defRPr sz="2000">
                <a:solidFill>
                  <a:srgbClr val="232624"/>
                </a:solidFill>
                <a:latin typeface="Aptos"/>
              </a:defRPr>
            </a:pPr>
            <a:r>
              <a:rPr b="1" dirty="0"/>
              <a:t>Prediction: Between 2012 and 2022, there were 2,027 active patent families describing the use of titanium dioxide and titanium in ceramics (Figure 24). Patent activity shows a growing interest in </a:t>
            </a:r>
            <a:r>
              <a:rPr b="1" dirty="0" err="1"/>
              <a:t>ceram</a:t>
            </a:r>
            <a:r>
              <a:rPr b="1" dirty="0"/>
              <a:t>...</a:t>
            </a:r>
          </a:p>
          <a:p>
            <a:pPr>
              <a:spcBef>
                <a:spcPts val="200"/>
              </a:spcBef>
              <a:defRPr sz="2000">
                <a:solidFill>
                  <a:srgbClr val="232624"/>
                </a:solidFill>
                <a:latin typeface="Aptos"/>
              </a:defRPr>
            </a:pPr>
            <a:r>
              <a:rPr dirty="0"/>
              <a:t>Ground truth: Reference </a:t>
            </a:r>
            <a:r>
              <a:rPr dirty="0" err="1"/>
              <a:t>E.text</a:t>
            </a:r>
            <a:r>
              <a:rPr dirty="0"/>
              <a:t>: Between 2012 and 2022, there were 2,027 active patent families describing the use of titanium dioxide and titanium in ceramics (Figure 24). Patent activity shows a growing...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Score 1</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Unrelated or not aligned | 80 gpt-4.1 audit rows in retained robustness evaluations</a:t>
            </a:r>
          </a:p>
        </p:txBody>
      </p:sp>
      <p:sp>
        <p:nvSpPr>
          <p:cNvPr id="4" name="Rectangle 3"/>
          <p:cNvSpPr/>
          <p:nvPr/>
        </p:nvSpPr>
        <p:spPr>
          <a:xfrm>
            <a:off x="502920" y="114300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1. E1 | P1 | gpt-4.1 | B-query | score 1</a:t>
            </a:r>
          </a:p>
          <a:p>
            <a:pPr>
              <a:spcBef>
                <a:spcPts val="200"/>
              </a:spcBef>
              <a:defRPr sz="2000">
                <a:solidFill>
                  <a:srgbClr val="232624"/>
                </a:solidFill>
                <a:latin typeface="Aptos"/>
              </a:defRPr>
            </a:pPr>
            <a:r>
              <a:rPr b="1" dirty="0"/>
              <a:t>Prediction: Patent activity on titanium metal production has remained quite steady since 2002, indicating a constant but not significantly growing interest in the topic (Figure 16).</a:t>
            </a:r>
          </a:p>
          <a:p>
            <a:pPr>
              <a:spcBef>
                <a:spcPts val="200"/>
              </a:spcBef>
              <a:defRPr sz="2000">
                <a:solidFill>
                  <a:srgbClr val="232624"/>
                </a:solidFill>
                <a:latin typeface="Aptos"/>
              </a:defRPr>
            </a:pPr>
            <a:r>
              <a:rPr dirty="0"/>
              <a:t>Ground truth: Canonical M: Let e be an entity and let m be an attribute defined over time. Let v(e, m, t) denote the value or state of entity e with respect to attribute m at time t. A trajectory shift p...</a:t>
            </a:r>
          </a:p>
        </p:txBody>
      </p:sp>
      <p:sp>
        <p:nvSpPr>
          <p:cNvPr id="5" name="Rectangle 4"/>
          <p:cNvSpPr/>
          <p:nvPr/>
        </p:nvSpPr>
        <p:spPr>
          <a:xfrm>
            <a:off x="502920" y="356616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2. E2 | P1 | gpt-4.1 | B-resolved | score 1</a:t>
            </a:r>
          </a:p>
          <a:p>
            <a:pPr>
              <a:spcBef>
                <a:spcPts val="200"/>
              </a:spcBef>
              <a:defRPr sz="2000">
                <a:solidFill>
                  <a:srgbClr val="232624"/>
                </a:solidFill>
                <a:latin typeface="Aptos"/>
              </a:defRPr>
            </a:pPr>
            <a:r>
              <a:rPr b="1" dirty="0"/>
              <a:t>Prediction: For Japan, it is noteworthy that the vast majority of GenAI patent families cannot be linked to any of the five core GenAI models. In India, GAN patent families accounted for a relatively h...</a:t>
            </a:r>
          </a:p>
          <a:p>
            <a:pPr>
              <a:spcBef>
                <a:spcPts val="200"/>
              </a:spcBef>
              <a:defRPr sz="2000">
                <a:solidFill>
                  <a:srgbClr val="232624"/>
                </a:solidFill>
                <a:latin typeface="Aptos"/>
              </a:defRPr>
            </a:pPr>
            <a:r>
              <a:rPr dirty="0"/>
              <a:t>Ground truth: Reference </a:t>
            </a:r>
            <a:r>
              <a:rPr dirty="0" err="1"/>
              <a:t>E.text</a:t>
            </a:r>
            <a:r>
              <a:rPr dirty="0"/>
              <a:t>: In both Japan and the Republic of Korea, speech/voice/music is a very important GenAI mode in terms of patent families. However, patent growth rates differ significantly 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Judge Score 0</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No recoverable grounded excerpt | 25 gpt-4.1 audit rows in retained robustness evaluations</a:t>
            </a:r>
          </a:p>
        </p:txBody>
      </p:sp>
      <p:sp>
        <p:nvSpPr>
          <p:cNvPr id="4" name="Rectangle 3"/>
          <p:cNvSpPr/>
          <p:nvPr/>
        </p:nvSpPr>
        <p:spPr>
          <a:xfrm>
            <a:off x="502920" y="114300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1. E1 | P1 | gpt-4.1 | C | score 0</a:t>
            </a:r>
          </a:p>
          <a:p>
            <a:pPr>
              <a:spcBef>
                <a:spcPts val="200"/>
              </a:spcBef>
              <a:defRPr sz="2000">
                <a:solidFill>
                  <a:srgbClr val="232624"/>
                </a:solidFill>
                <a:latin typeface="Aptos"/>
              </a:defRPr>
            </a:pPr>
            <a:r>
              <a:rPr b="1" dirty="0"/>
              <a:t>Prediction: Patent activity shows a growing interest in titanium-based coatings, with a CAGR of +23 percent between 2014 and 2019 (Figure 44). ... The number of patent families related to titanium-cont...</a:t>
            </a:r>
          </a:p>
          <a:p>
            <a:pPr>
              <a:spcBef>
                <a:spcPts val="200"/>
              </a:spcBef>
              <a:defRPr sz="2000">
                <a:solidFill>
                  <a:srgbClr val="232624"/>
                </a:solidFill>
                <a:latin typeface="Aptos"/>
              </a:defRPr>
            </a:pPr>
            <a:r>
              <a:rPr dirty="0"/>
              <a:t>Ground truth: Canonical M: Let e be an entity and let m be an attribute defined over time. Let v(e, m, t) denote the value or state of entity e with respect to attribute m at time t. A trajectory shift p...</a:t>
            </a:r>
          </a:p>
        </p:txBody>
      </p:sp>
      <p:sp>
        <p:nvSpPr>
          <p:cNvPr id="5" name="Rectangle 4"/>
          <p:cNvSpPr/>
          <p:nvPr/>
        </p:nvSpPr>
        <p:spPr>
          <a:xfrm>
            <a:off x="502920" y="3566160"/>
            <a:ext cx="11155680" cy="214884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defRPr sz="1800" b="1">
                <a:solidFill>
                  <a:srgbClr val="184E4B"/>
                </a:solidFill>
                <a:latin typeface="Aptos"/>
              </a:defRPr>
            </a:pPr>
            <a:r>
              <a:rPr dirty="0"/>
              <a:t>2. E2 | P1 | gpt-4.1 | C | score 0</a:t>
            </a:r>
          </a:p>
          <a:p>
            <a:pPr>
              <a:spcBef>
                <a:spcPts val="200"/>
              </a:spcBef>
              <a:defRPr sz="2000">
                <a:solidFill>
                  <a:srgbClr val="232624"/>
                </a:solidFill>
                <a:latin typeface="Aptos"/>
              </a:defRPr>
            </a:pPr>
            <a:r>
              <a:rPr b="1" dirty="0"/>
              <a:t>Prediction: </a:t>
            </a:r>
            <a:r>
              <a:rPr b="1" dirty="0" err="1"/>
              <a:t>year,distinct_gan_patent_family_count</a:t>
            </a:r>
            <a:r>
              <a:rPr b="1" dirty="0"/>
              <a:t> 2017,38 2018,237 2019,851 2020,1585 2021,2102 2022,2504 2023,2370</a:t>
            </a:r>
          </a:p>
          <a:p>
            <a:pPr>
              <a:spcBef>
                <a:spcPts val="200"/>
              </a:spcBef>
              <a:defRPr sz="2000">
                <a:solidFill>
                  <a:srgbClr val="232624"/>
                </a:solidFill>
                <a:latin typeface="Aptos"/>
              </a:defRPr>
            </a:pPr>
            <a:r>
              <a:rPr dirty="0"/>
              <a:t>Ground truth: Reference </a:t>
            </a:r>
            <a:r>
              <a:rPr dirty="0" err="1"/>
              <a:t>E.text</a:t>
            </a:r>
            <a:r>
              <a:rPr dirty="0"/>
              <a:t>: Although patent publications in GANs dominated up to 2020, it has slowed down since and patent publications in diffusion models have grown tremendously since 2021.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11338560" cy="502920"/>
          </a:xfrm>
          <a:prstGeom prst="rect">
            <a:avLst/>
          </a:prstGeom>
          <a:noFill/>
        </p:spPr>
        <p:txBody>
          <a:bodyPr wrap="none">
            <a:spAutoFit/>
          </a:bodyPr>
          <a:lstStyle/>
          <a:p>
            <a:pPr>
              <a:defRPr sz="2900" b="1">
                <a:solidFill>
                  <a:srgbClr val="232624"/>
                </a:solidFill>
                <a:latin typeface="Aptos Display"/>
              </a:defRPr>
            </a:pPr>
            <a:r>
              <a:t>Conclusions</a:t>
            </a:r>
          </a:p>
        </p:txBody>
      </p:sp>
      <p:sp>
        <p:nvSpPr>
          <p:cNvPr id="3" name="TextBox 2"/>
          <p:cNvSpPr txBox="1"/>
          <p:nvPr/>
        </p:nvSpPr>
        <p:spPr>
          <a:xfrm>
            <a:off x="429768" y="713232"/>
            <a:ext cx="10972800" cy="274320"/>
          </a:xfrm>
          <a:prstGeom prst="rect">
            <a:avLst/>
          </a:prstGeom>
          <a:noFill/>
        </p:spPr>
        <p:txBody>
          <a:bodyPr wrap="none">
            <a:spAutoFit/>
          </a:bodyPr>
          <a:lstStyle/>
          <a:p>
            <a:pPr>
              <a:defRPr sz="1500">
                <a:solidFill>
                  <a:srgbClr val="5C635E"/>
                </a:solidFill>
                <a:latin typeface="Aptos"/>
              </a:defRPr>
            </a:pPr>
            <a:r>
              <a:t>The setup ranking depends on task shape, but the macro pattern is clear.</a:t>
            </a:r>
          </a:p>
        </p:txBody>
      </p:sp>
      <p:sp>
        <p:nvSpPr>
          <p:cNvPr id="4" name="TextBox 3"/>
          <p:cNvSpPr txBox="1"/>
          <p:nvPr/>
        </p:nvSpPr>
        <p:spPr>
          <a:xfrm>
            <a:off x="685800" y="1005840"/>
            <a:ext cx="10881360" cy="4514056"/>
          </a:xfrm>
          <a:prstGeom prst="rect">
            <a:avLst/>
          </a:prstGeom>
          <a:noFill/>
        </p:spPr>
        <p:txBody>
          <a:bodyPr wrap="square">
            <a:spAutoFit/>
          </a:bodyPr>
          <a:lstStyle/>
          <a:p>
            <a:pPr marL="342900" indent="-342900">
              <a:spcAft>
                <a:spcPts val="700"/>
              </a:spcAft>
              <a:buFont typeface="Arial" panose="020B0604020202020204" pitchFamily="34" charset="0"/>
              <a:buChar char="•"/>
              <a:defRPr sz="2300">
                <a:solidFill>
                  <a:srgbClr val="232624"/>
                </a:solidFill>
                <a:latin typeface="Aptos"/>
              </a:defRPr>
            </a:pPr>
            <a:r>
              <a:rPr sz="2400" dirty="0"/>
              <a:t>Setup C is the strongest overall setup: it dominates E1 retrieval and usually wins the macro averages for capable models.</a:t>
            </a:r>
          </a:p>
          <a:p>
            <a:pPr marL="342900" indent="-342900">
              <a:spcAft>
                <a:spcPts val="700"/>
              </a:spcAft>
              <a:buFont typeface="Arial" panose="020B0604020202020204" pitchFamily="34" charset="0"/>
              <a:buChar char="•"/>
              <a:defRPr sz="2300">
                <a:solidFill>
                  <a:srgbClr val="232624"/>
                </a:solidFill>
                <a:latin typeface="Aptos"/>
              </a:defRPr>
            </a:pPr>
            <a:r>
              <a:rPr sz="2400" dirty="0"/>
              <a:t>Setup A remains a strong baseline, especially for direct E2 recovery and for weaker/non-reasoning models on natural-language induction.</a:t>
            </a:r>
          </a:p>
          <a:p>
            <a:pPr marL="342900" indent="-342900">
              <a:spcAft>
                <a:spcPts val="700"/>
              </a:spcAft>
              <a:buFont typeface="Arial" panose="020B0604020202020204" pitchFamily="34" charset="0"/>
              <a:buChar char="•"/>
              <a:defRPr sz="2300">
                <a:solidFill>
                  <a:srgbClr val="232624"/>
                </a:solidFill>
                <a:latin typeface="Aptos"/>
              </a:defRPr>
            </a:pPr>
            <a:r>
              <a:rPr sz="2400" dirty="0"/>
              <a:t>B-query is diagnostically useful: formal framework notation alone can be a burden when the model must infer the task semantics from rules.</a:t>
            </a:r>
          </a:p>
          <a:p>
            <a:pPr marL="342900" indent="-342900">
              <a:spcAft>
                <a:spcPts val="700"/>
              </a:spcAft>
              <a:buFont typeface="Arial" panose="020B0604020202020204" pitchFamily="34" charset="0"/>
              <a:buChar char="•"/>
              <a:defRPr sz="2300">
                <a:solidFill>
                  <a:srgbClr val="232624"/>
                </a:solidFill>
                <a:latin typeface="Aptos"/>
              </a:defRPr>
            </a:pPr>
            <a:r>
              <a:rPr sz="2400" dirty="0"/>
              <a:t>B-resolved is the fairer structured-prompt baseline because it keeps the framework but supplies the natural-language task resolution.</a:t>
            </a:r>
          </a:p>
          <a:p>
            <a:pPr marL="342900" indent="-342900">
              <a:spcAft>
                <a:spcPts val="700"/>
              </a:spcAft>
              <a:buFont typeface="Arial" panose="020B0604020202020204" pitchFamily="34" charset="0"/>
              <a:buChar char="•"/>
              <a:defRPr sz="2300">
                <a:solidFill>
                  <a:srgbClr val="232624"/>
                </a:solidFill>
                <a:latin typeface="Aptos"/>
              </a:defRPr>
            </a:pPr>
            <a:r>
              <a:rPr sz="2400" dirty="0"/>
              <a:t>At larger scale, agentic decomposition starts paying off; at smaller or less reliable reasoning scale, model specialization and instruction-following limits are exposed.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r7fvnm">
            <a:extLst>
              <a:ext uri="{FF2B5EF4-FFF2-40B4-BE49-F238E27FC236}">
                <a16:creationId xmlns:a16="http://schemas.microsoft.com/office/drawing/2014/main" id="{86614EF9-9059-452C-AE46-2A9E98DBCA41}"/>
              </a:ext>
            </a:extLst>
          </p:cNvPr>
          <p:cNvSpPr>
            <a:spLocks noGrp="1"/>
          </p:cNvSpPr>
          <p:nvPr/>
        </p:nvSpPr>
        <p:spPr>
          <a:xfrm>
            <a:off x="400050" y="266700"/>
            <a:ext cx="4762500" cy="228600"/>
          </a:xfrm>
          <a:prstGeom prst="rect">
            <a:avLst/>
          </a:prstGeom>
          <a:noFill/>
          <a:ln w="0">
            <a:noFill/>
            <a:prstDash val="solid"/>
          </a:ln>
        </p:spPr>
        <p:txBody>
          <a:bodyPr lIns="0" tIns="0" rIns="0" bIns="0" anchor="t">
            <a:normAutofit/>
          </a:bodyPr>
          <a:lstStyle/>
          <a:p>
            <a:pPr algn="l">
              <a:lnSpc>
                <a:spcPct val="105000"/>
              </a:lnSpc>
              <a:buNone/>
              <a:defRPr sz="1050" b="1">
                <a:solidFill>
                  <a:srgbClr val="FF6B35"/>
                </a:solidFill>
                <a:latin typeface="Arial"/>
                <a:ea typeface="Arial"/>
                <a:cs typeface="Arial"/>
              </a:defRPr>
            </a:pPr>
            <a:r>
              <a:rPr sz="1050" b="1">
                <a:solidFill>
                  <a:srgbClr val="FF6B35"/>
                </a:solidFill>
                <a:latin typeface="Arial"/>
                <a:ea typeface="Arial"/>
                <a:cs typeface="Arial"/>
              </a:rPr>
              <a:t>TEMPERATURE 0</a:t>
            </a:r>
          </a:p>
        </p:txBody>
      </p:sp>
      <p:sp>
        <p:nvSpPr>
          <p:cNvPr id="2" name="slide-title">
            <a:extLst>
              <a:ext uri="{FF2B5EF4-FFF2-40B4-BE49-F238E27FC236}">
                <a16:creationId xmlns:a16="http://schemas.microsoft.com/office/drawing/2014/main" id="{901EE126-7D3D-45F6-80CF-002C401342CE}"/>
              </a:ext>
            </a:extLst>
          </p:cNvPr>
          <p:cNvSpPr>
            <a:spLocks noGrp="1"/>
          </p:cNvSpPr>
          <p:nvPr/>
        </p:nvSpPr>
        <p:spPr>
          <a:xfrm>
            <a:off x="400050" y="552450"/>
            <a:ext cx="10906125" cy="685800"/>
          </a:xfrm>
          <a:prstGeom prst="rect">
            <a:avLst/>
          </a:prstGeom>
          <a:noFill/>
          <a:ln w="0">
            <a:noFill/>
            <a:prstDash val="solid"/>
          </a:ln>
        </p:spPr>
        <p:txBody>
          <a:bodyPr lIns="0" tIns="0" rIns="0" bIns="0" anchor="t">
            <a:normAutofit/>
          </a:bodyPr>
          <a:lstStyle/>
          <a:p>
            <a:pPr algn="l">
              <a:lnSpc>
                <a:spcPct val="105000"/>
              </a:lnSpc>
              <a:buNone/>
              <a:defRPr sz="3150" b="0">
                <a:solidFill>
                  <a:srgbClr val="111111"/>
                </a:solidFill>
                <a:latin typeface="Arial"/>
                <a:ea typeface="Arial"/>
                <a:cs typeface="Arial"/>
              </a:defRPr>
            </a:pPr>
            <a:r>
              <a:rPr sz="3150" b="0">
                <a:solidFill>
                  <a:srgbClr val="111111"/>
                </a:solidFill>
                <a:latin typeface="Arial"/>
                <a:ea typeface="Arial"/>
                <a:cs typeface="Arial"/>
              </a:rPr>
              <a:t>Gemma: compilation helps retrieval; prose wins induction</a:t>
            </a:r>
          </a:p>
        </p:txBody>
      </p:sp>
      <p:sp>
        <p:nvSpPr>
          <p:cNvPr id="3" name="text-dsxdos">
            <a:extLst>
              <a:ext uri="{FF2B5EF4-FFF2-40B4-BE49-F238E27FC236}">
                <a16:creationId xmlns:a16="http://schemas.microsoft.com/office/drawing/2014/main" id="{EEEEDF22-80FD-424A-8F90-8B7D32BD3525}"/>
              </a:ext>
            </a:extLst>
          </p:cNvPr>
          <p:cNvSpPr>
            <a:spLocks noGrp="1"/>
          </p:cNvSpPr>
          <p:nvPr/>
        </p:nvSpPr>
        <p:spPr>
          <a:xfrm>
            <a:off x="11287125" y="6391275"/>
            <a:ext cx="495300" cy="190500"/>
          </a:xfrm>
          <a:prstGeom prst="rect">
            <a:avLst/>
          </a:prstGeom>
          <a:noFill/>
          <a:ln w="0">
            <a:noFill/>
            <a:prstDash val="solid"/>
          </a:ln>
        </p:spPr>
        <p:txBody>
          <a:bodyPr lIns="0" tIns="0" rIns="0" bIns="0" anchor="t">
            <a:normAutofit/>
          </a:bodyPr>
          <a:lstStyle/>
          <a:p>
            <a:pPr algn="r">
              <a:lnSpc>
                <a:spcPct val="105000"/>
              </a:lnSpc>
              <a:buNone/>
              <a:defRPr sz="975" b="0">
                <a:solidFill>
                  <a:srgbClr val="555555"/>
                </a:solidFill>
                <a:latin typeface="Arial"/>
                <a:ea typeface="Arial"/>
                <a:cs typeface="Arial"/>
              </a:defRPr>
            </a:pPr>
            <a:r>
              <a:rPr sz="975" b="0">
                <a:solidFill>
                  <a:srgbClr val="555555"/>
                </a:solidFill>
                <a:latin typeface="Arial"/>
                <a:ea typeface="Arial"/>
                <a:cs typeface="Arial"/>
              </a:rPr>
              <a:t>10</a:t>
            </a:r>
          </a:p>
        </p:txBody>
      </p:sp>
      <p:graphicFrame>
        <p:nvGraphicFramePr>
          <p:cNvPr id="12" name="Table 11"/>
          <p:cNvGraphicFramePr/>
          <p:nvPr/>
        </p:nvGraphicFramePr>
        <p:xfrm>
          <a:off x="400050" y="1790700"/>
          <a:ext cx="7239000" cy="3333750"/>
        </p:xfrm>
        <a:graphic>
          <a:graphicData uri="http://schemas.openxmlformats.org/drawingml/2006/table">
            <a:tbl>
              <a:tblPr/>
              <a:tblGrid>
                <a:gridCol w="2806959">
                  <a:extLst>
                    <a:ext uri="{9D8B030D-6E8A-4147-A177-3AD203B41FA5}">
                      <a16:colId xmlns:a16="http://schemas.microsoft.com/office/drawing/2014/main" val="20000"/>
                    </a:ext>
                  </a:extLst>
                </a:gridCol>
                <a:gridCol w="1477347">
                  <a:extLst>
                    <a:ext uri="{9D8B030D-6E8A-4147-A177-3AD203B41FA5}">
                      <a16:colId xmlns:a16="http://schemas.microsoft.com/office/drawing/2014/main" val="20001"/>
                    </a:ext>
                  </a:extLst>
                </a:gridCol>
                <a:gridCol w="1477347">
                  <a:extLst>
                    <a:ext uri="{9D8B030D-6E8A-4147-A177-3AD203B41FA5}">
                      <a16:colId xmlns:a16="http://schemas.microsoft.com/office/drawing/2014/main" val="20002"/>
                    </a:ext>
                  </a:extLst>
                </a:gridCol>
                <a:gridCol w="1477347">
                  <a:extLst>
                    <a:ext uri="{9D8B030D-6E8A-4147-A177-3AD203B41FA5}">
                      <a16:colId xmlns:a16="http://schemas.microsoft.com/office/drawing/2014/main" val="20003"/>
                    </a:ext>
                  </a:extLst>
                </a:gridCol>
              </a:tblGrid>
              <a:tr h="666750">
                <a:tc>
                  <a:txBody>
                    <a:bodyPr/>
                    <a:lstStyle/>
                    <a:p>
                      <a:pPr algn="l"/>
                      <a:r>
                        <a:rPr sz="1200" b="1">
                          <a:solidFill>
                            <a:srgbClr val="111111"/>
                          </a:solidFill>
                          <a:latin typeface="Arial"/>
                          <a:ea typeface="Arial"/>
                          <a:cs typeface="Arial"/>
                        </a:rPr>
                        <a:t>Target</a:t>
                      </a:r>
                    </a:p>
                  </a:txBody>
                  <a:tcPr>
                    <a:solidFill>
                      <a:srgbClr val="EDEDED"/>
                    </a:solidFill>
                  </a:tcPr>
                </a:tc>
                <a:tc>
                  <a:txBody>
                    <a:bodyPr/>
                    <a:lstStyle/>
                    <a:p>
                      <a:pPr algn="ctr"/>
                      <a:r>
                        <a:rPr sz="1200" b="1">
                          <a:solidFill>
                            <a:srgbClr val="111111"/>
                          </a:solidFill>
                          <a:latin typeface="Arial"/>
                          <a:ea typeface="Arial"/>
                          <a:cs typeface="Arial"/>
                        </a:rPr>
                        <a:t>Setup A</a:t>
                      </a:r>
                    </a:p>
                  </a:txBody>
                  <a:tcPr>
                    <a:solidFill>
                      <a:srgbClr val="EDEDED"/>
                    </a:solidFill>
                  </a:tcPr>
                </a:tc>
                <a:tc>
                  <a:txBody>
                    <a:bodyPr/>
                    <a:lstStyle/>
                    <a:p>
                      <a:pPr algn="ctr"/>
                      <a:r>
                        <a:rPr sz="1200" b="1">
                          <a:solidFill>
                            <a:srgbClr val="111111"/>
                          </a:solidFill>
                          <a:latin typeface="Arial"/>
                          <a:ea typeface="Arial"/>
                          <a:cs typeface="Arial"/>
                        </a:rPr>
                        <a:t>Setup B</a:t>
                      </a:r>
                    </a:p>
                  </a:txBody>
                  <a:tcPr>
                    <a:solidFill>
                      <a:srgbClr val="EDEDED"/>
                    </a:solidFill>
                  </a:tcPr>
                </a:tc>
                <a:tc>
                  <a:txBody>
                    <a:bodyPr/>
                    <a:lstStyle/>
                    <a:p>
                      <a:pPr algn="ctr"/>
                      <a:r>
                        <a:rPr sz="1200" b="1">
                          <a:solidFill>
                            <a:srgbClr val="111111"/>
                          </a:solidFill>
                          <a:latin typeface="Arial"/>
                          <a:ea typeface="Arial"/>
                          <a:cs typeface="Arial"/>
                        </a:rPr>
                        <a:t>Setup C</a:t>
                      </a:r>
                    </a:p>
                  </a:txBody>
                  <a:tcPr>
                    <a:solidFill>
                      <a:srgbClr val="EDEDED"/>
                    </a:solidFill>
                  </a:tcPr>
                </a:tc>
                <a:extLst>
                  <a:ext uri="{0D108BD9-81ED-4DB2-BD59-A6C34878D82A}">
                    <a16:rowId xmlns:a16="http://schemas.microsoft.com/office/drawing/2014/main" val="10000"/>
                  </a:ext>
                </a:extLst>
              </a:tr>
              <a:tr h="666750">
                <a:tc>
                  <a:txBody>
                    <a:bodyPr/>
                    <a:lstStyle/>
                    <a:p>
                      <a:pPr algn="l"/>
                      <a:r>
                        <a:rPr sz="1125" b="0">
                          <a:solidFill>
                            <a:srgbClr val="333333"/>
                          </a:solidFill>
                          <a:latin typeface="Arial"/>
                          <a:ea typeface="Arial"/>
                          <a:cs typeface="Arial"/>
                        </a:rPr>
                        <a:t>Mine E.text[3]</a:t>
                      </a:r>
                    </a:p>
                  </a:txBody>
                  <a:tcPr>
                    <a:solidFill>
                      <a:srgbClr val="FFFFFF"/>
                    </a:solidFill>
                  </a:tcPr>
                </a:tc>
                <a:tc>
                  <a:txBody>
                    <a:bodyPr/>
                    <a:lstStyle/>
                    <a:p>
                      <a:pPr algn="ctr"/>
                      <a:r>
                        <a:rPr sz="1125" b="0">
                          <a:solidFill>
                            <a:srgbClr val="333333"/>
                          </a:solidFill>
                          <a:latin typeface="Arial"/>
                          <a:ea typeface="Arial"/>
                          <a:cs typeface="Arial"/>
                        </a:rPr>
                        <a:t>0.33</a:t>
                      </a:r>
                    </a:p>
                  </a:txBody>
                  <a:tcPr>
                    <a:solidFill>
                      <a:srgbClr val="FFFFFF"/>
                    </a:solidFill>
                  </a:tcPr>
                </a:tc>
                <a:tc>
                  <a:txBody>
                    <a:bodyPr/>
                    <a:lstStyle/>
                    <a:p>
                      <a:pPr algn="ctr"/>
                      <a:r>
                        <a:rPr sz="1125" b="0">
                          <a:solidFill>
                            <a:srgbClr val="333333"/>
                          </a:solidFill>
                          <a:latin typeface="Arial"/>
                          <a:ea typeface="Arial"/>
                          <a:cs typeface="Arial"/>
                        </a:rPr>
                        <a:t>0.72</a:t>
                      </a:r>
                    </a:p>
                  </a:txBody>
                  <a:tcPr>
                    <a:solidFill>
                      <a:srgbClr val="FFFFFF"/>
                    </a:solidFill>
                  </a:tcPr>
                </a:tc>
                <a:tc>
                  <a:txBody>
                    <a:bodyPr/>
                    <a:lstStyle/>
                    <a:p>
                      <a:pPr algn="ctr"/>
                      <a:r>
                        <a:rPr sz="1350" b="1">
                          <a:solidFill>
                            <a:srgbClr val="FF6B35"/>
                          </a:solidFill>
                          <a:latin typeface="Arial"/>
                          <a:ea typeface="Arial"/>
                          <a:cs typeface="Arial"/>
                        </a:rPr>
                        <a:t>1.17</a:t>
                      </a:r>
                    </a:p>
                  </a:txBody>
                  <a:tcPr>
                    <a:solidFill>
                      <a:srgbClr val="FFF0E8"/>
                    </a:solidFill>
                  </a:tcPr>
                </a:tc>
                <a:extLst>
                  <a:ext uri="{0D108BD9-81ED-4DB2-BD59-A6C34878D82A}">
                    <a16:rowId xmlns:a16="http://schemas.microsoft.com/office/drawing/2014/main" val="10001"/>
                  </a:ext>
                </a:extLst>
              </a:tr>
              <a:tr h="666750">
                <a:tc>
                  <a:txBody>
                    <a:bodyPr/>
                    <a:lstStyle/>
                    <a:p>
                      <a:pPr algn="l"/>
                      <a:r>
                        <a:rPr sz="1125" b="0">
                          <a:solidFill>
                            <a:srgbClr val="333333"/>
                          </a:solidFill>
                          <a:latin typeface="Arial"/>
                          <a:ea typeface="Arial"/>
                          <a:cs typeface="Arial"/>
                        </a:rPr>
                        <a:t>E.tab → E.text</a:t>
                      </a:r>
                    </a:p>
                  </a:txBody>
                  <a:tcPr>
                    <a:solidFill>
                      <a:srgbClr val="FFFFFF"/>
                    </a:solidFill>
                  </a:tcPr>
                </a:tc>
                <a:tc>
                  <a:txBody>
                    <a:bodyPr/>
                    <a:lstStyle/>
                    <a:p>
                      <a:pPr algn="ctr"/>
                      <a:r>
                        <a:rPr sz="1125" b="0">
                          <a:solidFill>
                            <a:srgbClr val="333333"/>
                          </a:solidFill>
                          <a:latin typeface="Arial"/>
                          <a:ea typeface="Arial"/>
                          <a:cs typeface="Arial"/>
                        </a:rPr>
                        <a:t>0.92</a:t>
                      </a:r>
                    </a:p>
                  </a:txBody>
                  <a:tcPr>
                    <a:solidFill>
                      <a:srgbClr val="FFFFFF"/>
                    </a:solidFill>
                  </a:tcPr>
                </a:tc>
                <a:tc>
                  <a:txBody>
                    <a:bodyPr/>
                    <a:lstStyle/>
                    <a:p>
                      <a:pPr algn="ctr"/>
                      <a:r>
                        <a:rPr sz="1125" b="0">
                          <a:solidFill>
                            <a:srgbClr val="333333"/>
                          </a:solidFill>
                          <a:latin typeface="Arial"/>
                          <a:ea typeface="Arial"/>
                          <a:cs typeface="Arial"/>
                        </a:rPr>
                        <a:t>0.42</a:t>
                      </a:r>
                    </a:p>
                  </a:txBody>
                  <a:tcPr>
                    <a:solidFill>
                      <a:srgbClr val="FFFFFF"/>
                    </a:solidFill>
                  </a:tcPr>
                </a:tc>
                <a:tc>
                  <a:txBody>
                    <a:bodyPr/>
                    <a:lstStyle/>
                    <a:p>
                      <a:pPr algn="ctr"/>
                      <a:r>
                        <a:rPr sz="1350" b="1">
                          <a:solidFill>
                            <a:srgbClr val="FF6B35"/>
                          </a:solidFill>
                          <a:latin typeface="Arial"/>
                          <a:ea typeface="Arial"/>
                          <a:cs typeface="Arial"/>
                        </a:rPr>
                        <a:t>1.00</a:t>
                      </a:r>
                    </a:p>
                  </a:txBody>
                  <a:tcPr>
                    <a:solidFill>
                      <a:srgbClr val="FFF0E8"/>
                    </a:solidFill>
                  </a:tcPr>
                </a:tc>
                <a:extLst>
                  <a:ext uri="{0D108BD9-81ED-4DB2-BD59-A6C34878D82A}">
                    <a16:rowId xmlns:a16="http://schemas.microsoft.com/office/drawing/2014/main" val="10002"/>
                  </a:ext>
                </a:extLst>
              </a:tr>
              <a:tr h="666750">
                <a:tc>
                  <a:txBody>
                    <a:bodyPr/>
                    <a:lstStyle/>
                    <a:p>
                      <a:pPr algn="l"/>
                      <a:r>
                        <a:rPr sz="1125" b="0">
                          <a:solidFill>
                            <a:srgbClr val="333333"/>
                          </a:solidFill>
                          <a:latin typeface="Arial"/>
                          <a:ea typeface="Arial"/>
                          <a:cs typeface="Arial"/>
                        </a:rPr>
                        <a:t>Induce M</a:t>
                      </a:r>
                    </a:p>
                  </a:txBody>
                  <a:tcPr>
                    <a:solidFill>
                      <a:srgbClr val="FFFFFF"/>
                    </a:solidFill>
                  </a:tcPr>
                </a:tc>
                <a:tc>
                  <a:txBody>
                    <a:bodyPr/>
                    <a:lstStyle/>
                    <a:p>
                      <a:pPr algn="ctr"/>
                      <a:r>
                        <a:rPr sz="1350" b="1">
                          <a:solidFill>
                            <a:srgbClr val="FF6B35"/>
                          </a:solidFill>
                          <a:latin typeface="Arial"/>
                          <a:ea typeface="Arial"/>
                          <a:cs typeface="Arial"/>
                        </a:rPr>
                        <a:t>2.67</a:t>
                      </a:r>
                    </a:p>
                  </a:txBody>
                  <a:tcPr>
                    <a:solidFill>
                      <a:srgbClr val="FFF0E8"/>
                    </a:solidFill>
                  </a:tcPr>
                </a:tc>
                <a:tc>
                  <a:txBody>
                    <a:bodyPr/>
                    <a:lstStyle/>
                    <a:p>
                      <a:pPr algn="ctr"/>
                      <a:r>
                        <a:rPr sz="1125" b="0">
                          <a:solidFill>
                            <a:srgbClr val="333333"/>
                          </a:solidFill>
                          <a:latin typeface="Arial"/>
                          <a:ea typeface="Arial"/>
                          <a:cs typeface="Arial"/>
                        </a:rPr>
                        <a:t>1.17</a:t>
                      </a:r>
                    </a:p>
                  </a:txBody>
                  <a:tcPr>
                    <a:solidFill>
                      <a:srgbClr val="FFFFFF"/>
                    </a:solidFill>
                  </a:tcPr>
                </a:tc>
                <a:tc>
                  <a:txBody>
                    <a:bodyPr/>
                    <a:lstStyle/>
                    <a:p>
                      <a:pPr algn="ctr"/>
                      <a:r>
                        <a:rPr sz="1125" b="0">
                          <a:solidFill>
                            <a:srgbClr val="333333"/>
                          </a:solidFill>
                          <a:latin typeface="Arial"/>
                          <a:ea typeface="Arial"/>
                          <a:cs typeface="Arial"/>
                        </a:rPr>
                        <a:t>2.33</a:t>
                      </a:r>
                    </a:p>
                  </a:txBody>
                  <a:tcPr>
                    <a:solidFill>
                      <a:srgbClr val="FFFFFF"/>
                    </a:solidFill>
                  </a:tcPr>
                </a:tc>
                <a:extLst>
                  <a:ext uri="{0D108BD9-81ED-4DB2-BD59-A6C34878D82A}">
                    <a16:rowId xmlns:a16="http://schemas.microsoft.com/office/drawing/2014/main" val="10003"/>
                  </a:ext>
                </a:extLst>
              </a:tr>
              <a:tr h="666750">
                <a:tc>
                  <a:txBody>
                    <a:bodyPr/>
                    <a:lstStyle/>
                    <a:p>
                      <a:pPr algn="l"/>
                      <a:r>
                        <a:rPr sz="1125" b="0">
                          <a:solidFill>
                            <a:srgbClr val="333333"/>
                          </a:solidFill>
                          <a:latin typeface="Arial"/>
                          <a:ea typeface="Arial"/>
                          <a:cs typeface="Arial"/>
                        </a:rPr>
                        <a:t>Induce T</a:t>
                      </a:r>
                    </a:p>
                  </a:txBody>
                  <a:tcPr>
                    <a:solidFill>
                      <a:srgbClr val="FFFFFF"/>
                    </a:solidFill>
                  </a:tcPr>
                </a:tc>
                <a:tc>
                  <a:txBody>
                    <a:bodyPr/>
                    <a:lstStyle/>
                    <a:p>
                      <a:pPr algn="ctr"/>
                      <a:r>
                        <a:rPr sz="1350" b="1">
                          <a:solidFill>
                            <a:srgbClr val="FF6B35"/>
                          </a:solidFill>
                          <a:latin typeface="Arial"/>
                          <a:ea typeface="Arial"/>
                          <a:cs typeface="Arial"/>
                        </a:rPr>
                        <a:t>3.17</a:t>
                      </a:r>
                    </a:p>
                  </a:txBody>
                  <a:tcPr>
                    <a:solidFill>
                      <a:srgbClr val="FFF0E8"/>
                    </a:solidFill>
                  </a:tcPr>
                </a:tc>
                <a:tc>
                  <a:txBody>
                    <a:bodyPr/>
                    <a:lstStyle/>
                    <a:p>
                      <a:pPr algn="ctr"/>
                      <a:r>
                        <a:rPr sz="1125" b="0">
                          <a:solidFill>
                            <a:srgbClr val="333333"/>
                          </a:solidFill>
                          <a:latin typeface="Arial"/>
                          <a:ea typeface="Arial"/>
                          <a:cs typeface="Arial"/>
                        </a:rPr>
                        <a:t>1.67</a:t>
                      </a:r>
                    </a:p>
                  </a:txBody>
                  <a:tcPr>
                    <a:solidFill>
                      <a:srgbClr val="FFFFFF"/>
                    </a:solidFill>
                  </a:tcPr>
                </a:tc>
                <a:tc>
                  <a:txBody>
                    <a:bodyPr/>
                    <a:lstStyle/>
                    <a:p>
                      <a:pPr algn="ctr"/>
                      <a:r>
                        <a:rPr sz="1125" b="0">
                          <a:solidFill>
                            <a:srgbClr val="333333"/>
                          </a:solidFill>
                          <a:latin typeface="Arial"/>
                          <a:ea typeface="Arial"/>
                          <a:cs typeface="Arial"/>
                        </a:rPr>
                        <a:t>2.33</a:t>
                      </a:r>
                    </a:p>
                  </a:txBody>
                  <a:tcPr>
                    <a:solidFill>
                      <a:srgbClr val="FFFFFF"/>
                    </a:solidFill>
                  </a:tcPr>
                </a:tc>
                <a:extLst>
                  <a:ext uri="{0D108BD9-81ED-4DB2-BD59-A6C34878D82A}">
                    <a16:rowId xmlns:a16="http://schemas.microsoft.com/office/drawing/2014/main" val="10004"/>
                  </a:ext>
                </a:extLst>
              </a:tr>
            </a:tbl>
          </a:graphicData>
        </a:graphic>
      </p:graphicFrame>
      <p:sp>
        <p:nvSpPr>
          <p:cNvPr id="5" name="gemma-callout">
            <a:extLst>
              <a:ext uri="{FF2B5EF4-FFF2-40B4-BE49-F238E27FC236}">
                <a16:creationId xmlns:a16="http://schemas.microsoft.com/office/drawing/2014/main" id="{99B79E38-49F2-420F-8C61-900BB5FE70C2}"/>
              </a:ext>
            </a:extLst>
          </p:cNvPr>
          <p:cNvSpPr>
            <a:spLocks noGrp="1"/>
          </p:cNvSpPr>
          <p:nvPr/>
        </p:nvSpPr>
        <p:spPr>
          <a:xfrm>
            <a:off x="8143875" y="1790700"/>
            <a:ext cx="3476625" cy="3333750"/>
          </a:xfrm>
          <a:prstGeom prst="roundRect">
            <a:avLst>
              <a:gd name="adj" fmla="val 2286"/>
            </a:avLst>
          </a:prstGeom>
          <a:solidFill>
            <a:srgbClr val="F7F7F7"/>
          </a:solidFill>
          <a:ln w="0">
            <a:noFill/>
            <a:prstDash val="solid"/>
          </a:ln>
        </p:spPr>
        <p:txBody>
          <a:bodyPr/>
          <a:lstStyle/>
          <a:p>
            <a:endParaRPr lang="en-US"/>
          </a:p>
        </p:txBody>
      </p:sp>
      <p:sp>
        <p:nvSpPr>
          <p:cNvPr id="6" name="text-0m796l">
            <a:extLst>
              <a:ext uri="{FF2B5EF4-FFF2-40B4-BE49-F238E27FC236}">
                <a16:creationId xmlns:a16="http://schemas.microsoft.com/office/drawing/2014/main" id="{7932B5B7-07F6-4775-86A7-8FE8D7A85B25}"/>
              </a:ext>
            </a:extLst>
          </p:cNvPr>
          <p:cNvSpPr>
            <a:spLocks noGrp="1"/>
          </p:cNvSpPr>
          <p:nvPr/>
        </p:nvSpPr>
        <p:spPr>
          <a:xfrm>
            <a:off x="8429625" y="2076450"/>
            <a:ext cx="2905125" cy="323850"/>
          </a:xfrm>
          <a:prstGeom prst="rect">
            <a:avLst/>
          </a:prstGeom>
          <a:noFill/>
          <a:ln w="0">
            <a:noFill/>
            <a:prstDash val="solid"/>
          </a:ln>
        </p:spPr>
        <p:txBody>
          <a:bodyPr lIns="0" tIns="0" rIns="0" bIns="0" anchor="t">
            <a:normAutofit/>
          </a:bodyPr>
          <a:lstStyle/>
          <a:p>
            <a:pPr algn="l">
              <a:lnSpc>
                <a:spcPct val="105000"/>
              </a:lnSpc>
              <a:buNone/>
              <a:defRPr sz="1950" b="1">
                <a:solidFill>
                  <a:srgbClr val="111111"/>
                </a:solidFill>
                <a:latin typeface="Arial"/>
                <a:ea typeface="Arial"/>
                <a:cs typeface="Arial"/>
              </a:defRPr>
            </a:pPr>
            <a:r>
              <a:rPr sz="1950" b="1">
                <a:solidFill>
                  <a:srgbClr val="111111"/>
                </a:solidFill>
                <a:latin typeface="Arial"/>
                <a:ea typeface="Arial"/>
                <a:cs typeface="Arial"/>
              </a:rPr>
              <a:t>Reading the table</a:t>
            </a:r>
          </a:p>
        </p:txBody>
      </p:sp>
      <p:sp>
        <p:nvSpPr>
          <p:cNvPr id="7" name="text-xcwopk">
            <a:extLst>
              <a:ext uri="{FF2B5EF4-FFF2-40B4-BE49-F238E27FC236}">
                <a16:creationId xmlns:a16="http://schemas.microsoft.com/office/drawing/2014/main" id="{76B83AFF-8644-4F69-A424-C226243FEE62}"/>
              </a:ext>
            </a:extLst>
          </p:cNvPr>
          <p:cNvSpPr>
            <a:spLocks noGrp="1"/>
          </p:cNvSpPr>
          <p:nvPr/>
        </p:nvSpPr>
        <p:spPr>
          <a:xfrm>
            <a:off x="8429625" y="2686050"/>
            <a:ext cx="2905125" cy="1714500"/>
          </a:xfrm>
          <a:prstGeom prst="rect">
            <a:avLst/>
          </a:prstGeom>
          <a:noFill/>
          <a:ln w="0">
            <a:noFill/>
            <a:prstDash val="solid"/>
          </a:ln>
        </p:spPr>
        <p:txBody>
          <a:bodyPr lIns="0" tIns="0" rIns="0" bIns="0" anchor="t">
            <a:normAutofit/>
          </a:bodyPr>
          <a:lstStyle/>
          <a:p>
            <a:pPr marL="18" indent="-12" algn="l">
              <a:lnSpc>
                <a:spcPct val="108000"/>
              </a:lnSpc>
              <a:buNone/>
              <a:defRPr sz="1425" b="0">
                <a:solidFill>
                  <a:srgbClr val="111111"/>
                </a:solidFill>
                <a:latin typeface="Arial"/>
                <a:ea typeface="Arial"/>
                <a:cs typeface="Arial"/>
              </a:defRPr>
            </a:pPr>
            <a:r>
              <a:rPr sz="1425" b="1">
                <a:solidFill>
                  <a:srgbClr val="111111"/>
                </a:solidFill>
                <a:latin typeface="Arial"/>
                <a:ea typeface="Arial"/>
                <a:cs typeface="Arial"/>
              </a:rPr>
              <a:t>C leads retrieval</a:t>
            </a:r>
            <a:r>
              <a:rPr sz="1425" b="0">
                <a:solidFill>
                  <a:srgbClr val="111111"/>
                </a:solidFill>
                <a:latin typeface="Arial"/>
                <a:ea typeface="Arial"/>
                <a:cs typeface="Arial"/>
              </a:rPr>
              <a:t> in both tasks</a:t>
            </a:r>
          </a:p>
          <a:p>
            <a:pPr marL="18" indent="-12" algn="l">
              <a:lnSpc>
                <a:spcPct val="108000"/>
              </a:lnSpc>
              <a:buNone/>
              <a:defRPr sz="1425" b="0">
                <a:solidFill>
                  <a:srgbClr val="111111"/>
                </a:solidFill>
                <a:latin typeface="Arial"/>
                <a:ea typeface="Arial"/>
                <a:cs typeface="Arial"/>
              </a:defRPr>
            </a:pPr>
            <a:r>
              <a:rPr sz="1425" b="1">
                <a:solidFill>
                  <a:srgbClr val="111111"/>
                </a:solidFill>
                <a:latin typeface="Arial"/>
                <a:ea typeface="Arial"/>
                <a:cs typeface="Arial"/>
              </a:rPr>
              <a:t>A leads induction</a:t>
            </a:r>
            <a:r>
              <a:rPr sz="1425" b="0">
                <a:solidFill>
                  <a:srgbClr val="111111"/>
                </a:solidFill>
                <a:latin typeface="Arial"/>
                <a:ea typeface="Arial"/>
                <a:cs typeface="Arial"/>
              </a:rPr>
              <a:t> for M and T</a:t>
            </a:r>
          </a:p>
          <a:p>
            <a:pPr marL="18" indent="-12" algn="l">
              <a:lnSpc>
                <a:spcPct val="108000"/>
              </a:lnSpc>
              <a:buNone/>
              <a:defRPr sz="1425" b="0">
                <a:solidFill>
                  <a:srgbClr val="111111"/>
                </a:solidFill>
                <a:latin typeface="Arial"/>
                <a:ea typeface="Arial"/>
                <a:cs typeface="Arial"/>
              </a:defRPr>
            </a:pPr>
            <a:r>
              <a:rPr sz="1425" b="1">
                <a:solidFill>
                  <a:srgbClr val="111111"/>
                </a:solidFill>
                <a:latin typeface="Arial"/>
                <a:ea typeface="Arial"/>
                <a:cs typeface="Arial"/>
              </a:rPr>
              <a:t>B is not a middle score</a:t>
            </a:r>
            <a:r>
              <a:rPr sz="1425" b="0">
                <a:solidFill>
                  <a:srgbClr val="111111"/>
                </a:solidFill>
                <a:latin typeface="Arial"/>
                <a:ea typeface="Arial"/>
                <a:cs typeface="Arial"/>
              </a:rPr>
              <a:t>—typing alone can hurt</a:t>
            </a:r>
          </a:p>
        </p:txBody>
      </p:sp>
      <p:sp>
        <p:nvSpPr>
          <p:cNvPr id="8" name="text-um1zqr">
            <a:extLst>
              <a:ext uri="{FF2B5EF4-FFF2-40B4-BE49-F238E27FC236}">
                <a16:creationId xmlns:a16="http://schemas.microsoft.com/office/drawing/2014/main" id="{896A84B3-E862-4245-861B-729020440682}"/>
              </a:ext>
            </a:extLst>
          </p:cNvPr>
          <p:cNvSpPr>
            <a:spLocks noGrp="1"/>
          </p:cNvSpPr>
          <p:nvPr/>
        </p:nvSpPr>
        <p:spPr>
          <a:xfrm>
            <a:off x="8429625" y="4686300"/>
            <a:ext cx="2905125" cy="238125"/>
          </a:xfrm>
          <a:prstGeom prst="rect">
            <a:avLst/>
          </a:prstGeom>
          <a:noFill/>
          <a:ln w="0">
            <a:noFill/>
            <a:prstDash val="solid"/>
          </a:ln>
        </p:spPr>
        <p:txBody>
          <a:bodyPr lIns="0" tIns="0" rIns="0" bIns="0" anchor="t">
            <a:normAutofit/>
          </a:bodyPr>
          <a:lstStyle/>
          <a:p>
            <a:pPr algn="l">
              <a:lnSpc>
                <a:spcPct val="105000"/>
              </a:lnSpc>
              <a:buNone/>
              <a:defRPr sz="1200" b="0">
                <a:solidFill>
                  <a:srgbClr val="555555"/>
                </a:solidFill>
                <a:latin typeface="Arial"/>
                <a:ea typeface="Arial"/>
                <a:cs typeface="Arial"/>
              </a:defRPr>
            </a:pPr>
            <a:r>
              <a:rPr sz="1200" b="0">
                <a:solidFill>
                  <a:srgbClr val="555555"/>
                </a:solidFill>
                <a:latin typeface="Arial"/>
                <a:ea typeface="Arial"/>
                <a:cs typeface="Arial"/>
              </a:rPr>
              <a:t>Component-level alignment · 0–5</a:t>
            </a:r>
          </a:p>
        </p:txBody>
      </p:sp>
    </p:spTree>
    <p:extLst>
      <p:ext uri="{BB962C8B-B14F-4D97-AF65-F5344CB8AC3E}">
        <p14:creationId xmlns:p14="http://schemas.microsoft.com/office/powerpoint/2010/main" val="468898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11t1pu">
            <a:extLst>
              <a:ext uri="{FF2B5EF4-FFF2-40B4-BE49-F238E27FC236}">
                <a16:creationId xmlns:a16="http://schemas.microsoft.com/office/drawing/2014/main" id="{3450BCCA-4B86-4B15-9CC9-C97BF1778DA7}"/>
              </a:ext>
            </a:extLst>
          </p:cNvPr>
          <p:cNvSpPr>
            <a:spLocks noGrp="1"/>
          </p:cNvSpPr>
          <p:nvPr/>
        </p:nvSpPr>
        <p:spPr>
          <a:xfrm>
            <a:off x="400050" y="266700"/>
            <a:ext cx="4762500" cy="228600"/>
          </a:xfrm>
          <a:prstGeom prst="rect">
            <a:avLst/>
          </a:prstGeom>
          <a:noFill/>
          <a:ln w="0">
            <a:noFill/>
            <a:prstDash val="solid"/>
          </a:ln>
        </p:spPr>
        <p:txBody>
          <a:bodyPr lIns="0" tIns="0" rIns="0" bIns="0" anchor="t">
            <a:normAutofit/>
          </a:bodyPr>
          <a:lstStyle/>
          <a:p>
            <a:pPr algn="l">
              <a:lnSpc>
                <a:spcPct val="105000"/>
              </a:lnSpc>
              <a:buNone/>
              <a:defRPr sz="1050" b="1">
                <a:solidFill>
                  <a:srgbClr val="FF6B35"/>
                </a:solidFill>
                <a:latin typeface="Arial"/>
                <a:ea typeface="Arial"/>
                <a:cs typeface="Arial"/>
              </a:defRPr>
            </a:pPr>
            <a:r>
              <a:rPr sz="1050" b="1">
                <a:solidFill>
                  <a:srgbClr val="FF6B35"/>
                </a:solidFill>
                <a:latin typeface="Arial"/>
                <a:ea typeface="Arial"/>
                <a:cs typeface="Arial"/>
              </a:rPr>
              <a:t>TEMPERATURE 0</a:t>
            </a:r>
          </a:p>
        </p:txBody>
      </p:sp>
      <p:sp>
        <p:nvSpPr>
          <p:cNvPr id="2" name="slide-title">
            <a:extLst>
              <a:ext uri="{FF2B5EF4-FFF2-40B4-BE49-F238E27FC236}">
                <a16:creationId xmlns:a16="http://schemas.microsoft.com/office/drawing/2014/main" id="{337E2B85-7B79-4DD3-85C0-467CA4CE72FC}"/>
              </a:ext>
            </a:extLst>
          </p:cNvPr>
          <p:cNvSpPr>
            <a:spLocks noGrp="1"/>
          </p:cNvSpPr>
          <p:nvPr/>
        </p:nvSpPr>
        <p:spPr>
          <a:xfrm>
            <a:off x="400050" y="552450"/>
            <a:ext cx="10906125" cy="685800"/>
          </a:xfrm>
          <a:prstGeom prst="rect">
            <a:avLst/>
          </a:prstGeom>
          <a:noFill/>
          <a:ln w="0">
            <a:noFill/>
            <a:prstDash val="solid"/>
          </a:ln>
        </p:spPr>
        <p:txBody>
          <a:bodyPr lIns="0" tIns="0" rIns="0" bIns="0" anchor="t">
            <a:normAutofit/>
          </a:bodyPr>
          <a:lstStyle/>
          <a:p>
            <a:pPr algn="l">
              <a:lnSpc>
                <a:spcPct val="105000"/>
              </a:lnSpc>
              <a:buNone/>
              <a:defRPr sz="3150" b="0">
                <a:solidFill>
                  <a:srgbClr val="111111"/>
                </a:solidFill>
                <a:latin typeface="Arial"/>
                <a:ea typeface="Arial"/>
                <a:cs typeface="Arial"/>
              </a:defRPr>
            </a:pPr>
            <a:r>
              <a:rPr sz="3150" b="0">
                <a:solidFill>
                  <a:srgbClr val="111111"/>
                </a:solidFill>
                <a:latin typeface="Arial"/>
                <a:ea typeface="Arial"/>
                <a:cs typeface="Arial"/>
              </a:rPr>
              <a:t>Mistral: Setup C creates the clearest retrieval gain</a:t>
            </a:r>
          </a:p>
        </p:txBody>
      </p:sp>
      <p:sp>
        <p:nvSpPr>
          <p:cNvPr id="3" name="text-816ftv">
            <a:extLst>
              <a:ext uri="{FF2B5EF4-FFF2-40B4-BE49-F238E27FC236}">
                <a16:creationId xmlns:a16="http://schemas.microsoft.com/office/drawing/2014/main" id="{7CB996E4-F92F-40EE-B6FF-167B23820FDA}"/>
              </a:ext>
            </a:extLst>
          </p:cNvPr>
          <p:cNvSpPr>
            <a:spLocks noGrp="1"/>
          </p:cNvSpPr>
          <p:nvPr/>
        </p:nvSpPr>
        <p:spPr>
          <a:xfrm>
            <a:off x="11287125" y="6391275"/>
            <a:ext cx="495300" cy="190500"/>
          </a:xfrm>
          <a:prstGeom prst="rect">
            <a:avLst/>
          </a:prstGeom>
          <a:noFill/>
          <a:ln w="0">
            <a:noFill/>
            <a:prstDash val="solid"/>
          </a:ln>
        </p:spPr>
        <p:txBody>
          <a:bodyPr lIns="0" tIns="0" rIns="0" bIns="0" anchor="t">
            <a:normAutofit/>
          </a:bodyPr>
          <a:lstStyle/>
          <a:p>
            <a:pPr algn="r">
              <a:lnSpc>
                <a:spcPct val="105000"/>
              </a:lnSpc>
              <a:buNone/>
              <a:defRPr sz="975" b="0">
                <a:solidFill>
                  <a:srgbClr val="555555"/>
                </a:solidFill>
                <a:latin typeface="Arial"/>
                <a:ea typeface="Arial"/>
                <a:cs typeface="Arial"/>
              </a:defRPr>
            </a:pPr>
            <a:r>
              <a:rPr sz="975" b="0">
                <a:solidFill>
                  <a:srgbClr val="555555"/>
                </a:solidFill>
                <a:latin typeface="Arial"/>
                <a:ea typeface="Arial"/>
                <a:cs typeface="Arial"/>
              </a:rPr>
              <a:t>11</a:t>
            </a:r>
          </a:p>
        </p:txBody>
      </p:sp>
      <p:graphicFrame>
        <p:nvGraphicFramePr>
          <p:cNvPr id="11" name="Table 10"/>
          <p:cNvGraphicFramePr/>
          <p:nvPr/>
        </p:nvGraphicFramePr>
        <p:xfrm>
          <a:off x="400050" y="1790700"/>
          <a:ext cx="7239000" cy="3333750"/>
        </p:xfrm>
        <a:graphic>
          <a:graphicData uri="http://schemas.openxmlformats.org/drawingml/2006/table">
            <a:tbl>
              <a:tblPr/>
              <a:tblGrid>
                <a:gridCol w="2806959">
                  <a:extLst>
                    <a:ext uri="{9D8B030D-6E8A-4147-A177-3AD203B41FA5}">
                      <a16:colId xmlns:a16="http://schemas.microsoft.com/office/drawing/2014/main" val="20000"/>
                    </a:ext>
                  </a:extLst>
                </a:gridCol>
                <a:gridCol w="1477347">
                  <a:extLst>
                    <a:ext uri="{9D8B030D-6E8A-4147-A177-3AD203B41FA5}">
                      <a16:colId xmlns:a16="http://schemas.microsoft.com/office/drawing/2014/main" val="20001"/>
                    </a:ext>
                  </a:extLst>
                </a:gridCol>
                <a:gridCol w="1477347">
                  <a:extLst>
                    <a:ext uri="{9D8B030D-6E8A-4147-A177-3AD203B41FA5}">
                      <a16:colId xmlns:a16="http://schemas.microsoft.com/office/drawing/2014/main" val="20002"/>
                    </a:ext>
                  </a:extLst>
                </a:gridCol>
                <a:gridCol w="1477347">
                  <a:extLst>
                    <a:ext uri="{9D8B030D-6E8A-4147-A177-3AD203B41FA5}">
                      <a16:colId xmlns:a16="http://schemas.microsoft.com/office/drawing/2014/main" val="20003"/>
                    </a:ext>
                  </a:extLst>
                </a:gridCol>
              </a:tblGrid>
              <a:tr h="666750">
                <a:tc>
                  <a:txBody>
                    <a:bodyPr/>
                    <a:lstStyle/>
                    <a:p>
                      <a:pPr algn="l"/>
                      <a:r>
                        <a:rPr sz="1200" b="1">
                          <a:solidFill>
                            <a:srgbClr val="111111"/>
                          </a:solidFill>
                          <a:latin typeface="Arial"/>
                          <a:ea typeface="Arial"/>
                          <a:cs typeface="Arial"/>
                        </a:rPr>
                        <a:t>Target</a:t>
                      </a:r>
                    </a:p>
                  </a:txBody>
                  <a:tcPr>
                    <a:solidFill>
                      <a:srgbClr val="EDEDED"/>
                    </a:solidFill>
                  </a:tcPr>
                </a:tc>
                <a:tc>
                  <a:txBody>
                    <a:bodyPr/>
                    <a:lstStyle/>
                    <a:p>
                      <a:pPr algn="ctr"/>
                      <a:r>
                        <a:rPr sz="1200" b="1">
                          <a:solidFill>
                            <a:srgbClr val="111111"/>
                          </a:solidFill>
                          <a:latin typeface="Arial"/>
                          <a:ea typeface="Arial"/>
                          <a:cs typeface="Arial"/>
                        </a:rPr>
                        <a:t>Setup A</a:t>
                      </a:r>
                    </a:p>
                  </a:txBody>
                  <a:tcPr>
                    <a:solidFill>
                      <a:srgbClr val="EDEDED"/>
                    </a:solidFill>
                  </a:tcPr>
                </a:tc>
                <a:tc>
                  <a:txBody>
                    <a:bodyPr/>
                    <a:lstStyle/>
                    <a:p>
                      <a:pPr algn="ctr"/>
                      <a:r>
                        <a:rPr sz="1200" b="1">
                          <a:solidFill>
                            <a:srgbClr val="111111"/>
                          </a:solidFill>
                          <a:latin typeface="Arial"/>
                          <a:ea typeface="Arial"/>
                          <a:cs typeface="Arial"/>
                        </a:rPr>
                        <a:t>Setup B</a:t>
                      </a:r>
                    </a:p>
                  </a:txBody>
                  <a:tcPr>
                    <a:solidFill>
                      <a:srgbClr val="EDEDED"/>
                    </a:solidFill>
                  </a:tcPr>
                </a:tc>
                <a:tc>
                  <a:txBody>
                    <a:bodyPr/>
                    <a:lstStyle/>
                    <a:p>
                      <a:pPr algn="ctr"/>
                      <a:r>
                        <a:rPr sz="1200" b="1">
                          <a:solidFill>
                            <a:srgbClr val="111111"/>
                          </a:solidFill>
                          <a:latin typeface="Arial"/>
                          <a:ea typeface="Arial"/>
                          <a:cs typeface="Arial"/>
                        </a:rPr>
                        <a:t>Setup C</a:t>
                      </a:r>
                    </a:p>
                  </a:txBody>
                  <a:tcPr>
                    <a:solidFill>
                      <a:srgbClr val="EDEDED"/>
                    </a:solidFill>
                  </a:tcPr>
                </a:tc>
                <a:extLst>
                  <a:ext uri="{0D108BD9-81ED-4DB2-BD59-A6C34878D82A}">
                    <a16:rowId xmlns:a16="http://schemas.microsoft.com/office/drawing/2014/main" val="10000"/>
                  </a:ext>
                </a:extLst>
              </a:tr>
              <a:tr h="666750">
                <a:tc>
                  <a:txBody>
                    <a:bodyPr/>
                    <a:lstStyle/>
                    <a:p>
                      <a:pPr algn="l"/>
                      <a:r>
                        <a:rPr sz="1125" b="0">
                          <a:solidFill>
                            <a:srgbClr val="333333"/>
                          </a:solidFill>
                          <a:latin typeface="Arial"/>
                          <a:ea typeface="Arial"/>
                          <a:cs typeface="Arial"/>
                        </a:rPr>
                        <a:t>Mine E.text[3]</a:t>
                      </a:r>
                    </a:p>
                  </a:txBody>
                  <a:tcPr>
                    <a:solidFill>
                      <a:srgbClr val="FFFFFF"/>
                    </a:solidFill>
                  </a:tcPr>
                </a:tc>
                <a:tc>
                  <a:txBody>
                    <a:bodyPr/>
                    <a:lstStyle/>
                    <a:p>
                      <a:pPr algn="ctr"/>
                      <a:r>
                        <a:rPr sz="1125" b="0">
                          <a:solidFill>
                            <a:srgbClr val="333333"/>
                          </a:solidFill>
                          <a:latin typeface="Arial"/>
                          <a:ea typeface="Arial"/>
                          <a:cs typeface="Arial"/>
                        </a:rPr>
                        <a:t>1.06</a:t>
                      </a:r>
                    </a:p>
                  </a:txBody>
                  <a:tcPr>
                    <a:solidFill>
                      <a:srgbClr val="FFFFFF"/>
                    </a:solidFill>
                  </a:tcPr>
                </a:tc>
                <a:tc>
                  <a:txBody>
                    <a:bodyPr/>
                    <a:lstStyle/>
                    <a:p>
                      <a:pPr algn="ctr"/>
                      <a:r>
                        <a:rPr sz="1125" b="0">
                          <a:solidFill>
                            <a:srgbClr val="333333"/>
                          </a:solidFill>
                          <a:latin typeface="Arial"/>
                          <a:ea typeface="Arial"/>
                          <a:cs typeface="Arial"/>
                        </a:rPr>
                        <a:t>0.89</a:t>
                      </a:r>
                    </a:p>
                  </a:txBody>
                  <a:tcPr>
                    <a:solidFill>
                      <a:srgbClr val="FFFFFF"/>
                    </a:solidFill>
                  </a:tcPr>
                </a:tc>
                <a:tc>
                  <a:txBody>
                    <a:bodyPr/>
                    <a:lstStyle/>
                    <a:p>
                      <a:pPr algn="ctr"/>
                      <a:r>
                        <a:rPr sz="1350" b="1">
                          <a:solidFill>
                            <a:srgbClr val="FF6B35"/>
                          </a:solidFill>
                          <a:latin typeface="Arial"/>
                          <a:ea typeface="Arial"/>
                          <a:cs typeface="Arial"/>
                        </a:rPr>
                        <a:t>2.28</a:t>
                      </a:r>
                    </a:p>
                  </a:txBody>
                  <a:tcPr>
                    <a:solidFill>
                      <a:srgbClr val="FFF0E8"/>
                    </a:solidFill>
                  </a:tcPr>
                </a:tc>
                <a:extLst>
                  <a:ext uri="{0D108BD9-81ED-4DB2-BD59-A6C34878D82A}">
                    <a16:rowId xmlns:a16="http://schemas.microsoft.com/office/drawing/2014/main" val="10001"/>
                  </a:ext>
                </a:extLst>
              </a:tr>
              <a:tr h="666750">
                <a:tc>
                  <a:txBody>
                    <a:bodyPr/>
                    <a:lstStyle/>
                    <a:p>
                      <a:pPr algn="l"/>
                      <a:r>
                        <a:rPr sz="1125" b="0">
                          <a:solidFill>
                            <a:srgbClr val="333333"/>
                          </a:solidFill>
                          <a:latin typeface="Arial"/>
                          <a:ea typeface="Arial"/>
                          <a:cs typeface="Arial"/>
                        </a:rPr>
                        <a:t>E.tab → E.text</a:t>
                      </a:r>
                    </a:p>
                  </a:txBody>
                  <a:tcPr>
                    <a:solidFill>
                      <a:srgbClr val="FFFFFF"/>
                    </a:solidFill>
                  </a:tcPr>
                </a:tc>
                <a:tc>
                  <a:txBody>
                    <a:bodyPr/>
                    <a:lstStyle/>
                    <a:p>
                      <a:pPr algn="ctr"/>
                      <a:r>
                        <a:rPr sz="1125" b="0">
                          <a:solidFill>
                            <a:srgbClr val="333333"/>
                          </a:solidFill>
                          <a:latin typeface="Arial"/>
                          <a:ea typeface="Arial"/>
                          <a:cs typeface="Arial"/>
                        </a:rPr>
                        <a:t>0.75</a:t>
                      </a:r>
                    </a:p>
                  </a:txBody>
                  <a:tcPr>
                    <a:solidFill>
                      <a:srgbClr val="FFFFFF"/>
                    </a:solidFill>
                  </a:tcPr>
                </a:tc>
                <a:tc>
                  <a:txBody>
                    <a:bodyPr/>
                    <a:lstStyle/>
                    <a:p>
                      <a:pPr algn="ctr"/>
                      <a:r>
                        <a:rPr sz="1125" b="0">
                          <a:solidFill>
                            <a:srgbClr val="333333"/>
                          </a:solidFill>
                          <a:latin typeface="Arial"/>
                          <a:ea typeface="Arial"/>
                          <a:cs typeface="Arial"/>
                        </a:rPr>
                        <a:t>0.00</a:t>
                      </a:r>
                    </a:p>
                  </a:txBody>
                  <a:tcPr>
                    <a:solidFill>
                      <a:srgbClr val="FFFFFF"/>
                    </a:solidFill>
                  </a:tcPr>
                </a:tc>
                <a:tc>
                  <a:txBody>
                    <a:bodyPr/>
                    <a:lstStyle/>
                    <a:p>
                      <a:pPr algn="ctr"/>
                      <a:r>
                        <a:rPr sz="1350" b="1">
                          <a:solidFill>
                            <a:srgbClr val="FF6B35"/>
                          </a:solidFill>
                          <a:latin typeface="Arial"/>
                          <a:ea typeface="Arial"/>
                          <a:cs typeface="Arial"/>
                        </a:rPr>
                        <a:t>1.75</a:t>
                      </a:r>
                    </a:p>
                  </a:txBody>
                  <a:tcPr>
                    <a:solidFill>
                      <a:srgbClr val="FFF0E8"/>
                    </a:solidFill>
                  </a:tcPr>
                </a:tc>
                <a:extLst>
                  <a:ext uri="{0D108BD9-81ED-4DB2-BD59-A6C34878D82A}">
                    <a16:rowId xmlns:a16="http://schemas.microsoft.com/office/drawing/2014/main" val="10002"/>
                  </a:ext>
                </a:extLst>
              </a:tr>
              <a:tr h="666750">
                <a:tc>
                  <a:txBody>
                    <a:bodyPr/>
                    <a:lstStyle/>
                    <a:p>
                      <a:pPr algn="l"/>
                      <a:r>
                        <a:rPr sz="1125" b="0">
                          <a:solidFill>
                            <a:srgbClr val="333333"/>
                          </a:solidFill>
                          <a:latin typeface="Arial"/>
                          <a:ea typeface="Arial"/>
                          <a:cs typeface="Arial"/>
                        </a:rPr>
                        <a:t>Induce M</a:t>
                      </a:r>
                    </a:p>
                  </a:txBody>
                  <a:tcPr>
                    <a:solidFill>
                      <a:srgbClr val="FFFFFF"/>
                    </a:solidFill>
                  </a:tcPr>
                </a:tc>
                <a:tc>
                  <a:txBody>
                    <a:bodyPr/>
                    <a:lstStyle/>
                    <a:p>
                      <a:pPr algn="ctr"/>
                      <a:r>
                        <a:rPr sz="1350" b="1">
                          <a:solidFill>
                            <a:srgbClr val="FF6B35"/>
                          </a:solidFill>
                          <a:latin typeface="Arial"/>
                          <a:ea typeface="Arial"/>
                          <a:cs typeface="Arial"/>
                        </a:rPr>
                        <a:t>2.67</a:t>
                      </a:r>
                    </a:p>
                  </a:txBody>
                  <a:tcPr>
                    <a:solidFill>
                      <a:srgbClr val="FFF0E8"/>
                    </a:solidFill>
                  </a:tcPr>
                </a:tc>
                <a:tc>
                  <a:txBody>
                    <a:bodyPr/>
                    <a:lstStyle/>
                    <a:p>
                      <a:pPr algn="ctr"/>
                      <a:r>
                        <a:rPr sz="1125" b="0">
                          <a:solidFill>
                            <a:srgbClr val="333333"/>
                          </a:solidFill>
                          <a:latin typeface="Arial"/>
                          <a:ea typeface="Arial"/>
                          <a:cs typeface="Arial"/>
                        </a:rPr>
                        <a:t>2.50</a:t>
                      </a:r>
                    </a:p>
                  </a:txBody>
                  <a:tcPr>
                    <a:solidFill>
                      <a:srgbClr val="FFFFFF"/>
                    </a:solidFill>
                  </a:tcPr>
                </a:tc>
                <a:tc>
                  <a:txBody>
                    <a:bodyPr/>
                    <a:lstStyle/>
                    <a:p>
                      <a:pPr algn="ctr"/>
                      <a:r>
                        <a:rPr sz="1350" b="1">
                          <a:solidFill>
                            <a:srgbClr val="FF6B35"/>
                          </a:solidFill>
                          <a:latin typeface="Arial"/>
                          <a:ea typeface="Arial"/>
                          <a:cs typeface="Arial"/>
                        </a:rPr>
                        <a:t>2.67</a:t>
                      </a:r>
                    </a:p>
                  </a:txBody>
                  <a:tcPr>
                    <a:solidFill>
                      <a:srgbClr val="FFF0E8"/>
                    </a:solidFill>
                  </a:tcPr>
                </a:tc>
                <a:extLst>
                  <a:ext uri="{0D108BD9-81ED-4DB2-BD59-A6C34878D82A}">
                    <a16:rowId xmlns:a16="http://schemas.microsoft.com/office/drawing/2014/main" val="10003"/>
                  </a:ext>
                </a:extLst>
              </a:tr>
              <a:tr h="666750">
                <a:tc>
                  <a:txBody>
                    <a:bodyPr/>
                    <a:lstStyle/>
                    <a:p>
                      <a:pPr algn="l"/>
                      <a:r>
                        <a:rPr sz="1125" b="0">
                          <a:solidFill>
                            <a:srgbClr val="333333"/>
                          </a:solidFill>
                          <a:latin typeface="Arial"/>
                          <a:ea typeface="Arial"/>
                          <a:cs typeface="Arial"/>
                        </a:rPr>
                        <a:t>Induce T</a:t>
                      </a:r>
                    </a:p>
                  </a:txBody>
                  <a:tcPr>
                    <a:solidFill>
                      <a:srgbClr val="FFFFFF"/>
                    </a:solidFill>
                  </a:tcPr>
                </a:tc>
                <a:tc>
                  <a:txBody>
                    <a:bodyPr/>
                    <a:lstStyle/>
                    <a:p>
                      <a:pPr algn="ctr"/>
                      <a:r>
                        <a:rPr sz="1350" b="1">
                          <a:solidFill>
                            <a:srgbClr val="FF6B35"/>
                          </a:solidFill>
                          <a:latin typeface="Arial"/>
                          <a:ea typeface="Arial"/>
                          <a:cs typeface="Arial"/>
                        </a:rPr>
                        <a:t>3.67</a:t>
                      </a:r>
                    </a:p>
                  </a:txBody>
                  <a:tcPr>
                    <a:solidFill>
                      <a:srgbClr val="FFF0E8"/>
                    </a:solidFill>
                  </a:tcPr>
                </a:tc>
                <a:tc>
                  <a:txBody>
                    <a:bodyPr/>
                    <a:lstStyle/>
                    <a:p>
                      <a:pPr algn="ctr"/>
                      <a:r>
                        <a:rPr sz="1125" b="0">
                          <a:solidFill>
                            <a:srgbClr val="333333"/>
                          </a:solidFill>
                          <a:latin typeface="Arial"/>
                          <a:ea typeface="Arial"/>
                          <a:cs typeface="Arial"/>
                        </a:rPr>
                        <a:t>2.33</a:t>
                      </a:r>
                    </a:p>
                  </a:txBody>
                  <a:tcPr>
                    <a:solidFill>
                      <a:srgbClr val="FFFFFF"/>
                    </a:solidFill>
                  </a:tcPr>
                </a:tc>
                <a:tc>
                  <a:txBody>
                    <a:bodyPr/>
                    <a:lstStyle/>
                    <a:p>
                      <a:pPr algn="ctr"/>
                      <a:r>
                        <a:rPr sz="1125" b="0">
                          <a:solidFill>
                            <a:srgbClr val="333333"/>
                          </a:solidFill>
                          <a:latin typeface="Arial"/>
                          <a:ea typeface="Arial"/>
                          <a:cs typeface="Arial"/>
                        </a:rPr>
                        <a:t>2.67</a:t>
                      </a:r>
                    </a:p>
                  </a:txBody>
                  <a:tcPr>
                    <a:solidFill>
                      <a:srgbClr val="FFFFFF"/>
                    </a:solidFill>
                  </a:tcPr>
                </a:tc>
                <a:extLst>
                  <a:ext uri="{0D108BD9-81ED-4DB2-BD59-A6C34878D82A}">
                    <a16:rowId xmlns:a16="http://schemas.microsoft.com/office/drawing/2014/main" val="10004"/>
                  </a:ext>
                </a:extLst>
              </a:tr>
            </a:tbl>
          </a:graphicData>
        </a:graphic>
      </p:graphicFrame>
      <p:sp>
        <p:nvSpPr>
          <p:cNvPr id="5" name="mistral-callout">
            <a:extLst>
              <a:ext uri="{FF2B5EF4-FFF2-40B4-BE49-F238E27FC236}">
                <a16:creationId xmlns:a16="http://schemas.microsoft.com/office/drawing/2014/main" id="{B548CC07-8833-4E5D-8DF9-7BBD58E003D1}"/>
              </a:ext>
            </a:extLst>
          </p:cNvPr>
          <p:cNvSpPr>
            <a:spLocks noGrp="1"/>
          </p:cNvSpPr>
          <p:nvPr/>
        </p:nvSpPr>
        <p:spPr>
          <a:xfrm>
            <a:off x="8143875" y="1790700"/>
            <a:ext cx="3476625" cy="3333750"/>
          </a:xfrm>
          <a:prstGeom prst="roundRect">
            <a:avLst>
              <a:gd name="adj" fmla="val 2286"/>
            </a:avLst>
          </a:prstGeom>
          <a:solidFill>
            <a:srgbClr val="FFF0E8"/>
          </a:solidFill>
          <a:ln w="0">
            <a:noFill/>
            <a:prstDash val="solid"/>
          </a:ln>
        </p:spPr>
        <p:txBody>
          <a:bodyPr/>
          <a:lstStyle/>
          <a:p>
            <a:endParaRPr lang="en-US"/>
          </a:p>
        </p:txBody>
      </p:sp>
      <p:sp>
        <p:nvSpPr>
          <p:cNvPr id="6" name="text-ofrcoo">
            <a:extLst>
              <a:ext uri="{FF2B5EF4-FFF2-40B4-BE49-F238E27FC236}">
                <a16:creationId xmlns:a16="http://schemas.microsoft.com/office/drawing/2014/main" id="{1AB7DACA-6702-4F9D-B7BE-A5504F4C6777}"/>
              </a:ext>
            </a:extLst>
          </p:cNvPr>
          <p:cNvSpPr>
            <a:spLocks noGrp="1"/>
          </p:cNvSpPr>
          <p:nvPr/>
        </p:nvSpPr>
        <p:spPr>
          <a:xfrm>
            <a:off x="8429625" y="2076450"/>
            <a:ext cx="2905125" cy="323850"/>
          </a:xfrm>
          <a:prstGeom prst="rect">
            <a:avLst/>
          </a:prstGeom>
          <a:noFill/>
          <a:ln w="0">
            <a:noFill/>
            <a:prstDash val="solid"/>
          </a:ln>
        </p:spPr>
        <p:txBody>
          <a:bodyPr lIns="0" tIns="0" rIns="0" bIns="0" anchor="t">
            <a:normAutofit/>
          </a:bodyPr>
          <a:lstStyle/>
          <a:p>
            <a:pPr algn="l">
              <a:lnSpc>
                <a:spcPct val="105000"/>
              </a:lnSpc>
              <a:buNone/>
              <a:defRPr sz="1950" b="1">
                <a:solidFill>
                  <a:srgbClr val="FF6B35"/>
                </a:solidFill>
                <a:latin typeface="Arial"/>
                <a:ea typeface="Arial"/>
                <a:cs typeface="Arial"/>
              </a:defRPr>
            </a:pPr>
            <a:r>
              <a:rPr sz="1950" b="1">
                <a:solidFill>
                  <a:srgbClr val="FF6B35"/>
                </a:solidFill>
                <a:latin typeface="Arial"/>
                <a:ea typeface="Arial"/>
                <a:cs typeface="Arial"/>
              </a:rPr>
              <a:t>The sharp contrast</a:t>
            </a:r>
          </a:p>
        </p:txBody>
      </p:sp>
      <p:sp>
        <p:nvSpPr>
          <p:cNvPr id="7" name="text-vgn79z">
            <a:extLst>
              <a:ext uri="{FF2B5EF4-FFF2-40B4-BE49-F238E27FC236}">
                <a16:creationId xmlns:a16="http://schemas.microsoft.com/office/drawing/2014/main" id="{AA5F2FF7-E8F1-4140-AA6A-056E2BB0A7DA}"/>
              </a:ext>
            </a:extLst>
          </p:cNvPr>
          <p:cNvSpPr>
            <a:spLocks noGrp="1"/>
          </p:cNvSpPr>
          <p:nvPr/>
        </p:nvSpPr>
        <p:spPr>
          <a:xfrm>
            <a:off x="8429625" y="2686050"/>
            <a:ext cx="2905125" cy="1905000"/>
          </a:xfrm>
          <a:prstGeom prst="rect">
            <a:avLst/>
          </a:prstGeom>
          <a:noFill/>
          <a:ln w="0">
            <a:noFill/>
            <a:prstDash val="solid"/>
          </a:ln>
        </p:spPr>
        <p:txBody>
          <a:bodyPr lIns="0" tIns="0" rIns="0" bIns="0" anchor="t">
            <a:normAutofit/>
          </a:bodyPr>
          <a:lstStyle/>
          <a:p>
            <a:pPr marL="18" indent="-12" algn="l">
              <a:lnSpc>
                <a:spcPct val="108000"/>
              </a:lnSpc>
              <a:buNone/>
              <a:defRPr sz="1350" b="0">
                <a:solidFill>
                  <a:srgbClr val="111111"/>
                </a:solidFill>
                <a:latin typeface="Arial"/>
                <a:ea typeface="Arial"/>
                <a:cs typeface="Arial"/>
              </a:defRPr>
            </a:pPr>
            <a:r>
              <a:rPr sz="1350" b="1">
                <a:solidFill>
                  <a:srgbClr val="111111"/>
                </a:solidFill>
                <a:latin typeface="Arial"/>
                <a:ea typeface="Arial"/>
                <a:cs typeface="Arial"/>
              </a:rPr>
              <a:t>C roughly doubles</a:t>
            </a:r>
            <a:r>
              <a:rPr sz="1350" b="0">
                <a:solidFill>
                  <a:srgbClr val="111111"/>
                </a:solidFill>
                <a:latin typeface="Arial"/>
                <a:ea typeface="Arial"/>
                <a:cs typeface="Arial"/>
              </a:rPr>
              <a:t> mining alignment vs. A/B</a:t>
            </a:r>
          </a:p>
          <a:p>
            <a:pPr marL="18" indent="-12" algn="l">
              <a:lnSpc>
                <a:spcPct val="108000"/>
              </a:lnSpc>
              <a:buNone/>
              <a:defRPr sz="1350" b="0">
                <a:solidFill>
                  <a:srgbClr val="111111"/>
                </a:solidFill>
                <a:latin typeface="Arial"/>
                <a:ea typeface="Arial"/>
                <a:cs typeface="Arial"/>
              </a:defRPr>
            </a:pPr>
            <a:r>
              <a:rPr sz="1350" b="1">
                <a:solidFill>
                  <a:srgbClr val="111111"/>
                </a:solidFill>
                <a:latin typeface="Arial"/>
                <a:ea typeface="Arial"/>
                <a:cs typeface="Arial"/>
              </a:rPr>
              <a:t>B scores 0</a:t>
            </a:r>
            <a:r>
              <a:rPr sz="1350" b="0">
                <a:solidFill>
                  <a:srgbClr val="111111"/>
                </a:solidFill>
                <a:latin typeface="Arial"/>
                <a:ea typeface="Arial"/>
                <a:cs typeface="Arial"/>
              </a:rPr>
              <a:t> on table→text</a:t>
            </a:r>
          </a:p>
          <a:p>
            <a:pPr marL="18" indent="-12" algn="l">
              <a:lnSpc>
                <a:spcPct val="108000"/>
              </a:lnSpc>
              <a:buNone/>
              <a:defRPr sz="1350" b="0">
                <a:solidFill>
                  <a:srgbClr val="111111"/>
                </a:solidFill>
                <a:latin typeface="Arial"/>
                <a:ea typeface="Arial"/>
                <a:cs typeface="Arial"/>
              </a:defRPr>
            </a:pPr>
            <a:r>
              <a:rPr sz="1350" b="1">
                <a:solidFill>
                  <a:srgbClr val="111111"/>
                </a:solidFill>
                <a:latin typeface="Arial"/>
                <a:ea typeface="Arial"/>
                <a:cs typeface="Arial"/>
              </a:rPr>
              <a:t>Why?</a:t>
            </a:r>
            <a:r>
              <a:rPr sz="1350" b="0">
                <a:solidFill>
                  <a:srgbClr val="111111"/>
                </a:solidFill>
                <a:latin typeface="Arial"/>
                <a:ea typeface="Arial"/>
                <a:cs typeface="Arial"/>
              </a:rPr>
              <a:t> It copies the CSV instead of report text</a:t>
            </a:r>
          </a:p>
          <a:p>
            <a:pPr marL="18" indent="-12" algn="l">
              <a:lnSpc>
                <a:spcPct val="108000"/>
              </a:lnSpc>
              <a:buNone/>
              <a:defRPr sz="1350" b="0">
                <a:solidFill>
                  <a:srgbClr val="111111"/>
                </a:solidFill>
                <a:latin typeface="Arial"/>
                <a:ea typeface="Arial"/>
                <a:cs typeface="Arial"/>
              </a:defRPr>
            </a:pPr>
            <a:r>
              <a:rPr sz="1350" b="1">
                <a:solidFill>
                  <a:srgbClr val="111111"/>
                </a:solidFill>
                <a:latin typeface="Arial"/>
                <a:ea typeface="Arial"/>
                <a:cs typeface="Arial"/>
              </a:rPr>
              <a:t>A still wins T induction</a:t>
            </a:r>
          </a:p>
        </p:txBody>
      </p:sp>
    </p:spTree>
    <p:extLst>
      <p:ext uri="{BB962C8B-B14F-4D97-AF65-F5344CB8AC3E}">
        <p14:creationId xmlns:p14="http://schemas.microsoft.com/office/powerpoint/2010/main" val="1302208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34B4207-D1D2-DD7F-9C63-2637B9E2D404}"/>
              </a:ext>
            </a:extLst>
          </p:cNvPr>
          <p:cNvSpPr>
            <a:spLocks noGrp="1"/>
          </p:cNvSpPr>
          <p:nvPr>
            <p:ph type="subTitle" idx="1"/>
          </p:nvPr>
        </p:nvSpPr>
        <p:spPr>
          <a:xfrm>
            <a:off x="774441" y="1082351"/>
            <a:ext cx="9871787" cy="4556449"/>
          </a:xfrm>
        </p:spPr>
        <p:txBody>
          <a:bodyPr>
            <a:normAutofit lnSpcReduction="10000"/>
          </a:bodyPr>
          <a:lstStyle/>
          <a:p>
            <a:r>
              <a:rPr lang="en-US" dirty="0">
                <a:solidFill>
                  <a:schemeClr val="tx1"/>
                </a:solidFill>
              </a:rPr>
              <a:t>A trajectory shift pattern is a temporal pattern in which an entity changes its direction, speed, or status after a specific time or event. The entity may shift from slow growth to rapid growth, growth to stagnation, growth to decline, decline to recovery, dominance to slowdown, niche activity to momentum, or one technological pathway to another. The pattern requires an explicit before/after structure or a stated turning point; a simple statement that something is growing, declining, dominant, or important is not sufficient.</a:t>
            </a:r>
          </a:p>
        </p:txBody>
      </p:sp>
    </p:spTree>
    <p:extLst>
      <p:ext uri="{BB962C8B-B14F-4D97-AF65-F5344CB8AC3E}">
        <p14:creationId xmlns:p14="http://schemas.microsoft.com/office/powerpoint/2010/main" val="284076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484A7-2FD9-E1AC-B7D8-6ED66F742EA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749FE8A-39E5-E127-3492-83713928C18B}"/>
              </a:ext>
            </a:extLst>
          </p:cNvPr>
          <p:cNvSpPr>
            <a:spLocks noGrp="1"/>
          </p:cNvSpPr>
          <p:nvPr>
            <p:ph type="subTitle" idx="1"/>
          </p:nvPr>
        </p:nvSpPr>
        <p:spPr>
          <a:xfrm>
            <a:off x="1052803" y="786881"/>
            <a:ext cx="10086393" cy="5284237"/>
          </a:xfrm>
        </p:spPr>
        <p:txBody>
          <a:bodyPr>
            <a:normAutofit/>
          </a:bodyPr>
          <a:lstStyle/>
          <a:p>
            <a:r>
              <a:rPr lang="en-US" sz="2800" dirty="0">
                <a:solidFill>
                  <a:schemeClr val="tx1"/>
                </a:solidFill>
              </a:rPr>
              <a:t>A growth divergence pattern is a relational temporal pattern in which two comparable entities move farther apart over a shared time interval. It captures cases where one country, technology, organization, application area, or other category pulls away from another, or where one grows while the other remains flat or declines. The pattern requires a common measure and time interval for both entities, an explicit or implicit comparison between them, and tabular evidence that the difference between their values is larger at the end of the interval than at the beginning. A simple difference in CAGR, rank, final value, or absolute size is not sufficient unless it corresponds to a widening gap between the two time series.</a:t>
            </a:r>
          </a:p>
        </p:txBody>
      </p:sp>
    </p:spTree>
    <p:extLst>
      <p:ext uri="{BB962C8B-B14F-4D97-AF65-F5344CB8AC3E}">
        <p14:creationId xmlns:p14="http://schemas.microsoft.com/office/powerpoint/2010/main" val="2683518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937E-5C25-4178-992A-A5ED4FFEB98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B419CE8-A5FD-47C7-26DB-CBA7FC786DF4}"/>
              </a:ext>
            </a:extLst>
          </p:cNvPr>
          <p:cNvSpPr>
            <a:spLocks noGrp="1"/>
          </p:cNvSpPr>
          <p:nvPr>
            <p:ph type="subTitle" idx="1"/>
          </p:nvPr>
        </p:nvSpPr>
        <p:spPr>
          <a:xfrm>
            <a:off x="1052803" y="786881"/>
            <a:ext cx="10086393" cy="5284237"/>
          </a:xfrm>
        </p:spPr>
        <p:txBody>
          <a:bodyPr>
            <a:normAutofit/>
          </a:bodyPr>
          <a:lstStyle/>
          <a:p>
            <a:r>
              <a:rPr lang="en-US" sz="2800" dirty="0">
                <a:solidFill>
                  <a:schemeClr val="tx1"/>
                </a:solidFill>
              </a:rPr>
              <a:t>Domain experts -&gt; specific frameworks</a:t>
            </a:r>
            <a:br>
              <a:rPr lang="en-US" sz="2800" dirty="0">
                <a:solidFill>
                  <a:schemeClr val="tx1"/>
                </a:solidFill>
              </a:rPr>
            </a:br>
            <a:endParaRPr lang="en-US" sz="2800" dirty="0">
              <a:solidFill>
                <a:schemeClr val="tx1"/>
              </a:solidFill>
            </a:endParaRPr>
          </a:p>
          <a:p>
            <a:r>
              <a:rPr lang="en-US" sz="2800" dirty="0" err="1">
                <a:solidFill>
                  <a:schemeClr val="tx1"/>
                </a:solidFill>
              </a:rPr>
              <a:t>Comparitively</a:t>
            </a:r>
            <a:r>
              <a:rPr lang="en-US" sz="2800" dirty="0">
                <a:solidFill>
                  <a:schemeClr val="tx1"/>
                </a:solidFill>
              </a:rPr>
              <a:t> -&gt; general/versatile framework -&gt; easily adaptable (scarce in field) + LLM for mining</a:t>
            </a:r>
          </a:p>
        </p:txBody>
      </p:sp>
    </p:spTree>
    <p:extLst>
      <p:ext uri="{BB962C8B-B14F-4D97-AF65-F5344CB8AC3E}">
        <p14:creationId xmlns:p14="http://schemas.microsoft.com/office/powerpoint/2010/main" val="2027040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2636</TotalTime>
  <Words>2716</Words>
  <Application>Microsoft Office PowerPoint</Application>
  <PresentationFormat>Widescreen</PresentationFormat>
  <Paragraphs>555</Paragraphs>
  <Slides>22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Alankrit Moses</cp:lastModifiedBy>
  <cp:revision>10</cp:revision>
  <dcterms:created xsi:type="dcterms:W3CDTF">2013-01-27T09:14:16Z</dcterms:created>
  <dcterms:modified xsi:type="dcterms:W3CDTF">2026-07-04T16:39:10Z</dcterms:modified>
  <cp:category/>
</cp:coreProperties>
</file>