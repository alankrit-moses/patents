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Three Setups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The comparison isolates direct prompting, framework-grounded prompting, and framework-inspired agency.</a:t>
            </a:r>
          </a:p>
        </p:txBody>
      </p:sp>
      <p:sp>
        <p:nvSpPr>
          <p:cNvPr id="4" name="Rectangle 3"/>
          <p:cNvSpPr/>
          <p:nvPr/>
        </p:nvSpPr>
        <p:spPr>
          <a:xfrm>
            <a:off x="54864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Setup A: baseline</a:t>
            </a:r>
          </a:p>
          <a:p>
            <a:pPr>
              <a:spcBef>
                <a:spcPts val="200"/>
              </a:spcBef>
              <a:defRPr sz="900">
                <a:solidFill>
                  <a:srgbClr val="232624"/>
                </a:solidFill>
                <a:latin typeface="Aptos"/>
              </a:defRPr>
            </a:pPr>
            <a:r>
              <a:t>Minimal prose prompt.</a:t>
            </a:r>
          </a:p>
          <a:p>
            <a:pPr>
              <a:spcBef>
                <a:spcPts val="200"/>
              </a:spcBef>
              <a:defRPr sz="900">
                <a:solidFill>
                  <a:srgbClr val="232624"/>
                </a:solidFill>
                <a:latin typeface="Aptos"/>
              </a:defRPr>
            </a:pPr>
            <a:r>
              <a:t>One model call.</a:t>
            </a:r>
          </a:p>
          <a:p>
            <a:pPr>
              <a:spcBef>
                <a:spcPts val="200"/>
              </a:spcBef>
              <a:defRPr sz="900">
                <a:solidFill>
                  <a:srgbClr val="232624"/>
                </a:solidFill>
                <a:latin typeface="Aptos"/>
              </a:defRPr>
            </a:pPr>
            <a:r>
              <a:t>No framework notation or decomposition beyond the task statement.</a:t>
            </a:r>
          </a:p>
        </p:txBody>
      </p:sp>
      <p:sp>
        <p:nvSpPr>
          <p:cNvPr id="5" name="Rectangle 4"/>
          <p:cNvSpPr/>
          <p:nvPr/>
        </p:nvSpPr>
        <p:spPr>
          <a:xfrm>
            <a:off x="434340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Setup B: structured prompting</a:t>
            </a:r>
          </a:p>
          <a:p>
            <a:pPr>
              <a:spcBef>
                <a:spcPts val="200"/>
              </a:spcBef>
              <a:defRPr sz="900">
                <a:solidFill>
                  <a:srgbClr val="232624"/>
                </a:solidFill>
                <a:latin typeface="Aptos"/>
              </a:defRPr>
            </a:pPr>
            <a:r>
              <a:t>Framework-grounded single prompt.</a:t>
            </a:r>
          </a:p>
          <a:p>
            <a:pPr>
              <a:spcBef>
                <a:spcPts val="200"/>
              </a:spcBef>
              <a:defRPr sz="900">
                <a:solidFill>
                  <a:srgbClr val="232624"/>
                </a:solidFill>
                <a:latin typeface="Aptos"/>
              </a:defRPr>
            </a:pPr>
            <a:r>
              <a:t>Query-only: model receives the formal query and must infer the task from the framework rules.</a:t>
            </a:r>
          </a:p>
          <a:p>
            <a:pPr>
              <a:spcBef>
                <a:spcPts val="200"/>
              </a:spcBef>
              <a:defRPr sz="900">
                <a:solidFill>
                  <a:srgbClr val="232624"/>
                </a:solidFill>
                <a:latin typeface="Aptos"/>
              </a:defRPr>
            </a:pPr>
            <a:r>
              <a:t>Resolved-task: adds a natural-language resolution of what the query asks for.</a:t>
            </a:r>
          </a:p>
        </p:txBody>
      </p:sp>
      <p:sp>
        <p:nvSpPr>
          <p:cNvPr id="6" name="Rectangle 5"/>
          <p:cNvSpPr/>
          <p:nvPr/>
        </p:nvSpPr>
        <p:spPr>
          <a:xfrm>
            <a:off x="813816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Setup C: agentic</a:t>
            </a:r>
          </a:p>
          <a:p>
            <a:pPr>
              <a:spcBef>
                <a:spcPts val="200"/>
              </a:spcBef>
              <a:defRPr sz="900">
                <a:solidFill>
                  <a:srgbClr val="232624"/>
                </a:solidFill>
                <a:latin typeface="Aptos"/>
              </a:defRPr>
            </a:pPr>
            <a:r>
              <a:t>Framework-inspired orchestration.</a:t>
            </a:r>
          </a:p>
          <a:p>
            <a:pPr>
              <a:spcBef>
                <a:spcPts val="200"/>
              </a:spcBef>
              <a:defRPr sz="900">
                <a:solidFill>
                  <a:srgbClr val="232624"/>
                </a:solidFill>
                <a:latin typeface="Aptos"/>
              </a:defRPr>
            </a:pPr>
            <a:r>
              <a:t>Specialist steps induce or retrieve components.</a:t>
            </a:r>
          </a:p>
          <a:p>
            <a:pPr>
              <a:spcBef>
                <a:spcPts val="200"/>
              </a:spcBef>
              <a:defRPr sz="900">
                <a:solidFill>
                  <a:srgbClr val="232624"/>
                </a:solidFill>
                <a:latin typeface="Aptos"/>
              </a:defRPr>
            </a:pPr>
            <a:r>
              <a:t>E.text search uses extract-from-chunks plus reduce selection over report chunks.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Three Experiments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Each experiment asks for a different missing framework component.</a:t>
            </a:r>
          </a:p>
        </p:txBody>
      </p:sp>
      <p:sp>
        <p:nvSpPr>
          <p:cNvPr id="4" name="Rectangle 3"/>
          <p:cNvSpPr/>
          <p:nvPr/>
        </p:nvSpPr>
        <p:spPr>
          <a:xfrm>
            <a:off x="640080" y="96012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Experiment 1: D:(D.text,_)  P:(M,_,{(?,_)[3]})</a:t>
            </a:r>
          </a:p>
          <a:p>
            <a:pPr>
              <a:spcBef>
                <a:spcPts val="200"/>
              </a:spcBef>
              <a:defRPr sz="900">
                <a:solidFill>
                  <a:srgbClr val="232624"/>
                </a:solidFill>
                <a:latin typeface="Aptos"/>
              </a:defRPr>
            </a:pPr>
            <a:r>
              <a:t>Given a report and a mathematical pattern definition M, retrieve three report excerpts that instantiate the pattern.</a:t>
            </a:r>
          </a:p>
        </p:txBody>
      </p:sp>
      <p:sp>
        <p:nvSpPr>
          <p:cNvPr id="5" name="Rectangle 4"/>
          <p:cNvSpPr/>
          <p:nvPr/>
        </p:nvSpPr>
        <p:spPr>
          <a:xfrm>
            <a:off x="640080" y="269748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Experiment 2: D:(D.text,_)  P:(_,_,{(?,E.tab)})</a:t>
            </a:r>
          </a:p>
          <a:p>
            <a:pPr>
              <a:spcBef>
                <a:spcPts val="200"/>
              </a:spcBef>
              <a:defRPr sz="900">
                <a:solidFill>
                  <a:srgbClr val="232624"/>
                </a:solidFill>
                <a:latin typeface="Aptos"/>
              </a:defRPr>
            </a:pPr>
            <a:r>
              <a:t>Given a report and a compact table, recover the report excerpt that expresses the same evidence as the table.</a:t>
            </a:r>
          </a:p>
        </p:txBody>
      </p:sp>
      <p:sp>
        <p:nvSpPr>
          <p:cNvPr id="6" name="Rectangle 5"/>
          <p:cNvSpPr/>
          <p:nvPr/>
        </p:nvSpPr>
        <p:spPr>
          <a:xfrm>
            <a:off x="640080" y="443484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Experiment 3: D:(_,_)  P:(?,?,{(E1.text,E1.tab),(E2.text,E2.tab),...})</a:t>
            </a:r>
          </a:p>
          <a:p>
            <a:pPr>
              <a:spcBef>
                <a:spcPts val="200"/>
              </a:spcBef>
              <a:defRPr sz="900">
                <a:solidFill>
                  <a:srgbClr val="232624"/>
                </a:solidFill>
                <a:latin typeface="Aptos"/>
              </a:defRPr>
            </a:pPr>
            <a:r>
              <a:t>Given paired text/table examples, induce the general mathematical rule M and natural-language description 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Models Tested</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Gemma and Qwen thinking/mixed runs are intentionally excluded from this deck.</a:t>
            </a:r>
          </a:p>
        </p:txBody>
      </p:sp>
      <p:sp>
        <p:nvSpPr>
          <p:cNvPr id="4" name="TextBox 3"/>
          <p:cNvSpPr txBox="1"/>
          <p:nvPr/>
        </p:nvSpPr>
        <p:spPr>
          <a:xfrm>
            <a:off x="777240" y="1143000"/>
            <a:ext cx="10789920" cy="4297680"/>
          </a:xfrm>
          <a:prstGeom prst="rect">
            <a:avLst/>
          </a:prstGeom>
          <a:noFill/>
        </p:spPr>
        <p:txBody>
          <a:bodyPr wrap="square">
            <a:spAutoFit/>
          </a:bodyPr>
          <a:lstStyle/>
          <a:p>
            <a:pPr>
              <a:spcAft>
                <a:spcPts val="700"/>
              </a:spcAft>
              <a:defRPr sz="1500">
                <a:solidFill>
                  <a:srgbClr val="232624"/>
                </a:solidFill>
                <a:latin typeface="Aptos"/>
              </a:defRPr>
            </a:pPr>
            <a:r>
              <a:t>gpt-4.1: strongest direct baseline and the judge model used for evaluation.</a:t>
            </a:r>
          </a:p>
          <a:p>
            <a:pPr>
              <a:spcAft>
                <a:spcPts val="700"/>
              </a:spcAft>
              <a:defRPr sz="1500">
                <a:solidFill>
                  <a:srgbClr val="232624"/>
                </a:solidFill>
                <a:latin typeface="Aptos"/>
              </a:defRPr>
            </a:pPr>
            <a:r>
              <a:t>gpt-oss-high: OpenRouter gpt-oss-120b with high reasoning effort.</a:t>
            </a:r>
          </a:p>
          <a:p>
            <a:pPr>
              <a:spcAft>
                <a:spcPts val="700"/>
              </a:spcAft>
              <a:defRPr sz="1500">
                <a:solidFill>
                  <a:srgbClr val="232624"/>
                </a:solidFill>
                <a:latin typeface="Aptos"/>
              </a:defRPr>
            </a:pPr>
            <a:r>
              <a:t>gpt-oss-medium: OpenRouter gpt-oss-120b with medium reasoning effort.</a:t>
            </a:r>
          </a:p>
          <a:p>
            <a:pPr>
              <a:spcAft>
                <a:spcPts val="700"/>
              </a:spcAft>
              <a:defRPr sz="1500">
                <a:solidFill>
                  <a:srgbClr val="232624"/>
                </a:solidFill>
                <a:latin typeface="Aptos"/>
              </a:defRPr>
            </a:pPr>
            <a:r>
              <a:t>qwen3-32B non-reasoning: OpenRouter Qwen with reasoning disabled and providers pinned.</a:t>
            </a:r>
          </a:p>
          <a:p>
            <a:pPr>
              <a:spcAft>
                <a:spcPts val="700"/>
              </a:spcAft>
              <a:defRPr sz="1500">
                <a:solidFill>
                  <a:srgbClr val="232624"/>
                </a:solidFill>
                <a:latin typeface="Aptos"/>
              </a:defRPr>
            </a:pPr>
            <a:r>
              <a:t>llama3-70B: Llama 3.3 70B comparison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Pattern 1 Results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Robustness means; highlighted cells are setup winners within each model and experiment.</a:t>
            </a:r>
          </a:p>
        </p:txBody>
      </p:sp>
      <p:sp>
        <p:nvSpPr>
          <p:cNvPr id="4" name="TextBox 3"/>
          <p:cNvSpPr txBox="1"/>
          <p:nvPr/>
        </p:nvSpPr>
        <p:spPr>
          <a:xfrm>
            <a:off x="411480" y="1051560"/>
            <a:ext cx="3337560" cy="201168"/>
          </a:xfrm>
          <a:prstGeom prst="rect">
            <a:avLst/>
          </a:prstGeom>
          <a:noFill/>
        </p:spPr>
        <p:txBody>
          <a:bodyPr wrap="none">
            <a:spAutoFit/>
          </a:bodyPr>
          <a:lstStyle/>
          <a:p>
            <a:pPr>
              <a:defRPr sz="900" b="1">
                <a:solidFill>
                  <a:srgbClr val="184E4B"/>
                </a:solidFill>
                <a:latin typeface="Aptos"/>
              </a:defRPr>
            </a:pPr>
            <a:r>
              <a:t>gpt-4.1</a:t>
            </a:r>
          </a:p>
        </p:txBody>
      </p:sp>
      <p:graphicFrame>
        <p:nvGraphicFramePr>
          <p:cNvPr id="5" name="Table 4"/>
          <p:cNvGraphicFramePr>
            <a:graphicFrameLocks noGrp="1"/>
          </p:cNvGraphicFramePr>
          <p:nvPr/>
        </p:nvGraphicFramePr>
        <p:xfrm>
          <a:off x="41148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3.56</a:t>
                      </a:r>
                    </a:p>
                  </a:txBody>
                  <a:tcPr marL="18288" marR="18288" marT="9144" marB="9144">
                    <a:solidFill>
                      <a:srgbClr val="FFFFFC"/>
                    </a:solidFill>
                  </a:tcPr>
                </a:tc>
                <a:tc>
                  <a:txBody>
                    <a:bodyPr/>
                    <a:lstStyle/>
                    <a:p>
                      <a:pPr algn="ctr">
                        <a:defRPr sz="620" b="0">
                          <a:solidFill>
                            <a:srgbClr val="232624"/>
                          </a:solidFill>
                          <a:latin typeface="Aptos"/>
                        </a:defRPr>
                      </a:pPr>
                      <a:r>
                        <a:t>3.50</a:t>
                      </a:r>
                    </a:p>
                  </a:txBody>
                  <a:tcPr marL="18288" marR="18288" marT="9144" marB="9144">
                    <a:solidFill>
                      <a:srgbClr val="FFFFFC"/>
                    </a:solidFill>
                  </a:tcPr>
                </a:tc>
                <a:tc>
                  <a:txBody>
                    <a:bodyPr/>
                    <a:lstStyle/>
                    <a:p>
                      <a:pPr algn="ctr">
                        <a:defRPr sz="620" b="0">
                          <a:solidFill>
                            <a:srgbClr val="232624"/>
                          </a:solidFill>
                          <a:latin typeface="Aptos"/>
                        </a:defRPr>
                      </a:pPr>
                      <a:r>
                        <a:t>2.78</a:t>
                      </a:r>
                    </a:p>
                  </a:txBody>
                  <a:tcPr marL="18288" marR="18288" marT="9144" marB="9144">
                    <a:solidFill>
                      <a:srgbClr val="FFFFFC"/>
                    </a:solidFill>
                  </a:tcPr>
                </a:tc>
                <a:tc>
                  <a:txBody>
                    <a:bodyPr/>
                    <a:lstStyle/>
                    <a:p>
                      <a:pPr algn="ctr">
                        <a:defRPr sz="620" b="0">
                          <a:solidFill>
                            <a:srgbClr val="232624"/>
                          </a:solidFill>
                          <a:latin typeface="Aptos"/>
                        </a:defRPr>
                      </a:pPr>
                      <a:r>
                        <a:t>3.67</a:t>
                      </a:r>
                    </a:p>
                  </a:txBody>
                  <a:tcPr marL="18288" marR="18288" marT="9144" marB="9144">
                    <a:solidFill>
                      <a:srgbClr val="FFFFFC"/>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3.48</a:t>
                      </a:r>
                    </a:p>
                  </a:txBody>
                  <a:tcPr marL="18288" marR="18288" marT="9144" marB="9144">
                    <a:solidFill>
                      <a:srgbClr val="FFFFFC"/>
                    </a:solidFill>
                  </a:tcPr>
                </a:tc>
                <a:tc>
                  <a:txBody>
                    <a:bodyPr/>
                    <a:lstStyle/>
                    <a:p>
                      <a:pPr algn="ctr">
                        <a:defRPr sz="620" b="0">
                          <a:solidFill>
                            <a:srgbClr val="232624"/>
                          </a:solidFill>
                          <a:latin typeface="Aptos"/>
                        </a:defRPr>
                      </a:pPr>
                      <a:r>
                        <a:t>3.28</a:t>
                      </a:r>
                    </a:p>
                  </a:txBody>
                  <a:tcPr marL="18288" marR="18288" marT="9144" marB="9144">
                    <a:solidFill>
                      <a:srgbClr val="FFFFFC"/>
                    </a:solidFill>
                  </a:tcPr>
                </a:tc>
                <a:tc>
                  <a:txBody>
                    <a:bodyPr/>
                    <a:lstStyle/>
                    <a:p>
                      <a:pPr algn="ctr">
                        <a:defRPr sz="620" b="0">
                          <a:solidFill>
                            <a:srgbClr val="232624"/>
                          </a:solidFill>
                          <a:latin typeface="Aptos"/>
                        </a:defRPr>
                      </a:pPr>
                      <a:r>
                        <a:t>1.00</a:t>
                      </a:r>
                    </a:p>
                  </a:txBody>
                  <a:tcPr marL="18288" marR="18288" marT="9144" marB="9144">
                    <a:solidFill>
                      <a:srgbClr val="FFFFFC"/>
                    </a:solidFill>
                  </a:tcPr>
                </a:tc>
                <a:tc>
                  <a:txBody>
                    <a:bodyPr/>
                    <a:lstStyle/>
                    <a:p>
                      <a:pPr algn="ctr">
                        <a:defRPr sz="620" b="0">
                          <a:solidFill>
                            <a:srgbClr val="232624"/>
                          </a:solidFill>
                          <a:latin typeface="Aptos"/>
                        </a:defRPr>
                      </a:pPr>
                      <a:r>
                        <a:t>1.56</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3.48</a:t>
                      </a:r>
                    </a:p>
                  </a:txBody>
                  <a:tcPr marL="18288" marR="18288" marT="9144" marB="9144">
                    <a:solidFill>
                      <a:srgbClr val="FFFFFC"/>
                    </a:solidFill>
                  </a:tcPr>
                </a:tc>
                <a:tc>
                  <a:txBody>
                    <a:bodyPr/>
                    <a:lstStyle/>
                    <a:p>
                      <a:pPr algn="ctr">
                        <a:defRPr sz="620" b="0">
                          <a:solidFill>
                            <a:srgbClr val="232624"/>
                          </a:solidFill>
                          <a:latin typeface="Aptos"/>
                        </a:defRPr>
                      </a:pPr>
                      <a:r>
                        <a:t>3.17</a:t>
                      </a:r>
                    </a:p>
                  </a:txBody>
                  <a:tcPr marL="18288" marR="18288" marT="9144" marB="9144">
                    <a:solidFill>
                      <a:srgbClr val="FFFFFC"/>
                    </a:solidFill>
                  </a:tcPr>
                </a:tc>
                <a:tc>
                  <a:txBody>
                    <a:bodyPr/>
                    <a:lstStyle/>
                    <a:p>
                      <a:pPr algn="ctr">
                        <a:defRPr sz="620" b="0">
                          <a:solidFill>
                            <a:srgbClr val="232624"/>
                          </a:solidFill>
                          <a:latin typeface="Aptos"/>
                        </a:defRPr>
                      </a:pPr>
                      <a:r>
                        <a:t>2.33</a:t>
                      </a:r>
                    </a:p>
                  </a:txBody>
                  <a:tcPr marL="18288" marR="18288" marT="9144" marB="9144">
                    <a:solidFill>
                      <a:srgbClr val="FFFFFC"/>
                    </a:solidFill>
                  </a:tcPr>
                </a:tc>
                <a:tc>
                  <a:txBody>
                    <a:bodyPr/>
                    <a:lstStyle/>
                    <a:p>
                      <a:pPr algn="ctr">
                        <a:defRPr sz="620" b="0">
                          <a:solidFill>
                            <a:srgbClr val="232624"/>
                          </a:solidFill>
                          <a:latin typeface="Aptos"/>
                        </a:defRPr>
                      </a:pPr>
                      <a:r>
                        <a:t>2.78</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3.89</a:t>
                      </a:r>
                    </a:p>
                  </a:txBody>
                  <a:tcPr marL="18288" marR="18288" marT="9144" marB="9144">
                    <a:solidFill>
                      <a:srgbClr val="DEEFB1"/>
                    </a:solidFill>
                  </a:tcPr>
                </a:tc>
                <a:tc>
                  <a:txBody>
                    <a:bodyPr/>
                    <a:lstStyle/>
                    <a:p>
                      <a:pPr algn="ctr">
                        <a:defRPr sz="620" b="1">
                          <a:solidFill>
                            <a:srgbClr val="232624"/>
                          </a:solidFill>
                          <a:latin typeface="Aptos"/>
                        </a:defRPr>
                      </a:pPr>
                      <a:r>
                        <a:t>3.67</a:t>
                      </a:r>
                    </a:p>
                  </a:txBody>
                  <a:tcPr marL="18288" marR="18288" marT="9144" marB="9144">
                    <a:solidFill>
                      <a:srgbClr val="DEEFB1"/>
                    </a:solidFill>
                  </a:tcPr>
                </a:tc>
                <a:tc>
                  <a:txBody>
                    <a:bodyPr/>
                    <a:lstStyle/>
                    <a:p>
                      <a:pPr algn="ctr">
                        <a:defRPr sz="620" b="1">
                          <a:solidFill>
                            <a:srgbClr val="232624"/>
                          </a:solidFill>
                          <a:latin typeface="Aptos"/>
                        </a:defRPr>
                      </a:pPr>
                      <a:r>
                        <a:t>3.00</a:t>
                      </a:r>
                    </a:p>
                  </a:txBody>
                  <a:tcPr marL="18288" marR="18288" marT="9144" marB="9144">
                    <a:solidFill>
                      <a:srgbClr val="DEEFB1"/>
                    </a:solidFill>
                  </a:tcPr>
                </a:tc>
                <a:tc>
                  <a:txBody>
                    <a:bodyPr/>
                    <a:lstStyle/>
                    <a:p>
                      <a:pPr algn="ctr">
                        <a:defRPr sz="620" b="1">
                          <a:solidFill>
                            <a:srgbClr val="232624"/>
                          </a:solidFill>
                          <a:latin typeface="Aptos"/>
                        </a:defRPr>
                      </a:pPr>
                      <a:r>
                        <a:t>3.78</a:t>
                      </a:r>
                    </a:p>
                  </a:txBody>
                  <a:tcPr marL="18288" marR="18288" marT="9144" marB="9144">
                    <a:solidFill>
                      <a:srgbClr val="DEEFB1"/>
                    </a:solidFill>
                  </a:tcPr>
                </a:tc>
              </a:tr>
            </a:tbl>
          </a:graphicData>
        </a:graphic>
      </p:graphicFrame>
      <p:sp>
        <p:nvSpPr>
          <p:cNvPr id="6" name="TextBox 5"/>
          <p:cNvSpPr txBox="1"/>
          <p:nvPr/>
        </p:nvSpPr>
        <p:spPr>
          <a:xfrm>
            <a:off x="4343400" y="1051560"/>
            <a:ext cx="3337560" cy="201168"/>
          </a:xfrm>
          <a:prstGeom prst="rect">
            <a:avLst/>
          </a:prstGeom>
          <a:noFill/>
        </p:spPr>
        <p:txBody>
          <a:bodyPr wrap="none">
            <a:spAutoFit/>
          </a:bodyPr>
          <a:lstStyle/>
          <a:p>
            <a:pPr>
              <a:defRPr sz="900" b="1">
                <a:solidFill>
                  <a:srgbClr val="184E4B"/>
                </a:solidFill>
                <a:latin typeface="Aptos"/>
              </a:defRPr>
            </a:pPr>
            <a:r>
              <a:t>gpt-oss-high</a:t>
            </a:r>
          </a:p>
        </p:txBody>
      </p:sp>
      <p:graphicFrame>
        <p:nvGraphicFramePr>
          <p:cNvPr id="7" name="Table 6"/>
          <p:cNvGraphicFramePr>
            <a:graphicFrameLocks noGrp="1"/>
          </p:cNvGraphicFramePr>
          <p:nvPr/>
        </p:nvGraphicFramePr>
        <p:xfrm>
          <a:off x="434340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3.00</a:t>
                      </a:r>
                    </a:p>
                  </a:txBody>
                  <a:tcPr marL="18288" marR="18288" marT="9144" marB="9144">
                    <a:solidFill>
                      <a:srgbClr val="FFFFFC"/>
                    </a:solidFill>
                  </a:tcPr>
                </a:tc>
                <a:tc>
                  <a:txBody>
                    <a:bodyPr/>
                    <a:lstStyle/>
                    <a:p>
                      <a:pPr algn="ctr">
                        <a:defRPr sz="620" b="1">
                          <a:solidFill>
                            <a:srgbClr val="232624"/>
                          </a:solidFill>
                          <a:latin typeface="Aptos"/>
                        </a:defRPr>
                      </a:pPr>
                      <a:r>
                        <a:t>3.00</a:t>
                      </a:r>
                    </a:p>
                  </a:txBody>
                  <a:tcPr marL="18288" marR="18288" marT="9144" marB="9144">
                    <a:solidFill>
                      <a:srgbClr val="DEEFB1"/>
                    </a:solidFill>
                  </a:tcPr>
                </a:tc>
                <a:tc>
                  <a:txBody>
                    <a:bodyPr/>
                    <a:lstStyle/>
                    <a:p>
                      <a:pPr algn="ctr">
                        <a:defRPr sz="620" b="0">
                          <a:solidFill>
                            <a:srgbClr val="232624"/>
                          </a:solidFill>
                          <a:latin typeface="Aptos"/>
                        </a:defRPr>
                      </a:pPr>
                      <a:r>
                        <a:t>1.78</a:t>
                      </a:r>
                    </a:p>
                  </a:txBody>
                  <a:tcPr marL="18288" marR="18288" marT="9144" marB="9144">
                    <a:solidFill>
                      <a:srgbClr val="FFFFFC"/>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2.93</a:t>
                      </a:r>
                    </a:p>
                  </a:txBody>
                  <a:tcPr marL="18288" marR="18288" marT="9144" marB="9144">
                    <a:solidFill>
                      <a:srgbClr val="FFFFFC"/>
                    </a:solidFill>
                  </a:tcPr>
                </a:tc>
                <a:tc>
                  <a:txBody>
                    <a:bodyPr/>
                    <a:lstStyle/>
                    <a:p>
                      <a:pPr algn="ctr">
                        <a:defRPr sz="620" b="0">
                          <a:solidFill>
                            <a:srgbClr val="232624"/>
                          </a:solidFill>
                          <a:latin typeface="Aptos"/>
                        </a:defRPr>
                      </a:pPr>
                      <a:r>
                        <a:t>2.89</a:t>
                      </a:r>
                    </a:p>
                  </a:txBody>
                  <a:tcPr marL="18288" marR="18288" marT="9144" marB="9144">
                    <a:solidFill>
                      <a:srgbClr val="FFFFFC"/>
                    </a:solidFill>
                  </a:tcPr>
                </a:tc>
                <a:tc>
                  <a:txBody>
                    <a:bodyPr/>
                    <a:lstStyle/>
                    <a:p>
                      <a:pPr algn="ctr">
                        <a:defRPr sz="620" b="0">
                          <a:solidFill>
                            <a:srgbClr val="232624"/>
                          </a:solidFill>
                          <a:latin typeface="Aptos"/>
                        </a:defRPr>
                      </a:pPr>
                      <a:r>
                        <a:t>1.89</a:t>
                      </a:r>
                    </a:p>
                  </a:txBody>
                  <a:tcPr marL="18288" marR="18288" marT="9144" marB="9144">
                    <a:solidFill>
                      <a:srgbClr val="FFFFFC"/>
                    </a:solidFill>
                  </a:tcPr>
                </a:tc>
                <a:tc>
                  <a:txBody>
                    <a:bodyPr/>
                    <a:lstStyle/>
                    <a:p>
                      <a:pPr algn="ctr">
                        <a:defRPr sz="620" b="0">
                          <a:solidFill>
                            <a:srgbClr val="232624"/>
                          </a:solidFill>
                          <a:latin typeface="Aptos"/>
                        </a:defRPr>
                      </a:pPr>
                      <a:r>
                        <a:t>2.56</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2.89</a:t>
                      </a:r>
                    </a:p>
                  </a:txBody>
                  <a:tcPr marL="18288" marR="18288" marT="9144" marB="9144">
                    <a:solidFill>
                      <a:srgbClr val="FFFFFC"/>
                    </a:solidFill>
                  </a:tcPr>
                </a:tc>
                <a:tc>
                  <a:txBody>
                    <a:bodyPr/>
                    <a:lstStyle/>
                    <a:p>
                      <a:pPr algn="ctr">
                        <a:defRPr sz="620" b="0">
                          <a:solidFill>
                            <a:srgbClr val="232624"/>
                          </a:solidFill>
                          <a:latin typeface="Aptos"/>
                        </a:defRPr>
                      </a:pPr>
                      <a:r>
                        <a:t>2.89</a:t>
                      </a:r>
                    </a:p>
                  </a:txBody>
                  <a:tcPr marL="18288" marR="18288" marT="9144" marB="9144">
                    <a:solidFill>
                      <a:srgbClr val="FFFFFC"/>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c>
                  <a:txBody>
                    <a:bodyPr/>
                    <a:lstStyle/>
                    <a:p>
                      <a:pPr algn="ctr">
                        <a:defRPr sz="620" b="0">
                          <a:solidFill>
                            <a:srgbClr val="232624"/>
                          </a:solidFill>
                          <a:latin typeface="Aptos"/>
                        </a:defRPr>
                      </a:pPr>
                      <a:r>
                        <a:t>2.22</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3.37</a:t>
                      </a:r>
                    </a:p>
                  </a:txBody>
                  <a:tcPr marL="18288" marR="18288" marT="9144" marB="9144">
                    <a:solidFill>
                      <a:srgbClr val="DEEFB1"/>
                    </a:solidFill>
                  </a:tcPr>
                </a:tc>
                <a:tc>
                  <a:txBody>
                    <a:bodyPr/>
                    <a:lstStyle/>
                    <a:p>
                      <a:pPr algn="ctr">
                        <a:defRPr sz="620" b="0">
                          <a:solidFill>
                            <a:srgbClr val="232624"/>
                          </a:solidFill>
                          <a:latin typeface="Aptos"/>
                        </a:defRPr>
                      </a:pPr>
                      <a:r>
                        <a:t>2.83</a:t>
                      </a:r>
                    </a:p>
                  </a:txBody>
                  <a:tcPr marL="18288" marR="18288" marT="9144" marB="9144">
                    <a:solidFill>
                      <a:srgbClr val="FFFFFC"/>
                    </a:solidFill>
                  </a:tcPr>
                </a:tc>
                <a:tc>
                  <a:txBody>
                    <a:bodyPr/>
                    <a:lstStyle/>
                    <a:p>
                      <a:pPr algn="ctr">
                        <a:defRPr sz="620" b="1">
                          <a:solidFill>
                            <a:srgbClr val="232624"/>
                          </a:solidFill>
                          <a:latin typeface="Aptos"/>
                        </a:defRPr>
                      </a:pPr>
                      <a:r>
                        <a:t>2.89</a:t>
                      </a:r>
                    </a:p>
                  </a:txBody>
                  <a:tcPr marL="18288" marR="18288" marT="9144" marB="9144">
                    <a:solidFill>
                      <a:srgbClr val="DEEFB1"/>
                    </a:solidFill>
                  </a:tcPr>
                </a:tc>
                <a:tc>
                  <a:txBody>
                    <a:bodyPr/>
                    <a:lstStyle/>
                    <a:p>
                      <a:pPr algn="ctr">
                        <a:defRPr sz="620" b="1">
                          <a:solidFill>
                            <a:srgbClr val="232624"/>
                          </a:solidFill>
                          <a:latin typeface="Aptos"/>
                        </a:defRPr>
                      </a:pPr>
                      <a:r>
                        <a:t>3.22</a:t>
                      </a:r>
                    </a:p>
                  </a:txBody>
                  <a:tcPr marL="18288" marR="18288" marT="9144" marB="9144">
                    <a:solidFill>
                      <a:srgbClr val="DEEFB1"/>
                    </a:solidFill>
                  </a:tcPr>
                </a:tc>
              </a:tr>
            </a:tbl>
          </a:graphicData>
        </a:graphic>
      </p:graphicFrame>
      <p:sp>
        <p:nvSpPr>
          <p:cNvPr id="8" name="TextBox 7"/>
          <p:cNvSpPr txBox="1"/>
          <p:nvPr/>
        </p:nvSpPr>
        <p:spPr>
          <a:xfrm>
            <a:off x="8275320" y="1051560"/>
            <a:ext cx="3337560" cy="201168"/>
          </a:xfrm>
          <a:prstGeom prst="rect">
            <a:avLst/>
          </a:prstGeom>
          <a:noFill/>
        </p:spPr>
        <p:txBody>
          <a:bodyPr wrap="none">
            <a:spAutoFit/>
          </a:bodyPr>
          <a:lstStyle/>
          <a:p>
            <a:pPr>
              <a:defRPr sz="900" b="1">
                <a:solidFill>
                  <a:srgbClr val="184E4B"/>
                </a:solidFill>
                <a:latin typeface="Aptos"/>
              </a:defRPr>
            </a:pPr>
            <a:r>
              <a:t>gpt-oss-medium</a:t>
            </a:r>
          </a:p>
        </p:txBody>
      </p:sp>
      <p:graphicFrame>
        <p:nvGraphicFramePr>
          <p:cNvPr id="9" name="Table 8"/>
          <p:cNvGraphicFramePr>
            <a:graphicFrameLocks noGrp="1"/>
          </p:cNvGraphicFramePr>
          <p:nvPr/>
        </p:nvGraphicFramePr>
        <p:xfrm>
          <a:off x="827532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2.93</a:t>
                      </a:r>
                    </a:p>
                  </a:txBody>
                  <a:tcPr marL="18288" marR="18288" marT="9144" marB="9144">
                    <a:solidFill>
                      <a:srgbClr val="FFFFFC"/>
                    </a:solidFill>
                  </a:tcPr>
                </a:tc>
                <a:tc>
                  <a:txBody>
                    <a:bodyPr/>
                    <a:lstStyle/>
                    <a:p>
                      <a:pPr algn="ctr">
                        <a:defRPr sz="620" b="0">
                          <a:solidFill>
                            <a:srgbClr val="232624"/>
                          </a:solidFill>
                          <a:latin typeface="Aptos"/>
                        </a:defRPr>
                      </a:pPr>
                      <a:r>
                        <a:t>2.78</a:t>
                      </a:r>
                    </a:p>
                  </a:txBody>
                  <a:tcPr marL="18288" marR="18288" marT="9144" marB="9144">
                    <a:solidFill>
                      <a:srgbClr val="FFFFFC"/>
                    </a:solidFill>
                  </a:tcPr>
                </a:tc>
                <a:tc>
                  <a:txBody>
                    <a:bodyPr/>
                    <a:lstStyle/>
                    <a:p>
                      <a:pPr algn="ctr">
                        <a:defRPr sz="620" b="0">
                          <a:solidFill>
                            <a:srgbClr val="232624"/>
                          </a:solidFill>
                          <a:latin typeface="Aptos"/>
                        </a:defRPr>
                      </a:pPr>
                      <a:r>
                        <a:t>2.44</a:t>
                      </a:r>
                    </a:p>
                  </a:txBody>
                  <a:tcPr marL="18288" marR="18288" marT="9144" marB="9144">
                    <a:solidFill>
                      <a:srgbClr val="FFFFFC"/>
                    </a:solidFill>
                  </a:tcPr>
                </a:tc>
                <a:tc>
                  <a:txBody>
                    <a:bodyPr/>
                    <a:lstStyle/>
                    <a:p>
                      <a:pPr algn="ctr">
                        <a:defRPr sz="620" b="0">
                          <a:solidFill>
                            <a:srgbClr val="232624"/>
                          </a:solidFill>
                          <a:latin typeface="Aptos"/>
                        </a:defRPr>
                      </a:pPr>
                      <a:r>
                        <a:t>2.44</a:t>
                      </a:r>
                    </a:p>
                  </a:txBody>
                  <a:tcPr marL="18288" marR="18288" marT="9144" marB="9144">
                    <a:solidFill>
                      <a:srgbClr val="FFFFFC"/>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2.70</a:t>
                      </a:r>
                    </a:p>
                  </a:txBody>
                  <a:tcPr marL="18288" marR="18288" marT="9144" marB="9144">
                    <a:solidFill>
                      <a:srgbClr val="FFFFFC"/>
                    </a:solidFill>
                  </a:tcPr>
                </a:tc>
                <a:tc>
                  <a:txBody>
                    <a:bodyPr/>
                    <a:lstStyle/>
                    <a:p>
                      <a:pPr algn="ctr">
                        <a:defRPr sz="620" b="0">
                          <a:solidFill>
                            <a:srgbClr val="232624"/>
                          </a:solidFill>
                          <a:latin typeface="Aptos"/>
                        </a:defRPr>
                      </a:pPr>
                      <a:r>
                        <a:t>3.00</a:t>
                      </a:r>
                    </a:p>
                  </a:txBody>
                  <a:tcPr marL="18288" marR="18288" marT="9144" marB="9144">
                    <a:solidFill>
                      <a:srgbClr val="FFFFFC"/>
                    </a:solidFill>
                  </a:tcPr>
                </a:tc>
                <a:tc>
                  <a:txBody>
                    <a:bodyPr/>
                    <a:lstStyle/>
                    <a:p>
                      <a:pPr algn="ctr">
                        <a:defRPr sz="620" b="0">
                          <a:solidFill>
                            <a:srgbClr val="232624"/>
                          </a:solidFill>
                          <a:latin typeface="Aptos"/>
                        </a:defRPr>
                      </a:pPr>
                      <a:r>
                        <a:t>1.33</a:t>
                      </a:r>
                    </a:p>
                  </a:txBody>
                  <a:tcPr marL="18288" marR="18288" marT="9144" marB="9144">
                    <a:solidFill>
                      <a:srgbClr val="FFFFFC"/>
                    </a:solidFill>
                  </a:tcPr>
                </a:tc>
                <a:tc>
                  <a:txBody>
                    <a:bodyPr/>
                    <a:lstStyle/>
                    <a:p>
                      <a:pPr algn="ctr">
                        <a:defRPr sz="620" b="0">
                          <a:solidFill>
                            <a:srgbClr val="232624"/>
                          </a:solidFill>
                          <a:latin typeface="Aptos"/>
                        </a:defRPr>
                      </a:pPr>
                      <a:r>
                        <a:t>1.89</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2.93</a:t>
                      </a:r>
                    </a:p>
                  </a:txBody>
                  <a:tcPr marL="18288" marR="18288" marT="9144" marB="9144">
                    <a:solidFill>
                      <a:srgbClr val="FFFFFC"/>
                    </a:solidFill>
                  </a:tcPr>
                </a:tc>
                <a:tc>
                  <a:txBody>
                    <a:bodyPr/>
                    <a:lstStyle/>
                    <a:p>
                      <a:pPr algn="ctr">
                        <a:defRPr sz="620" b="1">
                          <a:solidFill>
                            <a:srgbClr val="232624"/>
                          </a:solidFill>
                          <a:latin typeface="Aptos"/>
                        </a:defRPr>
                      </a:pPr>
                      <a:r>
                        <a:t>3.11</a:t>
                      </a:r>
                    </a:p>
                  </a:txBody>
                  <a:tcPr marL="18288" marR="18288" marT="9144" marB="9144">
                    <a:solidFill>
                      <a:srgbClr val="DEEFB1"/>
                    </a:solidFill>
                  </a:tcPr>
                </a:tc>
                <a:tc>
                  <a:txBody>
                    <a:bodyPr/>
                    <a:lstStyle/>
                    <a:p>
                      <a:pPr algn="ctr">
                        <a:defRPr sz="620" b="0">
                          <a:solidFill>
                            <a:srgbClr val="232624"/>
                          </a:solidFill>
                          <a:latin typeface="Aptos"/>
                        </a:defRPr>
                      </a:pPr>
                      <a:r>
                        <a:t>1.56</a:t>
                      </a:r>
                    </a:p>
                  </a:txBody>
                  <a:tcPr marL="18288" marR="18288" marT="9144" marB="9144">
                    <a:solidFill>
                      <a:srgbClr val="FFFFFC"/>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3.11</a:t>
                      </a:r>
                    </a:p>
                  </a:txBody>
                  <a:tcPr marL="18288" marR="18288" marT="9144" marB="9144">
                    <a:solidFill>
                      <a:srgbClr val="DEEFB1"/>
                    </a:solidFill>
                  </a:tcPr>
                </a:tc>
                <a:tc>
                  <a:txBody>
                    <a:bodyPr/>
                    <a:lstStyle/>
                    <a:p>
                      <a:pPr algn="ctr">
                        <a:defRPr sz="620" b="0">
                          <a:solidFill>
                            <a:srgbClr val="232624"/>
                          </a:solidFill>
                          <a:latin typeface="Aptos"/>
                        </a:defRPr>
                      </a:pPr>
                      <a:r>
                        <a:t>2.44</a:t>
                      </a:r>
                    </a:p>
                  </a:txBody>
                  <a:tcPr marL="18288" marR="18288" marT="9144" marB="9144">
                    <a:solidFill>
                      <a:srgbClr val="FFFFFC"/>
                    </a:solidFill>
                  </a:tcPr>
                </a:tc>
                <a:tc>
                  <a:txBody>
                    <a:bodyPr/>
                    <a:lstStyle/>
                    <a:p>
                      <a:pPr algn="ctr">
                        <a:defRPr sz="620" b="1">
                          <a:solidFill>
                            <a:srgbClr val="232624"/>
                          </a:solidFill>
                          <a:latin typeface="Aptos"/>
                        </a:defRPr>
                      </a:pPr>
                      <a:r>
                        <a:t>3.00</a:t>
                      </a:r>
                    </a:p>
                  </a:txBody>
                  <a:tcPr marL="18288" marR="18288" marT="9144" marB="9144">
                    <a:solidFill>
                      <a:srgbClr val="DEEFB1"/>
                    </a:solidFill>
                  </a:tcPr>
                </a:tc>
                <a:tc>
                  <a:txBody>
                    <a:bodyPr/>
                    <a:lstStyle/>
                    <a:p>
                      <a:pPr algn="ctr">
                        <a:defRPr sz="620" b="1">
                          <a:solidFill>
                            <a:srgbClr val="232624"/>
                          </a:solidFill>
                          <a:latin typeface="Aptos"/>
                        </a:defRPr>
                      </a:pPr>
                      <a:r>
                        <a:t>3.44</a:t>
                      </a:r>
                    </a:p>
                  </a:txBody>
                  <a:tcPr marL="18288" marR="18288" marT="9144" marB="9144">
                    <a:solidFill>
                      <a:srgbClr val="DEEFB1"/>
                    </a:solidFill>
                  </a:tcPr>
                </a:tc>
              </a:tr>
            </a:tbl>
          </a:graphicData>
        </a:graphic>
      </p:graphicFrame>
      <p:sp>
        <p:nvSpPr>
          <p:cNvPr id="10" name="TextBox 9"/>
          <p:cNvSpPr txBox="1"/>
          <p:nvPr/>
        </p:nvSpPr>
        <p:spPr>
          <a:xfrm>
            <a:off x="2331720" y="3749039"/>
            <a:ext cx="3337560" cy="201168"/>
          </a:xfrm>
          <a:prstGeom prst="rect">
            <a:avLst/>
          </a:prstGeom>
          <a:noFill/>
        </p:spPr>
        <p:txBody>
          <a:bodyPr wrap="none">
            <a:spAutoFit/>
          </a:bodyPr>
          <a:lstStyle/>
          <a:p>
            <a:pPr>
              <a:defRPr sz="900" b="1">
                <a:solidFill>
                  <a:srgbClr val="184E4B"/>
                </a:solidFill>
                <a:latin typeface="Aptos"/>
              </a:defRPr>
            </a:pPr>
            <a:r>
              <a:t>qwen3-32B non-reasoning</a:t>
            </a:r>
          </a:p>
        </p:txBody>
      </p:sp>
      <p:graphicFrame>
        <p:nvGraphicFramePr>
          <p:cNvPr id="11" name="Table 10"/>
          <p:cNvGraphicFramePr>
            <a:graphicFrameLocks noGrp="1"/>
          </p:cNvGraphicFramePr>
          <p:nvPr/>
        </p:nvGraphicFramePr>
        <p:xfrm>
          <a:off x="2331720" y="3977639"/>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c>
                  <a:txBody>
                    <a:bodyPr/>
                    <a:lstStyle/>
                    <a:p>
                      <a:pPr algn="ctr">
                        <a:defRPr sz="620" b="1">
                          <a:solidFill>
                            <a:srgbClr val="232624"/>
                          </a:solidFill>
                          <a:latin typeface="Aptos"/>
                        </a:defRPr>
                      </a:pPr>
                      <a:r>
                        <a:t>2.17</a:t>
                      </a:r>
                    </a:p>
                  </a:txBody>
                  <a:tcPr marL="18288" marR="18288" marT="9144" marB="9144">
                    <a:solidFill>
                      <a:srgbClr val="DEEFB1"/>
                    </a:solidFill>
                  </a:tcPr>
                </a:tc>
                <a:tc>
                  <a:txBody>
                    <a:bodyPr/>
                    <a:lstStyle/>
                    <a:p>
                      <a:pPr algn="ctr">
                        <a:defRPr sz="620" b="1">
                          <a:solidFill>
                            <a:srgbClr val="232624"/>
                          </a:solidFill>
                          <a:latin typeface="Aptos"/>
                        </a:defRPr>
                      </a:pPr>
                      <a:r>
                        <a:t>2.67</a:t>
                      </a:r>
                    </a:p>
                  </a:txBody>
                  <a:tcPr marL="18288" marR="18288" marT="9144" marB="9144">
                    <a:solidFill>
                      <a:srgbClr val="DEEFB1"/>
                    </a:solidFill>
                  </a:tcPr>
                </a:tc>
                <a:tc>
                  <a:txBody>
                    <a:bodyPr/>
                    <a:lstStyle/>
                    <a:p>
                      <a:pPr algn="ctr">
                        <a:defRPr sz="620" b="1">
                          <a:solidFill>
                            <a:srgbClr val="232624"/>
                          </a:solidFill>
                          <a:latin typeface="Aptos"/>
                        </a:defRPr>
                      </a:pPr>
                      <a:r>
                        <a:t>3.44</a:t>
                      </a:r>
                    </a:p>
                  </a:txBody>
                  <a:tcPr marL="18288" marR="18288" marT="9144" marB="9144">
                    <a:solidFill>
                      <a:srgbClr val="DEEFB1"/>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2.53</a:t>
                      </a:r>
                    </a:p>
                  </a:txBody>
                  <a:tcPr marL="18288" marR="18288" marT="9144" marB="9144">
                    <a:solidFill>
                      <a:srgbClr val="FFFFFC"/>
                    </a:solidFill>
                  </a:tcPr>
                </a:tc>
                <a:tc>
                  <a:txBody>
                    <a:bodyPr/>
                    <a:lstStyle/>
                    <a:p>
                      <a:pPr algn="ctr">
                        <a:defRPr sz="620" b="0">
                          <a:solidFill>
                            <a:srgbClr val="232624"/>
                          </a:solidFill>
                          <a:latin typeface="Aptos"/>
                        </a:defRPr>
                      </a:pPr>
                      <a:r>
                        <a:t>0.79</a:t>
                      </a:r>
                    </a:p>
                  </a:txBody>
                  <a:tcPr marL="18288" marR="18288" marT="9144" marB="9144">
                    <a:solidFill>
                      <a:srgbClr val="FFFFFC"/>
                    </a:solidFill>
                  </a:tcPr>
                </a:tc>
                <a:tc>
                  <a:txBody>
                    <a:bodyPr/>
                    <a:lstStyle/>
                    <a:p>
                      <a:pPr algn="ctr">
                        <a:defRPr sz="620" b="0">
                          <a:solidFill>
                            <a:srgbClr val="232624"/>
                          </a:solidFill>
                          <a:latin typeface="Aptos"/>
                        </a:defRPr>
                      </a:pPr>
                      <a:r>
                        <a:t>1.22</a:t>
                      </a:r>
                    </a:p>
                  </a:txBody>
                  <a:tcPr marL="18288" marR="18288" marT="9144" marB="9144">
                    <a:solidFill>
                      <a:srgbClr val="FFFFFC"/>
                    </a:solidFill>
                  </a:tcPr>
                </a:tc>
                <a:tc>
                  <a:txBody>
                    <a:bodyPr/>
                    <a:lstStyle/>
                    <a:p>
                      <a:pPr algn="ctr">
                        <a:defRPr sz="620" b="0">
                          <a:solidFill>
                            <a:srgbClr val="232624"/>
                          </a:solidFill>
                          <a:latin typeface="Aptos"/>
                        </a:defRPr>
                      </a:pPr>
                      <a:r>
                        <a:t>1.44</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1.78</a:t>
                      </a:r>
                    </a:p>
                  </a:txBody>
                  <a:tcPr marL="18288" marR="18288" marT="9144" marB="9144">
                    <a:solidFill>
                      <a:srgbClr val="FFFFFC"/>
                    </a:solidFill>
                  </a:tcPr>
                </a:tc>
                <a:tc>
                  <a:txBody>
                    <a:bodyPr/>
                    <a:lstStyle/>
                    <a:p>
                      <a:pPr algn="ctr">
                        <a:defRPr sz="620" b="0">
                          <a:solidFill>
                            <a:srgbClr val="232624"/>
                          </a:solidFill>
                          <a:latin typeface="Aptos"/>
                        </a:defRPr>
                      </a:pPr>
                      <a:r>
                        <a:t>1.82</a:t>
                      </a:r>
                    </a:p>
                  </a:txBody>
                  <a:tcPr marL="18288" marR="18288" marT="9144" marB="9144">
                    <a:solidFill>
                      <a:srgbClr val="FFFFFC"/>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c>
                  <a:txBody>
                    <a:bodyPr/>
                    <a:lstStyle/>
                    <a:p>
                      <a:pPr algn="ctr">
                        <a:defRPr sz="620" b="0">
                          <a:solidFill>
                            <a:srgbClr val="232624"/>
                          </a:solidFill>
                          <a:latin typeface="Aptos"/>
                        </a:defRPr>
                      </a:pPr>
                      <a:r>
                        <a:t>2.89</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2.81</a:t>
                      </a:r>
                    </a:p>
                  </a:txBody>
                  <a:tcPr marL="18288" marR="18288" marT="9144" marB="9144">
                    <a:solidFill>
                      <a:srgbClr val="DEEFB1"/>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c>
                  <a:txBody>
                    <a:bodyPr/>
                    <a:lstStyle/>
                    <a:p>
                      <a:pPr algn="ctr">
                        <a:defRPr sz="620" b="0">
                          <a:solidFill>
                            <a:srgbClr val="232624"/>
                          </a:solidFill>
                          <a:latin typeface="Aptos"/>
                        </a:defRPr>
                      </a:pPr>
                      <a:r>
                        <a:t>2.44</a:t>
                      </a:r>
                    </a:p>
                  </a:txBody>
                  <a:tcPr marL="18288" marR="18288" marT="9144" marB="9144">
                    <a:solidFill>
                      <a:srgbClr val="FFFFFC"/>
                    </a:solidFill>
                  </a:tcPr>
                </a:tc>
                <a:tc>
                  <a:txBody>
                    <a:bodyPr/>
                    <a:lstStyle/>
                    <a:p>
                      <a:pPr algn="ctr">
                        <a:defRPr sz="620" b="0">
                          <a:solidFill>
                            <a:srgbClr val="232624"/>
                          </a:solidFill>
                          <a:latin typeface="Aptos"/>
                        </a:defRPr>
                      </a:pPr>
                      <a:r>
                        <a:t>3.22</a:t>
                      </a:r>
                    </a:p>
                  </a:txBody>
                  <a:tcPr marL="18288" marR="18288" marT="9144" marB="9144">
                    <a:solidFill>
                      <a:srgbClr val="FFFFFC"/>
                    </a:solidFill>
                  </a:tcPr>
                </a:tc>
              </a:tr>
            </a:tbl>
          </a:graphicData>
        </a:graphic>
      </p:graphicFrame>
      <p:sp>
        <p:nvSpPr>
          <p:cNvPr id="12" name="TextBox 11"/>
          <p:cNvSpPr txBox="1"/>
          <p:nvPr/>
        </p:nvSpPr>
        <p:spPr>
          <a:xfrm>
            <a:off x="6263640" y="3749039"/>
            <a:ext cx="3337560" cy="201168"/>
          </a:xfrm>
          <a:prstGeom prst="rect">
            <a:avLst/>
          </a:prstGeom>
          <a:noFill/>
        </p:spPr>
        <p:txBody>
          <a:bodyPr wrap="none">
            <a:spAutoFit/>
          </a:bodyPr>
          <a:lstStyle/>
          <a:p>
            <a:pPr>
              <a:defRPr sz="900" b="1">
                <a:solidFill>
                  <a:srgbClr val="184E4B"/>
                </a:solidFill>
                <a:latin typeface="Aptos"/>
              </a:defRPr>
            </a:pPr>
            <a:r>
              <a:t>llama3-70B</a:t>
            </a:r>
          </a:p>
        </p:txBody>
      </p:sp>
      <p:graphicFrame>
        <p:nvGraphicFramePr>
          <p:cNvPr id="13" name="Table 12"/>
          <p:cNvGraphicFramePr>
            <a:graphicFrameLocks noGrp="1"/>
          </p:cNvGraphicFramePr>
          <p:nvPr/>
        </p:nvGraphicFramePr>
        <p:xfrm>
          <a:off x="6263640" y="3977639"/>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1.59</a:t>
                      </a:r>
                    </a:p>
                  </a:txBody>
                  <a:tcPr marL="18288" marR="18288" marT="9144" marB="9144">
                    <a:solidFill>
                      <a:srgbClr val="FFFFFC"/>
                    </a:solidFill>
                  </a:tcPr>
                </a:tc>
                <a:tc>
                  <a:txBody>
                    <a:bodyPr/>
                    <a:lstStyle/>
                    <a:p>
                      <a:pPr algn="ctr">
                        <a:defRPr sz="620" b="1">
                          <a:solidFill>
                            <a:srgbClr val="232624"/>
                          </a:solidFill>
                          <a:latin typeface="Aptos"/>
                        </a:defRPr>
                      </a:pPr>
                      <a:r>
                        <a:t>2.06</a:t>
                      </a:r>
                    </a:p>
                  </a:txBody>
                  <a:tcPr marL="18288" marR="18288" marT="9144" marB="9144">
                    <a:solidFill>
                      <a:srgbClr val="DEEFB1"/>
                    </a:solidFill>
                  </a:tcPr>
                </a:tc>
                <a:tc>
                  <a:txBody>
                    <a:bodyPr/>
                    <a:lstStyle/>
                    <a:p>
                      <a:pPr algn="ctr">
                        <a:defRPr sz="620" b="0">
                          <a:solidFill>
                            <a:srgbClr val="232624"/>
                          </a:solidFill>
                          <a:latin typeface="Aptos"/>
                        </a:defRPr>
                      </a:pPr>
                      <a:r>
                        <a:t>1.67</a:t>
                      </a:r>
                    </a:p>
                  </a:txBody>
                  <a:tcPr marL="18288" marR="18288" marT="9144" marB="9144">
                    <a:solidFill>
                      <a:srgbClr val="FFFFFC"/>
                    </a:solidFill>
                  </a:tcPr>
                </a:tc>
                <a:tc>
                  <a:txBody>
                    <a:bodyPr/>
                    <a:lstStyle/>
                    <a:p>
                      <a:pPr algn="ctr">
                        <a:defRPr sz="620" b="1">
                          <a:solidFill>
                            <a:srgbClr val="232624"/>
                          </a:solidFill>
                          <a:latin typeface="Aptos"/>
                        </a:defRPr>
                      </a:pPr>
                      <a:r>
                        <a:t>2.89</a:t>
                      </a:r>
                    </a:p>
                  </a:txBody>
                  <a:tcPr marL="18288" marR="18288" marT="9144" marB="9144">
                    <a:solidFill>
                      <a:srgbClr val="DEEFB1"/>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1.26</a:t>
                      </a:r>
                    </a:p>
                  </a:txBody>
                  <a:tcPr marL="18288" marR="18288" marT="9144" marB="9144">
                    <a:solidFill>
                      <a:srgbClr val="FFFFFC"/>
                    </a:solidFill>
                  </a:tcPr>
                </a:tc>
                <a:tc>
                  <a:txBody>
                    <a:bodyPr/>
                    <a:lstStyle/>
                    <a:p>
                      <a:pPr algn="ctr">
                        <a:defRPr sz="620" b="0">
                          <a:solidFill>
                            <a:srgbClr val="232624"/>
                          </a:solidFill>
                          <a:latin typeface="Aptos"/>
                        </a:defRPr>
                      </a:pPr>
                      <a:r>
                        <a:t>0.89</a:t>
                      </a:r>
                    </a:p>
                  </a:txBody>
                  <a:tcPr marL="18288" marR="18288" marT="9144" marB="9144">
                    <a:solidFill>
                      <a:srgbClr val="FFFFFC"/>
                    </a:solidFill>
                  </a:tcPr>
                </a:tc>
                <a:tc>
                  <a:txBody>
                    <a:bodyPr/>
                    <a:lstStyle/>
                    <a:p>
                      <a:pPr algn="ctr">
                        <a:defRPr sz="620" b="0">
                          <a:solidFill>
                            <a:srgbClr val="232624"/>
                          </a:solidFill>
                          <a:latin typeface="Aptos"/>
                        </a:defRPr>
                      </a:pPr>
                      <a:r>
                        <a:t>1.11</a:t>
                      </a:r>
                    </a:p>
                  </a:txBody>
                  <a:tcPr marL="18288" marR="18288" marT="9144" marB="9144">
                    <a:solidFill>
                      <a:srgbClr val="FFFFFC"/>
                    </a:solidFill>
                  </a:tcPr>
                </a:tc>
                <a:tc>
                  <a:txBody>
                    <a:bodyPr/>
                    <a:lstStyle/>
                    <a:p>
                      <a:pPr algn="ctr">
                        <a:defRPr sz="620" b="0">
                          <a:solidFill>
                            <a:srgbClr val="232624"/>
                          </a:solidFill>
                          <a:latin typeface="Aptos"/>
                        </a:defRPr>
                      </a:pPr>
                      <a:r>
                        <a:t>1.33</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0.70</a:t>
                      </a:r>
                    </a:p>
                  </a:txBody>
                  <a:tcPr marL="18288" marR="18288" marT="9144" marB="9144">
                    <a:solidFill>
                      <a:srgbClr val="FFFFFC"/>
                    </a:solidFill>
                  </a:tcPr>
                </a:tc>
                <a:tc>
                  <a:txBody>
                    <a:bodyPr/>
                    <a:lstStyle/>
                    <a:p>
                      <a:pPr algn="ctr">
                        <a:defRPr sz="620" b="0">
                          <a:solidFill>
                            <a:srgbClr val="232624"/>
                          </a:solidFill>
                          <a:latin typeface="Aptos"/>
                        </a:defRPr>
                      </a:pPr>
                      <a:r>
                        <a:t>0.28</a:t>
                      </a:r>
                    </a:p>
                  </a:txBody>
                  <a:tcPr marL="18288" marR="18288" marT="9144" marB="9144">
                    <a:solidFill>
                      <a:srgbClr val="FFFFFC"/>
                    </a:solidFill>
                  </a:tcPr>
                </a:tc>
                <a:tc>
                  <a:txBody>
                    <a:bodyPr/>
                    <a:lstStyle/>
                    <a:p>
                      <a:pPr algn="ctr">
                        <a:defRPr sz="620" b="0">
                          <a:solidFill>
                            <a:srgbClr val="232624"/>
                          </a:solidFill>
                          <a:latin typeface="Aptos"/>
                        </a:defRPr>
                      </a:pPr>
                      <a:r>
                        <a:t>1.11</a:t>
                      </a:r>
                    </a:p>
                  </a:txBody>
                  <a:tcPr marL="18288" marR="18288" marT="9144" marB="9144">
                    <a:solidFill>
                      <a:srgbClr val="FFFFFC"/>
                    </a:solidFill>
                  </a:tcPr>
                </a:tc>
                <a:tc>
                  <a:txBody>
                    <a:bodyPr/>
                    <a:lstStyle/>
                    <a:p>
                      <a:pPr algn="ctr">
                        <a:defRPr sz="620" b="0">
                          <a:solidFill>
                            <a:srgbClr val="232624"/>
                          </a:solidFill>
                          <a:latin typeface="Aptos"/>
                        </a:defRPr>
                      </a:pPr>
                      <a:r>
                        <a:t>1.44</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3.15</a:t>
                      </a:r>
                    </a:p>
                  </a:txBody>
                  <a:tcPr marL="18288" marR="18288" marT="9144" marB="9144">
                    <a:solidFill>
                      <a:srgbClr val="DEEFB1"/>
                    </a:solidFill>
                  </a:tcPr>
                </a:tc>
                <a:tc>
                  <a:txBody>
                    <a:bodyPr/>
                    <a:lstStyle/>
                    <a:p>
                      <a:pPr algn="ctr">
                        <a:defRPr sz="620" b="0">
                          <a:solidFill>
                            <a:srgbClr val="232624"/>
                          </a:solidFill>
                          <a:latin typeface="Aptos"/>
                        </a:defRPr>
                      </a:pPr>
                      <a:r>
                        <a:t>1.17</a:t>
                      </a:r>
                    </a:p>
                  </a:txBody>
                  <a:tcPr marL="18288" marR="18288" marT="9144" marB="9144">
                    <a:solidFill>
                      <a:srgbClr val="FFFFFC"/>
                    </a:solidFill>
                  </a:tcPr>
                </a:tc>
                <a:tc>
                  <a:txBody>
                    <a:bodyPr/>
                    <a:lstStyle/>
                    <a:p>
                      <a:pPr algn="ctr">
                        <a:defRPr sz="620" b="1">
                          <a:solidFill>
                            <a:srgbClr val="232624"/>
                          </a:solidFill>
                          <a:latin typeface="Aptos"/>
                        </a:defRPr>
                      </a:pPr>
                      <a:r>
                        <a:t>1.89</a:t>
                      </a:r>
                    </a:p>
                  </a:txBody>
                  <a:tcPr marL="18288" marR="18288" marT="9144" marB="9144">
                    <a:solidFill>
                      <a:srgbClr val="DEEFB1"/>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Pattern 2 Results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Robustness means; highlighted cells are setup winners within each model and experiment.</a:t>
            </a:r>
          </a:p>
        </p:txBody>
      </p:sp>
      <p:sp>
        <p:nvSpPr>
          <p:cNvPr id="4" name="TextBox 3"/>
          <p:cNvSpPr txBox="1"/>
          <p:nvPr/>
        </p:nvSpPr>
        <p:spPr>
          <a:xfrm>
            <a:off x="411480" y="1051560"/>
            <a:ext cx="3337560" cy="201168"/>
          </a:xfrm>
          <a:prstGeom prst="rect">
            <a:avLst/>
          </a:prstGeom>
          <a:noFill/>
        </p:spPr>
        <p:txBody>
          <a:bodyPr wrap="none">
            <a:spAutoFit/>
          </a:bodyPr>
          <a:lstStyle/>
          <a:p>
            <a:pPr>
              <a:defRPr sz="900" b="1">
                <a:solidFill>
                  <a:srgbClr val="184E4B"/>
                </a:solidFill>
                <a:latin typeface="Aptos"/>
              </a:defRPr>
            </a:pPr>
            <a:r>
              <a:t>gpt-4.1</a:t>
            </a:r>
          </a:p>
        </p:txBody>
      </p:sp>
      <p:graphicFrame>
        <p:nvGraphicFramePr>
          <p:cNvPr id="5" name="Table 4"/>
          <p:cNvGraphicFramePr>
            <a:graphicFrameLocks noGrp="1"/>
          </p:cNvGraphicFramePr>
          <p:nvPr/>
        </p:nvGraphicFramePr>
        <p:xfrm>
          <a:off x="41148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c>
                  <a:txBody>
                    <a:bodyPr/>
                    <a:lstStyle/>
                    <a:p>
                      <a:pPr algn="ctr">
                        <a:defRPr sz="620" b="0">
                          <a:solidFill>
                            <a:srgbClr val="232624"/>
                          </a:solidFill>
                          <a:latin typeface="Aptos"/>
                        </a:defRPr>
                      </a:pPr>
                      <a:r>
                        <a:t>1.17</a:t>
                      </a:r>
                    </a:p>
                  </a:txBody>
                  <a:tcPr marL="18288" marR="18288" marT="9144" marB="9144">
                    <a:solidFill>
                      <a:srgbClr val="FFFFFC"/>
                    </a:solidFill>
                  </a:tcPr>
                </a:tc>
                <a:tc>
                  <a:txBody>
                    <a:bodyPr/>
                    <a:lstStyle/>
                    <a:p>
                      <a:pPr algn="ctr">
                        <a:defRPr sz="620" b="0">
                          <a:solidFill>
                            <a:srgbClr val="232624"/>
                          </a:solidFill>
                          <a:latin typeface="Aptos"/>
                        </a:defRPr>
                      </a:pPr>
                      <a:r>
                        <a:t>3.22</a:t>
                      </a:r>
                    </a:p>
                  </a:txBody>
                  <a:tcPr marL="18288" marR="18288" marT="9144" marB="9144">
                    <a:solidFill>
                      <a:srgbClr val="FFFFFC"/>
                    </a:solidFill>
                  </a:tcPr>
                </a:tc>
                <a:tc>
                  <a:txBody>
                    <a:bodyPr/>
                    <a:lstStyle/>
                    <a:p>
                      <a:pPr algn="ctr">
                        <a:defRPr sz="620" b="1">
                          <a:solidFill>
                            <a:srgbClr val="232624"/>
                          </a:solidFill>
                          <a:latin typeface="Aptos"/>
                        </a:defRPr>
                      </a:pPr>
                      <a:r>
                        <a:t>4.00</a:t>
                      </a:r>
                    </a:p>
                  </a:txBody>
                  <a:tcPr marL="18288" marR="18288" marT="9144" marB="9144">
                    <a:solidFill>
                      <a:srgbClr val="DEEFB1"/>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2.11</a:t>
                      </a:r>
                    </a:p>
                  </a:txBody>
                  <a:tcPr marL="18288" marR="18288" marT="9144" marB="9144">
                    <a:solidFill>
                      <a:srgbClr val="FFFFFC"/>
                    </a:solidFill>
                  </a:tcPr>
                </a:tc>
                <a:tc>
                  <a:txBody>
                    <a:bodyPr/>
                    <a:lstStyle/>
                    <a:p>
                      <a:pPr algn="ctr">
                        <a:defRPr sz="620" b="0">
                          <a:solidFill>
                            <a:srgbClr val="232624"/>
                          </a:solidFill>
                          <a:latin typeface="Aptos"/>
                        </a:defRPr>
                      </a:pPr>
                      <a:r>
                        <a:t>1.39</a:t>
                      </a:r>
                    </a:p>
                  </a:txBody>
                  <a:tcPr marL="18288" marR="18288" marT="9144" marB="9144">
                    <a:solidFill>
                      <a:srgbClr val="FFFFFC"/>
                    </a:solidFill>
                  </a:tcPr>
                </a:tc>
                <a:tc>
                  <a:txBody>
                    <a:bodyPr/>
                    <a:lstStyle/>
                    <a:p>
                      <a:pPr algn="ctr">
                        <a:defRPr sz="620" b="0">
                          <a:solidFill>
                            <a:srgbClr val="232624"/>
                          </a:solidFill>
                          <a:latin typeface="Aptos"/>
                        </a:defRPr>
                      </a:pPr>
                      <a:r>
                        <a:t>2.78</a:t>
                      </a:r>
                    </a:p>
                  </a:txBody>
                  <a:tcPr marL="18288" marR="18288" marT="9144" marB="9144">
                    <a:solidFill>
                      <a:srgbClr val="FFFFFC"/>
                    </a:solidFill>
                  </a:tcPr>
                </a:tc>
                <a:tc>
                  <a:txBody>
                    <a:bodyPr/>
                    <a:lstStyle/>
                    <a:p>
                      <a:pPr algn="ctr">
                        <a:defRPr sz="620" b="0">
                          <a:solidFill>
                            <a:srgbClr val="232624"/>
                          </a:solidFill>
                          <a:latin typeface="Aptos"/>
                        </a:defRPr>
                      </a:pPr>
                      <a:r>
                        <a:t>3.78</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1.93</a:t>
                      </a:r>
                    </a:p>
                  </a:txBody>
                  <a:tcPr marL="18288" marR="18288" marT="9144" marB="9144">
                    <a:solidFill>
                      <a:srgbClr val="FFFFFC"/>
                    </a:solidFill>
                  </a:tcPr>
                </a:tc>
                <a:tc>
                  <a:txBody>
                    <a:bodyPr/>
                    <a:lstStyle/>
                    <a:p>
                      <a:pPr algn="ctr">
                        <a:defRPr sz="620" b="0">
                          <a:solidFill>
                            <a:srgbClr val="232624"/>
                          </a:solidFill>
                          <a:latin typeface="Aptos"/>
                        </a:defRPr>
                      </a:pPr>
                      <a:r>
                        <a:t>1.67</a:t>
                      </a:r>
                    </a:p>
                  </a:txBody>
                  <a:tcPr marL="18288" marR="18288" marT="9144" marB="9144">
                    <a:solidFill>
                      <a:srgbClr val="FFFFFC"/>
                    </a:solidFill>
                  </a:tcPr>
                </a:tc>
                <a:tc>
                  <a:txBody>
                    <a:bodyPr/>
                    <a:lstStyle/>
                    <a:p>
                      <a:pPr algn="ctr">
                        <a:defRPr sz="620" b="0">
                          <a:solidFill>
                            <a:srgbClr val="232624"/>
                          </a:solidFill>
                          <a:latin typeface="Aptos"/>
                        </a:defRPr>
                      </a:pPr>
                      <a:r>
                        <a:t>3.11</a:t>
                      </a:r>
                    </a:p>
                  </a:txBody>
                  <a:tcPr marL="18288" marR="18288" marT="9144" marB="9144">
                    <a:solidFill>
                      <a:srgbClr val="FFFFFC"/>
                    </a:solidFill>
                  </a:tcPr>
                </a:tc>
                <a:tc>
                  <a:txBody>
                    <a:bodyPr/>
                    <a:lstStyle/>
                    <a:p>
                      <a:pPr algn="ctr">
                        <a:defRPr sz="620" b="1">
                          <a:solidFill>
                            <a:srgbClr val="232624"/>
                          </a:solidFill>
                          <a:latin typeface="Aptos"/>
                        </a:defRPr>
                      </a:pPr>
                      <a:r>
                        <a:t>4.00</a:t>
                      </a:r>
                    </a:p>
                  </a:txBody>
                  <a:tcPr marL="18288" marR="18288" marT="9144" marB="9144">
                    <a:solidFill>
                      <a:srgbClr val="DEEFB1"/>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2.26</a:t>
                      </a:r>
                    </a:p>
                  </a:txBody>
                  <a:tcPr marL="18288" marR="18288" marT="9144" marB="9144">
                    <a:solidFill>
                      <a:srgbClr val="DEEFB1"/>
                    </a:solidFill>
                  </a:tcPr>
                </a:tc>
                <a:tc>
                  <a:txBody>
                    <a:bodyPr/>
                    <a:lstStyle/>
                    <a:p>
                      <a:pPr algn="ctr">
                        <a:defRPr sz="620" b="1">
                          <a:solidFill>
                            <a:srgbClr val="232624"/>
                          </a:solidFill>
                          <a:latin typeface="Aptos"/>
                        </a:defRPr>
                      </a:pPr>
                      <a:r>
                        <a:t>1.89</a:t>
                      </a:r>
                    </a:p>
                  </a:txBody>
                  <a:tcPr marL="18288" marR="18288" marT="9144" marB="9144">
                    <a:solidFill>
                      <a:srgbClr val="DEEFB1"/>
                    </a:solidFill>
                  </a:tcPr>
                </a:tc>
                <a:tc>
                  <a:txBody>
                    <a:bodyPr/>
                    <a:lstStyle/>
                    <a:p>
                      <a:pPr algn="ctr">
                        <a:defRPr sz="620" b="1">
                          <a:solidFill>
                            <a:srgbClr val="232624"/>
                          </a:solidFill>
                          <a:latin typeface="Aptos"/>
                        </a:defRPr>
                      </a:pPr>
                      <a:r>
                        <a:t>3.33</a:t>
                      </a:r>
                    </a:p>
                  </a:txBody>
                  <a:tcPr marL="18288" marR="18288" marT="9144" marB="9144">
                    <a:solidFill>
                      <a:srgbClr val="DEEFB1"/>
                    </a:solidFill>
                  </a:tcPr>
                </a:tc>
                <a:tc>
                  <a:txBody>
                    <a:bodyPr/>
                    <a:lstStyle/>
                    <a:p>
                      <a:pPr algn="ctr">
                        <a:defRPr sz="620" b="1">
                          <a:solidFill>
                            <a:srgbClr val="232624"/>
                          </a:solidFill>
                          <a:latin typeface="Aptos"/>
                        </a:defRPr>
                      </a:pPr>
                      <a:r>
                        <a:t>4.00</a:t>
                      </a:r>
                    </a:p>
                  </a:txBody>
                  <a:tcPr marL="18288" marR="18288" marT="9144" marB="9144">
                    <a:solidFill>
                      <a:srgbClr val="DEEFB1"/>
                    </a:solidFill>
                  </a:tcPr>
                </a:tc>
              </a:tr>
            </a:tbl>
          </a:graphicData>
        </a:graphic>
      </p:graphicFrame>
      <p:sp>
        <p:nvSpPr>
          <p:cNvPr id="6" name="TextBox 5"/>
          <p:cNvSpPr txBox="1"/>
          <p:nvPr/>
        </p:nvSpPr>
        <p:spPr>
          <a:xfrm>
            <a:off x="4343400" y="1051560"/>
            <a:ext cx="3337560" cy="201168"/>
          </a:xfrm>
          <a:prstGeom prst="rect">
            <a:avLst/>
          </a:prstGeom>
          <a:noFill/>
        </p:spPr>
        <p:txBody>
          <a:bodyPr wrap="none">
            <a:spAutoFit/>
          </a:bodyPr>
          <a:lstStyle/>
          <a:p>
            <a:pPr>
              <a:defRPr sz="900" b="1">
                <a:solidFill>
                  <a:srgbClr val="184E4B"/>
                </a:solidFill>
                <a:latin typeface="Aptos"/>
              </a:defRPr>
            </a:pPr>
            <a:r>
              <a:t>gpt-oss-high</a:t>
            </a:r>
          </a:p>
        </p:txBody>
      </p:sp>
      <p:graphicFrame>
        <p:nvGraphicFramePr>
          <p:cNvPr id="7" name="Table 6"/>
          <p:cNvGraphicFramePr>
            <a:graphicFrameLocks noGrp="1"/>
          </p:cNvGraphicFramePr>
          <p:nvPr/>
        </p:nvGraphicFramePr>
        <p:xfrm>
          <a:off x="434340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1.33</a:t>
                      </a:r>
                    </a:p>
                  </a:txBody>
                  <a:tcPr marL="18288" marR="18288" marT="9144" marB="9144">
                    <a:solidFill>
                      <a:srgbClr val="FFFFFC"/>
                    </a:solidFill>
                  </a:tcPr>
                </a:tc>
                <a:tc>
                  <a:txBody>
                    <a:bodyPr/>
                    <a:lstStyle/>
                    <a:p>
                      <a:pPr algn="ctr">
                        <a:defRPr sz="620" b="0">
                          <a:solidFill>
                            <a:srgbClr val="232624"/>
                          </a:solidFill>
                          <a:latin typeface="Aptos"/>
                        </a:defRPr>
                      </a:pPr>
                      <a:r>
                        <a:t>0.94</a:t>
                      </a:r>
                    </a:p>
                  </a:txBody>
                  <a:tcPr marL="18288" marR="18288" marT="9144" marB="9144">
                    <a:solidFill>
                      <a:srgbClr val="FFFFFC"/>
                    </a:solidFill>
                  </a:tcPr>
                </a:tc>
                <a:tc>
                  <a:txBody>
                    <a:bodyPr/>
                    <a:lstStyle/>
                    <a:p>
                      <a:pPr algn="ctr">
                        <a:defRPr sz="620" b="1">
                          <a:solidFill>
                            <a:srgbClr val="232624"/>
                          </a:solidFill>
                          <a:latin typeface="Aptos"/>
                        </a:defRPr>
                      </a:pPr>
                      <a:r>
                        <a:t>3.00</a:t>
                      </a:r>
                    </a:p>
                  </a:txBody>
                  <a:tcPr marL="18288" marR="18288" marT="9144" marB="9144">
                    <a:solidFill>
                      <a:srgbClr val="DEEFB1"/>
                    </a:solidFill>
                  </a:tcPr>
                </a:tc>
                <a:tc>
                  <a:txBody>
                    <a:bodyPr/>
                    <a:lstStyle/>
                    <a:p>
                      <a:pPr algn="ctr">
                        <a:defRPr sz="620" b="0">
                          <a:solidFill>
                            <a:srgbClr val="232624"/>
                          </a:solidFill>
                          <a:latin typeface="Aptos"/>
                        </a:defRPr>
                      </a:pPr>
                      <a:r>
                        <a:t>3.22</a:t>
                      </a:r>
                    </a:p>
                  </a:txBody>
                  <a:tcPr marL="18288" marR="18288" marT="9144" marB="9144">
                    <a:solidFill>
                      <a:srgbClr val="FFFFFC"/>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1.41</a:t>
                      </a:r>
                    </a:p>
                  </a:txBody>
                  <a:tcPr marL="18288" marR="18288" marT="9144" marB="9144">
                    <a:solidFill>
                      <a:srgbClr val="FFFFFC"/>
                    </a:solidFill>
                  </a:tcPr>
                </a:tc>
                <a:tc>
                  <a:txBody>
                    <a:bodyPr/>
                    <a:lstStyle/>
                    <a:p>
                      <a:pPr algn="ctr">
                        <a:defRPr sz="620" b="1">
                          <a:solidFill>
                            <a:srgbClr val="232624"/>
                          </a:solidFill>
                          <a:latin typeface="Aptos"/>
                        </a:defRPr>
                      </a:pPr>
                      <a:r>
                        <a:t>1.17</a:t>
                      </a:r>
                    </a:p>
                  </a:txBody>
                  <a:tcPr marL="18288" marR="18288" marT="9144" marB="9144">
                    <a:solidFill>
                      <a:srgbClr val="DEEFB1"/>
                    </a:solidFill>
                  </a:tcPr>
                </a:tc>
                <a:tc>
                  <a:txBody>
                    <a:bodyPr/>
                    <a:lstStyle/>
                    <a:p>
                      <a:pPr algn="ctr">
                        <a:defRPr sz="620" b="1">
                          <a:solidFill>
                            <a:srgbClr val="232624"/>
                          </a:solidFill>
                          <a:latin typeface="Aptos"/>
                        </a:defRPr>
                      </a:pPr>
                      <a:r>
                        <a:t>3.00</a:t>
                      </a:r>
                    </a:p>
                  </a:txBody>
                  <a:tcPr marL="18288" marR="18288" marT="9144" marB="9144">
                    <a:solidFill>
                      <a:srgbClr val="DEEFB1"/>
                    </a:solidFill>
                  </a:tcPr>
                </a:tc>
                <a:tc>
                  <a:txBody>
                    <a:bodyPr/>
                    <a:lstStyle/>
                    <a:p>
                      <a:pPr algn="ctr">
                        <a:defRPr sz="620" b="0">
                          <a:solidFill>
                            <a:srgbClr val="232624"/>
                          </a:solidFill>
                          <a:latin typeface="Aptos"/>
                        </a:defRPr>
                      </a:pPr>
                      <a:r>
                        <a:t>3.11</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1.78</a:t>
                      </a:r>
                    </a:p>
                  </a:txBody>
                  <a:tcPr marL="18288" marR="18288" marT="9144" marB="9144">
                    <a:solidFill>
                      <a:srgbClr val="FFFFFC"/>
                    </a:solidFill>
                  </a:tcPr>
                </a:tc>
                <a:tc>
                  <a:txBody>
                    <a:bodyPr/>
                    <a:lstStyle/>
                    <a:p>
                      <a:pPr algn="ctr">
                        <a:defRPr sz="620" b="0">
                          <a:solidFill>
                            <a:srgbClr val="232624"/>
                          </a:solidFill>
                          <a:latin typeface="Aptos"/>
                        </a:defRPr>
                      </a:pPr>
                      <a:r>
                        <a:t>0.94</a:t>
                      </a:r>
                    </a:p>
                  </a:txBody>
                  <a:tcPr marL="18288" marR="18288" marT="9144" marB="9144">
                    <a:solidFill>
                      <a:srgbClr val="FFFFFC"/>
                    </a:solidFill>
                  </a:tcPr>
                </a:tc>
                <a:tc>
                  <a:txBody>
                    <a:bodyPr/>
                    <a:lstStyle/>
                    <a:p>
                      <a:pPr algn="ctr">
                        <a:defRPr sz="620" b="1">
                          <a:solidFill>
                            <a:srgbClr val="232624"/>
                          </a:solidFill>
                          <a:latin typeface="Aptos"/>
                        </a:defRPr>
                      </a:pPr>
                      <a:r>
                        <a:t>3.00</a:t>
                      </a:r>
                    </a:p>
                  </a:txBody>
                  <a:tcPr marL="18288" marR="18288" marT="9144" marB="9144">
                    <a:solidFill>
                      <a:srgbClr val="DEEFB1"/>
                    </a:solidFill>
                  </a:tcPr>
                </a:tc>
                <a:tc>
                  <a:txBody>
                    <a:bodyPr/>
                    <a:lstStyle/>
                    <a:p>
                      <a:pPr algn="ctr">
                        <a:defRPr sz="620" b="0">
                          <a:solidFill>
                            <a:srgbClr val="232624"/>
                          </a:solidFill>
                          <a:latin typeface="Aptos"/>
                        </a:defRPr>
                      </a:pPr>
                      <a:r>
                        <a:t>3.00</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2.48</a:t>
                      </a:r>
                    </a:p>
                  </a:txBody>
                  <a:tcPr marL="18288" marR="18288" marT="9144" marB="9144">
                    <a:solidFill>
                      <a:srgbClr val="DEEFB1"/>
                    </a:solidFill>
                  </a:tcPr>
                </a:tc>
                <a:tc>
                  <a:txBody>
                    <a:bodyPr/>
                    <a:lstStyle/>
                    <a:p>
                      <a:pPr algn="ctr">
                        <a:defRPr sz="620" b="0">
                          <a:solidFill>
                            <a:srgbClr val="232624"/>
                          </a:solidFill>
                          <a:latin typeface="Aptos"/>
                        </a:defRPr>
                      </a:pPr>
                      <a:r>
                        <a:t>1.00</a:t>
                      </a:r>
                    </a:p>
                  </a:txBody>
                  <a:tcPr marL="18288" marR="18288" marT="9144" marB="9144">
                    <a:solidFill>
                      <a:srgbClr val="FFFFFC"/>
                    </a:solidFill>
                  </a:tcPr>
                </a:tc>
                <a:tc>
                  <a:txBody>
                    <a:bodyPr/>
                    <a:lstStyle/>
                    <a:p>
                      <a:pPr algn="ctr">
                        <a:defRPr sz="620" b="1">
                          <a:solidFill>
                            <a:srgbClr val="232624"/>
                          </a:solidFill>
                          <a:latin typeface="Aptos"/>
                        </a:defRPr>
                      </a:pPr>
                      <a:r>
                        <a:t>3.00</a:t>
                      </a:r>
                    </a:p>
                  </a:txBody>
                  <a:tcPr marL="18288" marR="18288" marT="9144" marB="9144">
                    <a:solidFill>
                      <a:srgbClr val="DEEFB1"/>
                    </a:solidFill>
                  </a:tcPr>
                </a:tc>
                <a:tc>
                  <a:txBody>
                    <a:bodyPr/>
                    <a:lstStyle/>
                    <a:p>
                      <a:pPr algn="ctr">
                        <a:defRPr sz="620" b="1">
                          <a:solidFill>
                            <a:srgbClr val="232624"/>
                          </a:solidFill>
                          <a:latin typeface="Aptos"/>
                        </a:defRPr>
                      </a:pPr>
                      <a:r>
                        <a:t>3.67</a:t>
                      </a:r>
                    </a:p>
                  </a:txBody>
                  <a:tcPr marL="18288" marR="18288" marT="9144" marB="9144">
                    <a:solidFill>
                      <a:srgbClr val="DEEFB1"/>
                    </a:solidFill>
                  </a:tcPr>
                </a:tc>
              </a:tr>
            </a:tbl>
          </a:graphicData>
        </a:graphic>
      </p:graphicFrame>
      <p:sp>
        <p:nvSpPr>
          <p:cNvPr id="8" name="TextBox 7"/>
          <p:cNvSpPr txBox="1"/>
          <p:nvPr/>
        </p:nvSpPr>
        <p:spPr>
          <a:xfrm>
            <a:off x="8275320" y="1051560"/>
            <a:ext cx="3337560" cy="201168"/>
          </a:xfrm>
          <a:prstGeom prst="rect">
            <a:avLst/>
          </a:prstGeom>
          <a:noFill/>
        </p:spPr>
        <p:txBody>
          <a:bodyPr wrap="none">
            <a:spAutoFit/>
          </a:bodyPr>
          <a:lstStyle/>
          <a:p>
            <a:pPr>
              <a:defRPr sz="900" b="1">
                <a:solidFill>
                  <a:srgbClr val="184E4B"/>
                </a:solidFill>
                <a:latin typeface="Aptos"/>
              </a:defRPr>
            </a:pPr>
            <a:r>
              <a:t>gpt-oss-medium</a:t>
            </a:r>
          </a:p>
        </p:txBody>
      </p:sp>
      <p:graphicFrame>
        <p:nvGraphicFramePr>
          <p:cNvPr id="9" name="Table 8"/>
          <p:cNvGraphicFramePr>
            <a:graphicFrameLocks noGrp="1"/>
          </p:cNvGraphicFramePr>
          <p:nvPr/>
        </p:nvGraphicFramePr>
        <p:xfrm>
          <a:off x="827532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1.28</a:t>
                      </a:r>
                    </a:p>
                  </a:txBody>
                  <a:tcPr marL="18288" marR="18288" marT="9144" marB="9144">
                    <a:solidFill>
                      <a:srgbClr val="FFFFFC"/>
                    </a:solidFill>
                  </a:tcPr>
                </a:tc>
                <a:tc>
                  <a:txBody>
                    <a:bodyPr/>
                    <a:lstStyle/>
                    <a:p>
                      <a:pPr algn="ctr">
                        <a:defRPr sz="620" b="0">
                          <a:solidFill>
                            <a:srgbClr val="232624"/>
                          </a:solidFill>
                          <a:latin typeface="Aptos"/>
                        </a:defRPr>
                      </a:pPr>
                      <a:r>
                        <a:t>0.89</a:t>
                      </a:r>
                    </a:p>
                  </a:txBody>
                  <a:tcPr marL="18288" marR="18288" marT="9144" marB="9144">
                    <a:solidFill>
                      <a:srgbClr val="FFFFFC"/>
                    </a:solidFill>
                  </a:tcPr>
                </a:tc>
                <a:tc>
                  <a:txBody>
                    <a:bodyPr/>
                    <a:lstStyle/>
                    <a:p>
                      <a:pPr algn="ctr">
                        <a:defRPr sz="620" b="0">
                          <a:solidFill>
                            <a:srgbClr val="232624"/>
                          </a:solidFill>
                          <a:latin typeface="Aptos"/>
                        </a:defRPr>
                      </a:pPr>
                      <a:r>
                        <a:t>1.11</a:t>
                      </a:r>
                    </a:p>
                  </a:txBody>
                  <a:tcPr marL="18288" marR="18288" marT="9144" marB="9144">
                    <a:solidFill>
                      <a:srgbClr val="FFFFFC"/>
                    </a:solidFill>
                  </a:tcPr>
                </a:tc>
                <a:tc>
                  <a:txBody>
                    <a:bodyPr/>
                    <a:lstStyle/>
                    <a:p>
                      <a:pPr algn="ctr">
                        <a:defRPr sz="620" b="0">
                          <a:solidFill>
                            <a:srgbClr val="232624"/>
                          </a:solidFill>
                          <a:latin typeface="Aptos"/>
                        </a:defRPr>
                      </a:pPr>
                      <a:r>
                        <a:t>2.00</a:t>
                      </a:r>
                    </a:p>
                  </a:txBody>
                  <a:tcPr marL="18288" marR="18288" marT="9144" marB="9144">
                    <a:solidFill>
                      <a:srgbClr val="FFFFFC"/>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0.78</a:t>
                      </a:r>
                    </a:p>
                  </a:txBody>
                  <a:tcPr marL="18288" marR="18288" marT="9144" marB="9144">
                    <a:solidFill>
                      <a:srgbClr val="FFFFFC"/>
                    </a:solidFill>
                  </a:tcPr>
                </a:tc>
                <a:tc>
                  <a:txBody>
                    <a:bodyPr/>
                    <a:lstStyle/>
                    <a:p>
                      <a:pPr algn="ctr">
                        <a:defRPr sz="620" b="1">
                          <a:solidFill>
                            <a:srgbClr val="232624"/>
                          </a:solidFill>
                          <a:latin typeface="Aptos"/>
                        </a:defRPr>
                      </a:pPr>
                      <a:r>
                        <a:t>1.17</a:t>
                      </a:r>
                    </a:p>
                  </a:txBody>
                  <a:tcPr marL="18288" marR="18288" marT="9144" marB="9144">
                    <a:solidFill>
                      <a:srgbClr val="DEEFB1"/>
                    </a:solidFill>
                  </a:tcPr>
                </a:tc>
                <a:tc>
                  <a:txBody>
                    <a:bodyPr/>
                    <a:lstStyle/>
                    <a:p>
                      <a:pPr algn="ctr">
                        <a:defRPr sz="620" b="0">
                          <a:solidFill>
                            <a:srgbClr val="232624"/>
                          </a:solidFill>
                          <a:latin typeface="Aptos"/>
                        </a:defRPr>
                      </a:pPr>
                      <a:r>
                        <a:t>1.11</a:t>
                      </a:r>
                    </a:p>
                  </a:txBody>
                  <a:tcPr marL="18288" marR="18288" marT="9144" marB="9144">
                    <a:solidFill>
                      <a:srgbClr val="FFFFFC"/>
                    </a:solidFill>
                  </a:tcPr>
                </a:tc>
                <a:tc>
                  <a:txBody>
                    <a:bodyPr/>
                    <a:lstStyle/>
                    <a:p>
                      <a:pPr algn="ctr">
                        <a:defRPr sz="620" b="0">
                          <a:solidFill>
                            <a:srgbClr val="232624"/>
                          </a:solidFill>
                          <a:latin typeface="Aptos"/>
                        </a:defRPr>
                      </a:pPr>
                      <a:r>
                        <a:t>1.67</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0.89</a:t>
                      </a:r>
                    </a:p>
                  </a:txBody>
                  <a:tcPr marL="18288" marR="18288" marT="9144" marB="9144">
                    <a:solidFill>
                      <a:srgbClr val="FFFFFC"/>
                    </a:solidFill>
                  </a:tcPr>
                </a:tc>
                <a:tc>
                  <a:txBody>
                    <a:bodyPr/>
                    <a:lstStyle/>
                    <a:p>
                      <a:pPr algn="ctr">
                        <a:defRPr sz="620" b="0">
                          <a:solidFill>
                            <a:srgbClr val="232624"/>
                          </a:solidFill>
                          <a:latin typeface="Aptos"/>
                        </a:defRPr>
                      </a:pPr>
                      <a:r>
                        <a:t>1.11</a:t>
                      </a:r>
                    </a:p>
                  </a:txBody>
                  <a:tcPr marL="18288" marR="18288" marT="9144" marB="9144">
                    <a:solidFill>
                      <a:srgbClr val="FFFFFC"/>
                    </a:solidFill>
                  </a:tcPr>
                </a:tc>
                <a:tc>
                  <a:txBody>
                    <a:bodyPr/>
                    <a:lstStyle/>
                    <a:p>
                      <a:pPr algn="ctr">
                        <a:defRPr sz="620" b="0">
                          <a:solidFill>
                            <a:srgbClr val="232624"/>
                          </a:solidFill>
                          <a:latin typeface="Aptos"/>
                        </a:defRPr>
                      </a:pPr>
                      <a:r>
                        <a:t>1.11</a:t>
                      </a:r>
                    </a:p>
                  </a:txBody>
                  <a:tcPr marL="18288" marR="18288" marT="9144" marB="9144">
                    <a:solidFill>
                      <a:srgbClr val="FFFFFC"/>
                    </a:solidFill>
                  </a:tcPr>
                </a:tc>
                <a:tc>
                  <a:txBody>
                    <a:bodyPr/>
                    <a:lstStyle/>
                    <a:p>
                      <a:pPr algn="ctr">
                        <a:defRPr sz="620" b="0">
                          <a:solidFill>
                            <a:srgbClr val="232624"/>
                          </a:solidFill>
                          <a:latin typeface="Aptos"/>
                        </a:defRPr>
                      </a:pPr>
                      <a:r>
                        <a:t>1.67</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2.11</a:t>
                      </a:r>
                    </a:p>
                  </a:txBody>
                  <a:tcPr marL="18288" marR="18288" marT="9144" marB="9144">
                    <a:solidFill>
                      <a:srgbClr val="DEEFB1"/>
                    </a:solidFill>
                  </a:tcPr>
                </a:tc>
                <a:tc>
                  <a:txBody>
                    <a:bodyPr/>
                    <a:lstStyle/>
                    <a:p>
                      <a:pPr algn="ctr">
                        <a:defRPr sz="620" b="0">
                          <a:solidFill>
                            <a:srgbClr val="232624"/>
                          </a:solidFill>
                          <a:latin typeface="Aptos"/>
                        </a:defRPr>
                      </a:pPr>
                      <a:r>
                        <a:t>1.06</a:t>
                      </a:r>
                    </a:p>
                  </a:txBody>
                  <a:tcPr marL="18288" marR="18288" marT="9144" marB="9144">
                    <a:solidFill>
                      <a:srgbClr val="FFFFFC"/>
                    </a:solidFill>
                  </a:tcPr>
                </a:tc>
                <a:tc>
                  <a:txBody>
                    <a:bodyPr/>
                    <a:lstStyle/>
                    <a:p>
                      <a:pPr algn="ctr">
                        <a:defRPr sz="620" b="1">
                          <a:solidFill>
                            <a:srgbClr val="232624"/>
                          </a:solidFill>
                          <a:latin typeface="Aptos"/>
                        </a:defRPr>
                      </a:pPr>
                      <a:r>
                        <a:t>3.22</a:t>
                      </a:r>
                    </a:p>
                  </a:txBody>
                  <a:tcPr marL="18288" marR="18288" marT="9144" marB="9144">
                    <a:solidFill>
                      <a:srgbClr val="DEEFB1"/>
                    </a:solidFill>
                  </a:tcPr>
                </a:tc>
                <a:tc>
                  <a:txBody>
                    <a:bodyPr/>
                    <a:lstStyle/>
                    <a:p>
                      <a:pPr algn="ctr">
                        <a:defRPr sz="620" b="1">
                          <a:solidFill>
                            <a:srgbClr val="232624"/>
                          </a:solidFill>
                          <a:latin typeface="Aptos"/>
                        </a:defRPr>
                      </a:pPr>
                      <a:r>
                        <a:t>3.56</a:t>
                      </a:r>
                    </a:p>
                  </a:txBody>
                  <a:tcPr marL="18288" marR="18288" marT="9144" marB="9144">
                    <a:solidFill>
                      <a:srgbClr val="DEEFB1"/>
                    </a:solidFill>
                  </a:tcPr>
                </a:tc>
              </a:tr>
            </a:tbl>
          </a:graphicData>
        </a:graphic>
      </p:graphicFrame>
      <p:sp>
        <p:nvSpPr>
          <p:cNvPr id="10" name="TextBox 9"/>
          <p:cNvSpPr txBox="1"/>
          <p:nvPr/>
        </p:nvSpPr>
        <p:spPr>
          <a:xfrm>
            <a:off x="2331720" y="3749039"/>
            <a:ext cx="3337560" cy="201168"/>
          </a:xfrm>
          <a:prstGeom prst="rect">
            <a:avLst/>
          </a:prstGeom>
          <a:noFill/>
        </p:spPr>
        <p:txBody>
          <a:bodyPr wrap="none">
            <a:spAutoFit/>
          </a:bodyPr>
          <a:lstStyle/>
          <a:p>
            <a:pPr>
              <a:defRPr sz="900" b="1">
                <a:solidFill>
                  <a:srgbClr val="184E4B"/>
                </a:solidFill>
                <a:latin typeface="Aptos"/>
              </a:defRPr>
            </a:pPr>
            <a:r>
              <a:t>qwen3-32B non-reasoning</a:t>
            </a:r>
          </a:p>
        </p:txBody>
      </p:sp>
      <p:graphicFrame>
        <p:nvGraphicFramePr>
          <p:cNvPr id="11" name="Table 10"/>
          <p:cNvGraphicFramePr>
            <a:graphicFrameLocks noGrp="1"/>
          </p:cNvGraphicFramePr>
          <p:nvPr/>
        </p:nvGraphicFramePr>
        <p:xfrm>
          <a:off x="2331720" y="3977639"/>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1.04</a:t>
                      </a:r>
                    </a:p>
                  </a:txBody>
                  <a:tcPr marL="18288" marR="18288" marT="9144" marB="9144">
                    <a:solidFill>
                      <a:srgbClr val="FFFFFC"/>
                    </a:solidFill>
                  </a:tcPr>
                </a:tc>
                <a:tc>
                  <a:txBody>
                    <a:bodyPr/>
                    <a:lstStyle/>
                    <a:p>
                      <a:pPr algn="ctr">
                        <a:defRPr sz="620" b="0">
                          <a:solidFill>
                            <a:srgbClr val="232624"/>
                          </a:solidFill>
                          <a:latin typeface="Aptos"/>
                        </a:defRPr>
                      </a:pPr>
                      <a:r>
                        <a:t>0.72</a:t>
                      </a:r>
                    </a:p>
                  </a:txBody>
                  <a:tcPr marL="18288" marR="18288" marT="9144" marB="9144">
                    <a:solidFill>
                      <a:srgbClr val="FFFFFC"/>
                    </a:solidFill>
                  </a:tcPr>
                </a:tc>
                <a:tc>
                  <a:txBody>
                    <a:bodyPr/>
                    <a:lstStyle/>
                    <a:p>
                      <a:pPr algn="ctr">
                        <a:defRPr sz="620" b="1">
                          <a:solidFill>
                            <a:srgbClr val="232624"/>
                          </a:solidFill>
                          <a:latin typeface="Aptos"/>
                        </a:defRPr>
                      </a:pPr>
                      <a:r>
                        <a:t>3.11</a:t>
                      </a:r>
                    </a:p>
                  </a:txBody>
                  <a:tcPr marL="18288" marR="18288" marT="9144" marB="9144">
                    <a:solidFill>
                      <a:srgbClr val="DEEFB1"/>
                    </a:solidFill>
                  </a:tcPr>
                </a:tc>
                <a:tc>
                  <a:txBody>
                    <a:bodyPr/>
                    <a:lstStyle/>
                    <a:p>
                      <a:pPr algn="ctr">
                        <a:defRPr sz="620" b="1">
                          <a:solidFill>
                            <a:srgbClr val="232624"/>
                          </a:solidFill>
                          <a:latin typeface="Aptos"/>
                        </a:defRPr>
                      </a:pPr>
                      <a:r>
                        <a:t>3.78</a:t>
                      </a:r>
                    </a:p>
                  </a:txBody>
                  <a:tcPr marL="18288" marR="18288" marT="9144" marB="9144">
                    <a:solidFill>
                      <a:srgbClr val="DEEFB1"/>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0.85</a:t>
                      </a:r>
                    </a:p>
                  </a:txBody>
                  <a:tcPr marL="18288" marR="18288" marT="9144" marB="9144">
                    <a:solidFill>
                      <a:srgbClr val="FFFFFC"/>
                    </a:solidFill>
                  </a:tcPr>
                </a:tc>
                <a:tc>
                  <a:txBody>
                    <a:bodyPr/>
                    <a:lstStyle/>
                    <a:p>
                      <a:pPr algn="ctr">
                        <a:defRPr sz="620" b="0">
                          <a:solidFill>
                            <a:srgbClr val="232624"/>
                          </a:solidFill>
                          <a:latin typeface="Aptos"/>
                        </a:defRPr>
                      </a:pPr>
                      <a:r>
                        <a:t>1.00</a:t>
                      </a:r>
                    </a:p>
                  </a:txBody>
                  <a:tcPr marL="18288" marR="18288" marT="9144" marB="9144">
                    <a:solidFill>
                      <a:srgbClr val="FFFFFC"/>
                    </a:solidFill>
                  </a:tcPr>
                </a:tc>
                <a:tc>
                  <a:txBody>
                    <a:bodyPr/>
                    <a:lstStyle/>
                    <a:p>
                      <a:pPr algn="ctr">
                        <a:defRPr sz="620" b="0">
                          <a:solidFill>
                            <a:srgbClr val="232624"/>
                          </a:solidFill>
                          <a:latin typeface="Aptos"/>
                        </a:defRPr>
                      </a:pPr>
                      <a:r>
                        <a:t>1.89</a:t>
                      </a:r>
                    </a:p>
                  </a:txBody>
                  <a:tcPr marL="18288" marR="18288" marT="9144" marB="9144">
                    <a:solidFill>
                      <a:srgbClr val="FFFFFC"/>
                    </a:solidFill>
                  </a:tcPr>
                </a:tc>
                <a:tc>
                  <a:txBody>
                    <a:bodyPr/>
                    <a:lstStyle/>
                    <a:p>
                      <a:pPr algn="ctr">
                        <a:defRPr sz="620" b="0">
                          <a:solidFill>
                            <a:srgbClr val="232624"/>
                          </a:solidFill>
                          <a:latin typeface="Aptos"/>
                        </a:defRPr>
                      </a:pPr>
                      <a:r>
                        <a:t>2.67</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1.00</a:t>
                      </a:r>
                    </a:p>
                  </a:txBody>
                  <a:tcPr marL="18288" marR="18288" marT="9144" marB="9144">
                    <a:solidFill>
                      <a:srgbClr val="FFFFFC"/>
                    </a:solidFill>
                  </a:tcPr>
                </a:tc>
                <a:tc>
                  <a:txBody>
                    <a:bodyPr/>
                    <a:lstStyle/>
                    <a:p>
                      <a:pPr algn="ctr">
                        <a:defRPr sz="620" b="1">
                          <a:solidFill>
                            <a:srgbClr val="232624"/>
                          </a:solidFill>
                          <a:latin typeface="Aptos"/>
                        </a:defRPr>
                      </a:pPr>
                      <a:r>
                        <a:t>1.17</a:t>
                      </a:r>
                    </a:p>
                  </a:txBody>
                  <a:tcPr marL="18288" marR="18288" marT="9144" marB="9144">
                    <a:solidFill>
                      <a:srgbClr val="DEEFB1"/>
                    </a:solidFill>
                  </a:tcPr>
                </a:tc>
                <a:tc>
                  <a:txBody>
                    <a:bodyPr/>
                    <a:lstStyle/>
                    <a:p>
                      <a:pPr algn="ctr">
                        <a:defRPr sz="620" b="0">
                          <a:solidFill>
                            <a:srgbClr val="232624"/>
                          </a:solidFill>
                          <a:latin typeface="Aptos"/>
                        </a:defRPr>
                      </a:pPr>
                      <a:r>
                        <a:t>2.11</a:t>
                      </a:r>
                    </a:p>
                  </a:txBody>
                  <a:tcPr marL="18288" marR="18288" marT="9144" marB="9144">
                    <a:solidFill>
                      <a:srgbClr val="FFFFFC"/>
                    </a:solidFill>
                  </a:tcPr>
                </a:tc>
                <a:tc>
                  <a:txBody>
                    <a:bodyPr/>
                    <a:lstStyle/>
                    <a:p>
                      <a:pPr algn="ctr">
                        <a:defRPr sz="620" b="0">
                          <a:solidFill>
                            <a:srgbClr val="232624"/>
                          </a:solidFill>
                          <a:latin typeface="Aptos"/>
                        </a:defRPr>
                      </a:pPr>
                      <a:r>
                        <a:t>3.11</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2.15</a:t>
                      </a:r>
                    </a:p>
                  </a:txBody>
                  <a:tcPr marL="18288" marR="18288" marT="9144" marB="9144">
                    <a:solidFill>
                      <a:srgbClr val="DEEFB1"/>
                    </a:solidFill>
                  </a:tcPr>
                </a:tc>
                <a:tc>
                  <a:txBody>
                    <a:bodyPr/>
                    <a:lstStyle/>
                    <a:p>
                      <a:pPr algn="ctr">
                        <a:defRPr sz="620" b="0">
                          <a:solidFill>
                            <a:srgbClr val="232624"/>
                          </a:solidFill>
                          <a:latin typeface="Aptos"/>
                        </a:defRPr>
                      </a:pPr>
                      <a:r>
                        <a:t>0.40</a:t>
                      </a:r>
                    </a:p>
                  </a:txBody>
                  <a:tcPr marL="18288" marR="18288" marT="9144" marB="9144">
                    <a:solidFill>
                      <a:srgbClr val="FFFFFC"/>
                    </a:solidFill>
                  </a:tcPr>
                </a:tc>
                <a:tc>
                  <a:txBody>
                    <a:bodyPr/>
                    <a:lstStyle/>
                    <a:p>
                      <a:pPr algn="ctr">
                        <a:defRPr sz="620" b="0">
                          <a:solidFill>
                            <a:srgbClr val="232624"/>
                          </a:solidFill>
                          <a:latin typeface="Aptos"/>
                        </a:defRPr>
                      </a:pPr>
                      <a:r>
                        <a:t>2.33</a:t>
                      </a:r>
                    </a:p>
                  </a:txBody>
                  <a:tcPr marL="18288" marR="18288" marT="9144" marB="9144">
                    <a:solidFill>
                      <a:srgbClr val="FFFFFC"/>
                    </a:solidFill>
                  </a:tcPr>
                </a:tc>
                <a:tc>
                  <a:txBody>
                    <a:bodyPr/>
                    <a:lstStyle/>
                    <a:p>
                      <a:pPr algn="ctr">
                        <a:defRPr sz="620" b="0">
                          <a:solidFill>
                            <a:srgbClr val="232624"/>
                          </a:solidFill>
                          <a:latin typeface="Aptos"/>
                        </a:defRPr>
                      </a:pPr>
                      <a:r>
                        <a:t>3.11</a:t>
                      </a:r>
                    </a:p>
                  </a:txBody>
                  <a:tcPr marL="18288" marR="18288" marT="9144" marB="9144">
                    <a:solidFill>
                      <a:srgbClr val="FFFFFC"/>
                    </a:solidFill>
                  </a:tcPr>
                </a:tc>
              </a:tr>
            </a:tbl>
          </a:graphicData>
        </a:graphic>
      </p:graphicFrame>
      <p:sp>
        <p:nvSpPr>
          <p:cNvPr id="12" name="TextBox 11"/>
          <p:cNvSpPr txBox="1"/>
          <p:nvPr/>
        </p:nvSpPr>
        <p:spPr>
          <a:xfrm>
            <a:off x="6263640" y="3749039"/>
            <a:ext cx="3337560" cy="201168"/>
          </a:xfrm>
          <a:prstGeom prst="rect">
            <a:avLst/>
          </a:prstGeom>
          <a:noFill/>
        </p:spPr>
        <p:txBody>
          <a:bodyPr wrap="none">
            <a:spAutoFit/>
          </a:bodyPr>
          <a:lstStyle/>
          <a:p>
            <a:pPr>
              <a:defRPr sz="900" b="1">
                <a:solidFill>
                  <a:srgbClr val="184E4B"/>
                </a:solidFill>
                <a:latin typeface="Aptos"/>
              </a:defRPr>
            </a:pPr>
            <a:r>
              <a:t>llama3-70B</a:t>
            </a:r>
          </a:p>
        </p:txBody>
      </p:sp>
      <p:graphicFrame>
        <p:nvGraphicFramePr>
          <p:cNvPr id="13" name="Table 12"/>
          <p:cNvGraphicFramePr>
            <a:graphicFrameLocks noGrp="1"/>
          </p:cNvGraphicFramePr>
          <p:nvPr/>
        </p:nvGraphicFramePr>
        <p:xfrm>
          <a:off x="6263640" y="3977639"/>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1.48</a:t>
                      </a:r>
                    </a:p>
                  </a:txBody>
                  <a:tcPr marL="18288" marR="18288" marT="9144" marB="9144">
                    <a:solidFill>
                      <a:srgbClr val="FFFFFC"/>
                    </a:solidFill>
                  </a:tcPr>
                </a:tc>
                <a:tc>
                  <a:txBody>
                    <a:bodyPr/>
                    <a:lstStyle/>
                    <a:p>
                      <a:pPr algn="ctr">
                        <a:defRPr sz="620" b="1">
                          <a:solidFill>
                            <a:srgbClr val="232624"/>
                          </a:solidFill>
                          <a:latin typeface="Aptos"/>
                        </a:defRPr>
                      </a:pPr>
                      <a:r>
                        <a:t>1.17</a:t>
                      </a:r>
                    </a:p>
                  </a:txBody>
                  <a:tcPr marL="18288" marR="18288" marT="9144" marB="9144">
                    <a:solidFill>
                      <a:srgbClr val="DEEFB1"/>
                    </a:solidFill>
                  </a:tcPr>
                </a:tc>
                <a:tc>
                  <a:txBody>
                    <a:bodyPr/>
                    <a:lstStyle/>
                    <a:p>
                      <a:pPr algn="ctr">
                        <a:defRPr sz="620" b="1">
                          <a:solidFill>
                            <a:srgbClr val="232624"/>
                          </a:solidFill>
                          <a:latin typeface="Aptos"/>
                        </a:defRPr>
                      </a:pPr>
                      <a:r>
                        <a:t>2.67</a:t>
                      </a:r>
                    </a:p>
                  </a:txBody>
                  <a:tcPr marL="18288" marR="18288" marT="9144" marB="9144">
                    <a:solidFill>
                      <a:srgbClr val="DEEFB1"/>
                    </a:solidFill>
                  </a:tcPr>
                </a:tc>
                <a:tc>
                  <a:txBody>
                    <a:bodyPr/>
                    <a:lstStyle/>
                    <a:p>
                      <a:pPr algn="ctr">
                        <a:defRPr sz="620" b="1">
                          <a:solidFill>
                            <a:srgbClr val="232624"/>
                          </a:solidFill>
                          <a:latin typeface="Aptos"/>
                        </a:defRPr>
                      </a:pPr>
                      <a:r>
                        <a:t>3.56</a:t>
                      </a:r>
                    </a:p>
                  </a:txBody>
                  <a:tcPr marL="18288" marR="18288" marT="9144" marB="9144">
                    <a:solidFill>
                      <a:srgbClr val="DEEFB1"/>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1.04</a:t>
                      </a:r>
                    </a:p>
                  </a:txBody>
                  <a:tcPr marL="18288" marR="18288" marT="9144" marB="9144">
                    <a:solidFill>
                      <a:srgbClr val="FFFFFC"/>
                    </a:solidFill>
                  </a:tcPr>
                </a:tc>
                <a:tc>
                  <a:txBody>
                    <a:bodyPr/>
                    <a:lstStyle/>
                    <a:p>
                      <a:pPr algn="ctr">
                        <a:defRPr sz="620" b="0">
                          <a:solidFill>
                            <a:srgbClr val="232624"/>
                          </a:solidFill>
                          <a:latin typeface="Aptos"/>
                        </a:defRPr>
                      </a:pPr>
                      <a:r>
                        <a:t>0.61</a:t>
                      </a:r>
                    </a:p>
                  </a:txBody>
                  <a:tcPr marL="18288" marR="18288" marT="9144" marB="9144">
                    <a:solidFill>
                      <a:srgbClr val="FFFFFC"/>
                    </a:solidFill>
                  </a:tcPr>
                </a:tc>
                <a:tc>
                  <a:txBody>
                    <a:bodyPr/>
                    <a:lstStyle/>
                    <a:p>
                      <a:pPr algn="ctr">
                        <a:defRPr sz="620" b="0">
                          <a:solidFill>
                            <a:srgbClr val="232624"/>
                          </a:solidFill>
                          <a:latin typeface="Aptos"/>
                        </a:defRPr>
                      </a:pPr>
                      <a:r>
                        <a:t>1.00</a:t>
                      </a:r>
                    </a:p>
                  </a:txBody>
                  <a:tcPr marL="18288" marR="18288" marT="9144" marB="9144">
                    <a:solidFill>
                      <a:srgbClr val="FFFFFC"/>
                    </a:solidFill>
                  </a:tcPr>
                </a:tc>
                <a:tc>
                  <a:txBody>
                    <a:bodyPr/>
                    <a:lstStyle/>
                    <a:p>
                      <a:pPr algn="ctr">
                        <a:defRPr sz="620" b="0">
                          <a:solidFill>
                            <a:srgbClr val="232624"/>
                          </a:solidFill>
                          <a:latin typeface="Aptos"/>
                        </a:defRPr>
                      </a:pPr>
                      <a:r>
                        <a:t>1.22</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0.89</a:t>
                      </a:r>
                    </a:p>
                  </a:txBody>
                  <a:tcPr marL="18288" marR="18288" marT="9144" marB="9144">
                    <a:solidFill>
                      <a:srgbClr val="FFFFFC"/>
                    </a:solidFill>
                  </a:tcPr>
                </a:tc>
                <a:tc>
                  <a:txBody>
                    <a:bodyPr/>
                    <a:lstStyle/>
                    <a:p>
                      <a:pPr algn="ctr">
                        <a:defRPr sz="620" b="0">
                          <a:solidFill>
                            <a:srgbClr val="232624"/>
                          </a:solidFill>
                          <a:latin typeface="Aptos"/>
                        </a:defRPr>
                      </a:pPr>
                      <a:r>
                        <a:t>0.44</a:t>
                      </a:r>
                    </a:p>
                  </a:txBody>
                  <a:tcPr marL="18288" marR="18288" marT="9144" marB="9144">
                    <a:solidFill>
                      <a:srgbClr val="FFFFFC"/>
                    </a:solidFill>
                  </a:tcPr>
                </a:tc>
                <a:tc>
                  <a:txBody>
                    <a:bodyPr/>
                    <a:lstStyle/>
                    <a:p>
                      <a:pPr algn="ctr">
                        <a:defRPr sz="620" b="0">
                          <a:solidFill>
                            <a:srgbClr val="232624"/>
                          </a:solidFill>
                          <a:latin typeface="Aptos"/>
                        </a:defRPr>
                      </a:pPr>
                      <a:r>
                        <a:t>2.33</a:t>
                      </a:r>
                    </a:p>
                  </a:txBody>
                  <a:tcPr marL="18288" marR="18288" marT="9144" marB="9144">
                    <a:solidFill>
                      <a:srgbClr val="FFFFFC"/>
                    </a:solidFill>
                  </a:tcPr>
                </a:tc>
                <a:tc>
                  <a:txBody>
                    <a:bodyPr/>
                    <a:lstStyle/>
                    <a:p>
                      <a:pPr algn="ctr">
                        <a:defRPr sz="620" b="0">
                          <a:solidFill>
                            <a:srgbClr val="232624"/>
                          </a:solidFill>
                          <a:latin typeface="Aptos"/>
                        </a:defRPr>
                      </a:pPr>
                      <a:r>
                        <a:t>2.67</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2.11</a:t>
                      </a:r>
                    </a:p>
                  </a:txBody>
                  <a:tcPr marL="18288" marR="18288" marT="9144" marB="9144">
                    <a:solidFill>
                      <a:srgbClr val="DEEFB1"/>
                    </a:solidFill>
                  </a:tcPr>
                </a:tc>
                <a:tc>
                  <a:txBody>
                    <a:bodyPr/>
                    <a:lstStyle/>
                    <a:p>
                      <a:pPr algn="ctr">
                        <a:defRPr sz="620" b="0">
                          <a:solidFill>
                            <a:srgbClr val="232624"/>
                          </a:solidFill>
                          <a:latin typeface="Aptos"/>
                        </a:defRPr>
                      </a:pPr>
                      <a:r>
                        <a:t>0.56</a:t>
                      </a:r>
                    </a:p>
                  </a:txBody>
                  <a:tcPr marL="18288" marR="18288" marT="9144" marB="9144">
                    <a:solidFill>
                      <a:srgbClr val="FFFFFC"/>
                    </a:solidFill>
                  </a:tcPr>
                </a:tc>
                <a:tc>
                  <a:txBody>
                    <a:bodyPr/>
                    <a:lstStyle/>
                    <a:p>
                      <a:pPr algn="ctr">
                        <a:defRPr sz="620" b="0">
                          <a:solidFill>
                            <a:srgbClr val="232624"/>
                          </a:solidFill>
                          <a:latin typeface="Aptos"/>
                        </a:defRPr>
                      </a:pPr>
                      <a:r>
                        <a:t>1.67</a:t>
                      </a:r>
                    </a:p>
                  </a:txBody>
                  <a:tcPr marL="18288" marR="18288" marT="9144" marB="9144">
                    <a:solidFill>
                      <a:srgbClr val="FFFFFC"/>
                    </a:solidFill>
                  </a:tcPr>
                </a:tc>
                <a:tc>
                  <a:txBody>
                    <a:bodyPr/>
                    <a:lstStyle/>
                    <a:p>
                      <a:pPr algn="ctr">
                        <a:defRPr sz="620" b="0">
                          <a:solidFill>
                            <a:srgbClr val="232624"/>
                          </a:solidFill>
                          <a:latin typeface="Aptos"/>
                        </a:defRPr>
                      </a:pPr>
                      <a:r>
                        <a:t>2.44</a:t>
                      </a:r>
                    </a:p>
                  </a:txBody>
                  <a:tcPr marL="18288" marR="18288" marT="9144" marB="9144">
                    <a:solidFill>
                      <a:srgbClr val="FFFF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Macro Average Results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Robustness means; highlighted cells are setup winners within each model and experiment.</a:t>
            </a:r>
          </a:p>
        </p:txBody>
      </p:sp>
      <p:sp>
        <p:nvSpPr>
          <p:cNvPr id="4" name="TextBox 3"/>
          <p:cNvSpPr txBox="1"/>
          <p:nvPr/>
        </p:nvSpPr>
        <p:spPr>
          <a:xfrm>
            <a:off x="411480" y="1051560"/>
            <a:ext cx="3337560" cy="201168"/>
          </a:xfrm>
          <a:prstGeom prst="rect">
            <a:avLst/>
          </a:prstGeom>
          <a:noFill/>
        </p:spPr>
        <p:txBody>
          <a:bodyPr wrap="none">
            <a:spAutoFit/>
          </a:bodyPr>
          <a:lstStyle/>
          <a:p>
            <a:pPr>
              <a:defRPr sz="900" b="1">
                <a:solidFill>
                  <a:srgbClr val="184E4B"/>
                </a:solidFill>
                <a:latin typeface="Aptos"/>
              </a:defRPr>
            </a:pPr>
            <a:r>
              <a:t>gpt-4.1</a:t>
            </a:r>
          </a:p>
        </p:txBody>
      </p:sp>
      <p:graphicFrame>
        <p:nvGraphicFramePr>
          <p:cNvPr id="5" name="Table 4"/>
          <p:cNvGraphicFramePr>
            <a:graphicFrameLocks noGrp="1"/>
          </p:cNvGraphicFramePr>
          <p:nvPr/>
        </p:nvGraphicFramePr>
        <p:xfrm>
          <a:off x="41148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2.78</a:t>
                      </a:r>
                    </a:p>
                  </a:txBody>
                  <a:tcPr marL="18288" marR="18288" marT="9144" marB="9144">
                    <a:solidFill>
                      <a:srgbClr val="FFFFFC"/>
                    </a:solidFill>
                  </a:tcPr>
                </a:tc>
                <a:tc>
                  <a:txBody>
                    <a:bodyPr/>
                    <a:lstStyle/>
                    <a:p>
                      <a:pPr algn="ctr">
                        <a:defRPr sz="620" b="0">
                          <a:solidFill>
                            <a:srgbClr val="232624"/>
                          </a:solidFill>
                          <a:latin typeface="Aptos"/>
                        </a:defRPr>
                      </a:pPr>
                      <a:r>
                        <a:t>2.33</a:t>
                      </a:r>
                    </a:p>
                  </a:txBody>
                  <a:tcPr marL="18288" marR="18288" marT="9144" marB="9144">
                    <a:solidFill>
                      <a:srgbClr val="FFFFFC"/>
                    </a:solidFill>
                  </a:tcPr>
                </a:tc>
                <a:tc>
                  <a:txBody>
                    <a:bodyPr/>
                    <a:lstStyle/>
                    <a:p>
                      <a:pPr algn="ctr">
                        <a:defRPr sz="620" b="0">
                          <a:solidFill>
                            <a:srgbClr val="232624"/>
                          </a:solidFill>
                          <a:latin typeface="Aptos"/>
                        </a:defRPr>
                      </a:pPr>
                      <a:r>
                        <a:t>3.00</a:t>
                      </a:r>
                    </a:p>
                  </a:txBody>
                  <a:tcPr marL="18288" marR="18288" marT="9144" marB="9144">
                    <a:solidFill>
                      <a:srgbClr val="FFFFFC"/>
                    </a:solidFill>
                  </a:tcPr>
                </a:tc>
                <a:tc>
                  <a:txBody>
                    <a:bodyPr/>
                    <a:lstStyle/>
                    <a:p>
                      <a:pPr algn="ctr">
                        <a:defRPr sz="620" b="0">
                          <a:solidFill>
                            <a:srgbClr val="232624"/>
                          </a:solidFill>
                          <a:latin typeface="Aptos"/>
                        </a:defRPr>
                      </a:pPr>
                      <a:r>
                        <a:t>3.83</a:t>
                      </a:r>
                    </a:p>
                  </a:txBody>
                  <a:tcPr marL="18288" marR="18288" marT="9144" marB="9144">
                    <a:solidFill>
                      <a:srgbClr val="FFFFFC"/>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2.80</a:t>
                      </a:r>
                    </a:p>
                  </a:txBody>
                  <a:tcPr marL="18288" marR="18288" marT="9144" marB="9144">
                    <a:solidFill>
                      <a:srgbClr val="FFFFFC"/>
                    </a:solidFill>
                  </a:tcPr>
                </a:tc>
                <a:tc>
                  <a:txBody>
                    <a:bodyPr/>
                    <a:lstStyle/>
                    <a:p>
                      <a:pPr algn="ctr">
                        <a:defRPr sz="620" b="0">
                          <a:solidFill>
                            <a:srgbClr val="232624"/>
                          </a:solidFill>
                          <a:latin typeface="Aptos"/>
                        </a:defRPr>
                      </a:pPr>
                      <a:r>
                        <a:t>2.33</a:t>
                      </a:r>
                    </a:p>
                  </a:txBody>
                  <a:tcPr marL="18288" marR="18288" marT="9144" marB="9144">
                    <a:solidFill>
                      <a:srgbClr val="FFFFFC"/>
                    </a:solidFill>
                  </a:tcPr>
                </a:tc>
                <a:tc>
                  <a:txBody>
                    <a:bodyPr/>
                    <a:lstStyle/>
                    <a:p>
                      <a:pPr algn="ctr">
                        <a:defRPr sz="620" b="0">
                          <a:solidFill>
                            <a:srgbClr val="232624"/>
                          </a:solidFill>
                          <a:latin typeface="Aptos"/>
                        </a:defRPr>
                      </a:pPr>
                      <a:r>
                        <a:t>1.89</a:t>
                      </a:r>
                    </a:p>
                  </a:txBody>
                  <a:tcPr marL="18288" marR="18288" marT="9144" marB="9144">
                    <a:solidFill>
                      <a:srgbClr val="FFFFFC"/>
                    </a:solidFill>
                  </a:tcPr>
                </a:tc>
                <a:tc>
                  <a:txBody>
                    <a:bodyPr/>
                    <a:lstStyle/>
                    <a:p>
                      <a:pPr algn="ctr">
                        <a:defRPr sz="620" b="0">
                          <a:solidFill>
                            <a:srgbClr val="232624"/>
                          </a:solidFill>
                          <a:latin typeface="Aptos"/>
                        </a:defRPr>
                      </a:pPr>
                      <a:r>
                        <a:t>2.67</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2.70</a:t>
                      </a:r>
                    </a:p>
                  </a:txBody>
                  <a:tcPr marL="18288" marR="18288" marT="9144" marB="9144">
                    <a:solidFill>
                      <a:srgbClr val="FFFFFC"/>
                    </a:solidFill>
                  </a:tcPr>
                </a:tc>
                <a:tc>
                  <a:txBody>
                    <a:bodyPr/>
                    <a:lstStyle/>
                    <a:p>
                      <a:pPr algn="ctr">
                        <a:defRPr sz="620" b="0">
                          <a:solidFill>
                            <a:srgbClr val="232624"/>
                          </a:solidFill>
                          <a:latin typeface="Aptos"/>
                        </a:defRPr>
                      </a:pPr>
                      <a:r>
                        <a:t>2.42</a:t>
                      </a:r>
                    </a:p>
                  </a:txBody>
                  <a:tcPr marL="18288" marR="18288" marT="9144" marB="9144">
                    <a:solidFill>
                      <a:srgbClr val="FFFFFC"/>
                    </a:solidFill>
                  </a:tcPr>
                </a:tc>
                <a:tc>
                  <a:txBody>
                    <a:bodyPr/>
                    <a:lstStyle/>
                    <a:p>
                      <a:pPr algn="ctr">
                        <a:defRPr sz="620" b="0">
                          <a:solidFill>
                            <a:srgbClr val="232624"/>
                          </a:solidFill>
                          <a:latin typeface="Aptos"/>
                        </a:defRPr>
                      </a:pPr>
                      <a:r>
                        <a:t>2.72</a:t>
                      </a:r>
                    </a:p>
                  </a:txBody>
                  <a:tcPr marL="18288" marR="18288" marT="9144" marB="9144">
                    <a:solidFill>
                      <a:srgbClr val="FFFFFC"/>
                    </a:solidFill>
                  </a:tcPr>
                </a:tc>
                <a:tc>
                  <a:txBody>
                    <a:bodyPr/>
                    <a:lstStyle/>
                    <a:p>
                      <a:pPr algn="ctr">
                        <a:defRPr sz="620" b="0">
                          <a:solidFill>
                            <a:srgbClr val="232624"/>
                          </a:solidFill>
                          <a:latin typeface="Aptos"/>
                        </a:defRPr>
                      </a:pPr>
                      <a:r>
                        <a:t>3.39</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3.07</a:t>
                      </a:r>
                    </a:p>
                  </a:txBody>
                  <a:tcPr marL="18288" marR="18288" marT="9144" marB="9144">
                    <a:solidFill>
                      <a:srgbClr val="DEEFB1"/>
                    </a:solidFill>
                  </a:tcPr>
                </a:tc>
                <a:tc>
                  <a:txBody>
                    <a:bodyPr/>
                    <a:lstStyle/>
                    <a:p>
                      <a:pPr algn="ctr">
                        <a:defRPr sz="620" b="1">
                          <a:solidFill>
                            <a:srgbClr val="232624"/>
                          </a:solidFill>
                          <a:latin typeface="Aptos"/>
                        </a:defRPr>
                      </a:pPr>
                      <a:r>
                        <a:t>2.78</a:t>
                      </a:r>
                    </a:p>
                  </a:txBody>
                  <a:tcPr marL="18288" marR="18288" marT="9144" marB="9144">
                    <a:solidFill>
                      <a:srgbClr val="DEEFB1"/>
                    </a:solidFill>
                  </a:tcPr>
                </a:tc>
                <a:tc>
                  <a:txBody>
                    <a:bodyPr/>
                    <a:lstStyle/>
                    <a:p>
                      <a:pPr algn="ctr">
                        <a:defRPr sz="620" b="1">
                          <a:solidFill>
                            <a:srgbClr val="232624"/>
                          </a:solidFill>
                          <a:latin typeface="Aptos"/>
                        </a:defRPr>
                      </a:pPr>
                      <a:r>
                        <a:t>3.17</a:t>
                      </a:r>
                    </a:p>
                  </a:txBody>
                  <a:tcPr marL="18288" marR="18288" marT="9144" marB="9144">
                    <a:solidFill>
                      <a:srgbClr val="DEEFB1"/>
                    </a:solidFill>
                  </a:tcPr>
                </a:tc>
                <a:tc>
                  <a:txBody>
                    <a:bodyPr/>
                    <a:lstStyle/>
                    <a:p>
                      <a:pPr algn="ctr">
                        <a:defRPr sz="620" b="1">
                          <a:solidFill>
                            <a:srgbClr val="232624"/>
                          </a:solidFill>
                          <a:latin typeface="Aptos"/>
                        </a:defRPr>
                      </a:pPr>
                      <a:r>
                        <a:t>3.89</a:t>
                      </a:r>
                    </a:p>
                  </a:txBody>
                  <a:tcPr marL="18288" marR="18288" marT="9144" marB="9144">
                    <a:solidFill>
                      <a:srgbClr val="DEEFB1"/>
                    </a:solidFill>
                  </a:tcPr>
                </a:tc>
              </a:tr>
            </a:tbl>
          </a:graphicData>
        </a:graphic>
      </p:graphicFrame>
      <p:sp>
        <p:nvSpPr>
          <p:cNvPr id="6" name="TextBox 5"/>
          <p:cNvSpPr txBox="1"/>
          <p:nvPr/>
        </p:nvSpPr>
        <p:spPr>
          <a:xfrm>
            <a:off x="4343400" y="1051560"/>
            <a:ext cx="3337560" cy="201168"/>
          </a:xfrm>
          <a:prstGeom prst="rect">
            <a:avLst/>
          </a:prstGeom>
          <a:noFill/>
        </p:spPr>
        <p:txBody>
          <a:bodyPr wrap="none">
            <a:spAutoFit/>
          </a:bodyPr>
          <a:lstStyle/>
          <a:p>
            <a:pPr>
              <a:defRPr sz="900" b="1">
                <a:solidFill>
                  <a:srgbClr val="184E4B"/>
                </a:solidFill>
                <a:latin typeface="Aptos"/>
              </a:defRPr>
            </a:pPr>
            <a:r>
              <a:t>gpt-oss-high</a:t>
            </a:r>
          </a:p>
        </p:txBody>
      </p:sp>
      <p:graphicFrame>
        <p:nvGraphicFramePr>
          <p:cNvPr id="7" name="Table 6"/>
          <p:cNvGraphicFramePr>
            <a:graphicFrameLocks noGrp="1"/>
          </p:cNvGraphicFramePr>
          <p:nvPr/>
        </p:nvGraphicFramePr>
        <p:xfrm>
          <a:off x="434340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2.17</a:t>
                      </a:r>
                    </a:p>
                  </a:txBody>
                  <a:tcPr marL="18288" marR="18288" marT="9144" marB="9144">
                    <a:solidFill>
                      <a:srgbClr val="FFFFFC"/>
                    </a:solidFill>
                  </a:tcPr>
                </a:tc>
                <a:tc>
                  <a:txBody>
                    <a:bodyPr/>
                    <a:lstStyle/>
                    <a:p>
                      <a:pPr algn="ctr">
                        <a:defRPr sz="620" b="0">
                          <a:solidFill>
                            <a:srgbClr val="232624"/>
                          </a:solidFill>
                          <a:latin typeface="Aptos"/>
                        </a:defRPr>
                      </a:pPr>
                      <a:r>
                        <a:t>1.97</a:t>
                      </a:r>
                    </a:p>
                  </a:txBody>
                  <a:tcPr marL="18288" marR="18288" marT="9144" marB="9144">
                    <a:solidFill>
                      <a:srgbClr val="FFFFFC"/>
                    </a:solidFill>
                  </a:tcPr>
                </a:tc>
                <a:tc>
                  <a:txBody>
                    <a:bodyPr/>
                    <a:lstStyle/>
                    <a:p>
                      <a:pPr algn="ctr">
                        <a:defRPr sz="620" b="0">
                          <a:solidFill>
                            <a:srgbClr val="232624"/>
                          </a:solidFill>
                          <a:latin typeface="Aptos"/>
                        </a:defRPr>
                      </a:pPr>
                      <a:r>
                        <a:t>2.39</a:t>
                      </a:r>
                    </a:p>
                  </a:txBody>
                  <a:tcPr marL="18288" marR="18288" marT="9144" marB="9144">
                    <a:solidFill>
                      <a:srgbClr val="FFFFFC"/>
                    </a:solidFill>
                  </a:tcPr>
                </a:tc>
                <a:tc>
                  <a:txBody>
                    <a:bodyPr/>
                    <a:lstStyle/>
                    <a:p>
                      <a:pPr algn="ctr">
                        <a:defRPr sz="620" b="0">
                          <a:solidFill>
                            <a:srgbClr val="232624"/>
                          </a:solidFill>
                          <a:latin typeface="Aptos"/>
                        </a:defRPr>
                      </a:pPr>
                      <a:r>
                        <a:t>2.61</a:t>
                      </a:r>
                    </a:p>
                  </a:txBody>
                  <a:tcPr marL="18288" marR="18288" marT="9144" marB="9144">
                    <a:solidFill>
                      <a:srgbClr val="FFFFFC"/>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2.17</a:t>
                      </a:r>
                    </a:p>
                  </a:txBody>
                  <a:tcPr marL="18288" marR="18288" marT="9144" marB="9144">
                    <a:solidFill>
                      <a:srgbClr val="FFFFFC"/>
                    </a:solidFill>
                  </a:tcPr>
                </a:tc>
                <a:tc>
                  <a:txBody>
                    <a:bodyPr/>
                    <a:lstStyle/>
                    <a:p>
                      <a:pPr algn="ctr">
                        <a:defRPr sz="620" b="1">
                          <a:solidFill>
                            <a:srgbClr val="232624"/>
                          </a:solidFill>
                          <a:latin typeface="Aptos"/>
                        </a:defRPr>
                      </a:pPr>
                      <a:r>
                        <a:t>2.03</a:t>
                      </a:r>
                    </a:p>
                  </a:txBody>
                  <a:tcPr marL="18288" marR="18288" marT="9144" marB="9144">
                    <a:solidFill>
                      <a:srgbClr val="DEEFB1"/>
                    </a:solidFill>
                  </a:tcPr>
                </a:tc>
                <a:tc>
                  <a:txBody>
                    <a:bodyPr/>
                    <a:lstStyle/>
                    <a:p>
                      <a:pPr algn="ctr">
                        <a:defRPr sz="620" b="0">
                          <a:solidFill>
                            <a:srgbClr val="232624"/>
                          </a:solidFill>
                          <a:latin typeface="Aptos"/>
                        </a:defRPr>
                      </a:pPr>
                      <a:r>
                        <a:t>2.44</a:t>
                      </a:r>
                    </a:p>
                  </a:txBody>
                  <a:tcPr marL="18288" marR="18288" marT="9144" marB="9144">
                    <a:solidFill>
                      <a:srgbClr val="FFFFFC"/>
                    </a:solidFill>
                  </a:tcPr>
                </a:tc>
                <a:tc>
                  <a:txBody>
                    <a:bodyPr/>
                    <a:lstStyle/>
                    <a:p>
                      <a:pPr algn="ctr">
                        <a:defRPr sz="620" b="0">
                          <a:solidFill>
                            <a:srgbClr val="232624"/>
                          </a:solidFill>
                          <a:latin typeface="Aptos"/>
                        </a:defRPr>
                      </a:pPr>
                      <a:r>
                        <a:t>2.83</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2.33</a:t>
                      </a:r>
                    </a:p>
                  </a:txBody>
                  <a:tcPr marL="18288" marR="18288" marT="9144" marB="9144">
                    <a:solidFill>
                      <a:srgbClr val="FFFFFC"/>
                    </a:solidFill>
                  </a:tcPr>
                </a:tc>
                <a:tc>
                  <a:txBody>
                    <a:bodyPr/>
                    <a:lstStyle/>
                    <a:p>
                      <a:pPr algn="ctr">
                        <a:defRPr sz="620" b="0">
                          <a:solidFill>
                            <a:srgbClr val="232624"/>
                          </a:solidFill>
                          <a:latin typeface="Aptos"/>
                        </a:defRPr>
                      </a:pPr>
                      <a:r>
                        <a:t>1.92</a:t>
                      </a:r>
                    </a:p>
                  </a:txBody>
                  <a:tcPr marL="18288" marR="18288" marT="9144" marB="9144">
                    <a:solidFill>
                      <a:srgbClr val="FFFFFC"/>
                    </a:solidFill>
                  </a:tcPr>
                </a:tc>
                <a:tc>
                  <a:txBody>
                    <a:bodyPr/>
                    <a:lstStyle/>
                    <a:p>
                      <a:pPr algn="ctr">
                        <a:defRPr sz="620" b="0">
                          <a:solidFill>
                            <a:srgbClr val="232624"/>
                          </a:solidFill>
                          <a:latin typeface="Aptos"/>
                        </a:defRPr>
                      </a:pPr>
                      <a:r>
                        <a:t>2.50</a:t>
                      </a:r>
                    </a:p>
                  </a:txBody>
                  <a:tcPr marL="18288" marR="18288" marT="9144" marB="9144">
                    <a:solidFill>
                      <a:srgbClr val="FFFFFC"/>
                    </a:solidFill>
                  </a:tcPr>
                </a:tc>
                <a:tc>
                  <a:txBody>
                    <a:bodyPr/>
                    <a:lstStyle/>
                    <a:p>
                      <a:pPr algn="ctr">
                        <a:defRPr sz="620" b="0">
                          <a:solidFill>
                            <a:srgbClr val="232624"/>
                          </a:solidFill>
                          <a:latin typeface="Aptos"/>
                        </a:defRPr>
                      </a:pPr>
                      <a:r>
                        <a:t>2.61</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2.93</a:t>
                      </a:r>
                    </a:p>
                  </a:txBody>
                  <a:tcPr marL="18288" marR="18288" marT="9144" marB="9144">
                    <a:solidFill>
                      <a:srgbClr val="DEEFB1"/>
                    </a:solidFill>
                  </a:tcPr>
                </a:tc>
                <a:tc>
                  <a:txBody>
                    <a:bodyPr/>
                    <a:lstStyle/>
                    <a:p>
                      <a:pPr algn="ctr">
                        <a:defRPr sz="620" b="0">
                          <a:solidFill>
                            <a:srgbClr val="232624"/>
                          </a:solidFill>
                          <a:latin typeface="Aptos"/>
                        </a:defRPr>
                      </a:pPr>
                      <a:r>
                        <a:t>1.92</a:t>
                      </a:r>
                    </a:p>
                  </a:txBody>
                  <a:tcPr marL="18288" marR="18288" marT="9144" marB="9144">
                    <a:solidFill>
                      <a:srgbClr val="FFFFFC"/>
                    </a:solidFill>
                  </a:tcPr>
                </a:tc>
                <a:tc>
                  <a:txBody>
                    <a:bodyPr/>
                    <a:lstStyle/>
                    <a:p>
                      <a:pPr algn="ctr">
                        <a:defRPr sz="620" b="1">
                          <a:solidFill>
                            <a:srgbClr val="232624"/>
                          </a:solidFill>
                          <a:latin typeface="Aptos"/>
                        </a:defRPr>
                      </a:pPr>
                      <a:r>
                        <a:t>2.94</a:t>
                      </a:r>
                    </a:p>
                  </a:txBody>
                  <a:tcPr marL="18288" marR="18288" marT="9144" marB="9144">
                    <a:solidFill>
                      <a:srgbClr val="DEEFB1"/>
                    </a:solidFill>
                  </a:tcPr>
                </a:tc>
                <a:tc>
                  <a:txBody>
                    <a:bodyPr/>
                    <a:lstStyle/>
                    <a:p>
                      <a:pPr algn="ctr">
                        <a:defRPr sz="620" b="1">
                          <a:solidFill>
                            <a:srgbClr val="232624"/>
                          </a:solidFill>
                          <a:latin typeface="Aptos"/>
                        </a:defRPr>
                      </a:pPr>
                      <a:r>
                        <a:t>3.44</a:t>
                      </a:r>
                    </a:p>
                  </a:txBody>
                  <a:tcPr marL="18288" marR="18288" marT="9144" marB="9144">
                    <a:solidFill>
                      <a:srgbClr val="DEEFB1"/>
                    </a:solidFill>
                  </a:tcPr>
                </a:tc>
              </a:tr>
            </a:tbl>
          </a:graphicData>
        </a:graphic>
      </p:graphicFrame>
      <p:sp>
        <p:nvSpPr>
          <p:cNvPr id="8" name="TextBox 7"/>
          <p:cNvSpPr txBox="1"/>
          <p:nvPr/>
        </p:nvSpPr>
        <p:spPr>
          <a:xfrm>
            <a:off x="8275320" y="1051560"/>
            <a:ext cx="3337560" cy="201168"/>
          </a:xfrm>
          <a:prstGeom prst="rect">
            <a:avLst/>
          </a:prstGeom>
          <a:noFill/>
        </p:spPr>
        <p:txBody>
          <a:bodyPr wrap="none">
            <a:spAutoFit/>
          </a:bodyPr>
          <a:lstStyle/>
          <a:p>
            <a:pPr>
              <a:defRPr sz="900" b="1">
                <a:solidFill>
                  <a:srgbClr val="184E4B"/>
                </a:solidFill>
                <a:latin typeface="Aptos"/>
              </a:defRPr>
            </a:pPr>
            <a:r>
              <a:t>gpt-oss-medium</a:t>
            </a:r>
          </a:p>
        </p:txBody>
      </p:sp>
      <p:graphicFrame>
        <p:nvGraphicFramePr>
          <p:cNvPr id="9" name="Table 8"/>
          <p:cNvGraphicFramePr>
            <a:graphicFrameLocks noGrp="1"/>
          </p:cNvGraphicFramePr>
          <p:nvPr/>
        </p:nvGraphicFramePr>
        <p:xfrm>
          <a:off x="8275320" y="1280160"/>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2.10</a:t>
                      </a:r>
                    </a:p>
                  </a:txBody>
                  <a:tcPr marL="18288" marR="18288" marT="9144" marB="9144">
                    <a:solidFill>
                      <a:srgbClr val="FFFFFC"/>
                    </a:solidFill>
                  </a:tcPr>
                </a:tc>
                <a:tc>
                  <a:txBody>
                    <a:bodyPr/>
                    <a:lstStyle/>
                    <a:p>
                      <a:pPr algn="ctr">
                        <a:defRPr sz="620" b="0">
                          <a:solidFill>
                            <a:srgbClr val="232624"/>
                          </a:solidFill>
                          <a:latin typeface="Aptos"/>
                        </a:defRPr>
                      </a:pPr>
                      <a:r>
                        <a:t>1.83</a:t>
                      </a:r>
                    </a:p>
                  </a:txBody>
                  <a:tcPr marL="18288" marR="18288" marT="9144" marB="9144">
                    <a:solidFill>
                      <a:srgbClr val="FFFFFC"/>
                    </a:solidFill>
                  </a:tcPr>
                </a:tc>
                <a:tc>
                  <a:txBody>
                    <a:bodyPr/>
                    <a:lstStyle/>
                    <a:p>
                      <a:pPr algn="ctr">
                        <a:defRPr sz="620" b="0">
                          <a:solidFill>
                            <a:srgbClr val="232624"/>
                          </a:solidFill>
                          <a:latin typeface="Aptos"/>
                        </a:defRPr>
                      </a:pPr>
                      <a:r>
                        <a:t>1.78</a:t>
                      </a:r>
                    </a:p>
                  </a:txBody>
                  <a:tcPr marL="18288" marR="18288" marT="9144" marB="9144">
                    <a:solidFill>
                      <a:srgbClr val="FFFFFC"/>
                    </a:solidFill>
                  </a:tcPr>
                </a:tc>
                <a:tc>
                  <a:txBody>
                    <a:bodyPr/>
                    <a:lstStyle/>
                    <a:p>
                      <a:pPr algn="ctr">
                        <a:defRPr sz="620" b="0">
                          <a:solidFill>
                            <a:srgbClr val="232624"/>
                          </a:solidFill>
                          <a:latin typeface="Aptos"/>
                        </a:defRPr>
                      </a:pPr>
                      <a:r>
                        <a:t>2.22</a:t>
                      </a:r>
                    </a:p>
                  </a:txBody>
                  <a:tcPr marL="18288" marR="18288" marT="9144" marB="9144">
                    <a:solidFill>
                      <a:srgbClr val="FFFFFC"/>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1.74</a:t>
                      </a:r>
                    </a:p>
                  </a:txBody>
                  <a:tcPr marL="18288" marR="18288" marT="9144" marB="9144">
                    <a:solidFill>
                      <a:srgbClr val="FFFFFC"/>
                    </a:solidFill>
                  </a:tcPr>
                </a:tc>
                <a:tc>
                  <a:txBody>
                    <a:bodyPr/>
                    <a:lstStyle/>
                    <a:p>
                      <a:pPr algn="ctr">
                        <a:defRPr sz="620" b="0">
                          <a:solidFill>
                            <a:srgbClr val="232624"/>
                          </a:solidFill>
                          <a:latin typeface="Aptos"/>
                        </a:defRPr>
                      </a:pPr>
                      <a:r>
                        <a:t>2.08</a:t>
                      </a:r>
                    </a:p>
                  </a:txBody>
                  <a:tcPr marL="18288" marR="18288" marT="9144" marB="9144">
                    <a:solidFill>
                      <a:srgbClr val="FFFFFC"/>
                    </a:solidFill>
                  </a:tcPr>
                </a:tc>
                <a:tc>
                  <a:txBody>
                    <a:bodyPr/>
                    <a:lstStyle/>
                    <a:p>
                      <a:pPr algn="ctr">
                        <a:defRPr sz="620" b="0">
                          <a:solidFill>
                            <a:srgbClr val="232624"/>
                          </a:solidFill>
                          <a:latin typeface="Aptos"/>
                        </a:defRPr>
                      </a:pPr>
                      <a:r>
                        <a:t>1.22</a:t>
                      </a:r>
                    </a:p>
                  </a:txBody>
                  <a:tcPr marL="18288" marR="18288" marT="9144" marB="9144">
                    <a:solidFill>
                      <a:srgbClr val="FFFFFC"/>
                    </a:solidFill>
                  </a:tcPr>
                </a:tc>
                <a:tc>
                  <a:txBody>
                    <a:bodyPr/>
                    <a:lstStyle/>
                    <a:p>
                      <a:pPr algn="ctr">
                        <a:defRPr sz="620" b="0">
                          <a:solidFill>
                            <a:srgbClr val="232624"/>
                          </a:solidFill>
                          <a:latin typeface="Aptos"/>
                        </a:defRPr>
                      </a:pPr>
                      <a:r>
                        <a:t>1.78</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1.91</a:t>
                      </a:r>
                    </a:p>
                  </a:txBody>
                  <a:tcPr marL="18288" marR="18288" marT="9144" marB="9144">
                    <a:solidFill>
                      <a:srgbClr val="FFFFFC"/>
                    </a:solidFill>
                  </a:tcPr>
                </a:tc>
                <a:tc>
                  <a:txBody>
                    <a:bodyPr/>
                    <a:lstStyle/>
                    <a:p>
                      <a:pPr algn="ctr">
                        <a:defRPr sz="620" b="1">
                          <a:solidFill>
                            <a:srgbClr val="232624"/>
                          </a:solidFill>
                          <a:latin typeface="Aptos"/>
                        </a:defRPr>
                      </a:pPr>
                      <a:r>
                        <a:t>2.11</a:t>
                      </a:r>
                    </a:p>
                  </a:txBody>
                  <a:tcPr marL="18288" marR="18288" marT="9144" marB="9144">
                    <a:solidFill>
                      <a:srgbClr val="DEEFB1"/>
                    </a:solidFill>
                  </a:tcPr>
                </a:tc>
                <a:tc>
                  <a:txBody>
                    <a:bodyPr/>
                    <a:lstStyle/>
                    <a:p>
                      <a:pPr algn="ctr">
                        <a:defRPr sz="620" b="0">
                          <a:solidFill>
                            <a:srgbClr val="232624"/>
                          </a:solidFill>
                          <a:latin typeface="Aptos"/>
                        </a:defRPr>
                      </a:pPr>
                      <a:r>
                        <a:t>1.33</a:t>
                      </a:r>
                    </a:p>
                  </a:txBody>
                  <a:tcPr marL="18288" marR="18288" marT="9144" marB="9144">
                    <a:solidFill>
                      <a:srgbClr val="FFFFFC"/>
                    </a:solidFill>
                  </a:tcPr>
                </a:tc>
                <a:tc>
                  <a:txBody>
                    <a:bodyPr/>
                    <a:lstStyle/>
                    <a:p>
                      <a:pPr algn="ctr">
                        <a:defRPr sz="620" b="0">
                          <a:solidFill>
                            <a:srgbClr val="232624"/>
                          </a:solidFill>
                          <a:latin typeface="Aptos"/>
                        </a:defRPr>
                      </a:pPr>
                      <a:r>
                        <a:t>1.83</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2.61</a:t>
                      </a:r>
                    </a:p>
                  </a:txBody>
                  <a:tcPr marL="18288" marR="18288" marT="9144" marB="9144">
                    <a:solidFill>
                      <a:srgbClr val="DEEFB1"/>
                    </a:solidFill>
                  </a:tcPr>
                </a:tc>
                <a:tc>
                  <a:txBody>
                    <a:bodyPr/>
                    <a:lstStyle/>
                    <a:p>
                      <a:pPr algn="ctr">
                        <a:defRPr sz="620" b="0">
                          <a:solidFill>
                            <a:srgbClr val="232624"/>
                          </a:solidFill>
                          <a:latin typeface="Aptos"/>
                        </a:defRPr>
                      </a:pPr>
                      <a:r>
                        <a:t>1.75</a:t>
                      </a:r>
                    </a:p>
                  </a:txBody>
                  <a:tcPr marL="18288" marR="18288" marT="9144" marB="9144">
                    <a:solidFill>
                      <a:srgbClr val="FFFFFC"/>
                    </a:solidFill>
                  </a:tcPr>
                </a:tc>
                <a:tc>
                  <a:txBody>
                    <a:bodyPr/>
                    <a:lstStyle/>
                    <a:p>
                      <a:pPr algn="ctr">
                        <a:defRPr sz="620" b="1">
                          <a:solidFill>
                            <a:srgbClr val="232624"/>
                          </a:solidFill>
                          <a:latin typeface="Aptos"/>
                        </a:defRPr>
                      </a:pPr>
                      <a:r>
                        <a:t>3.11</a:t>
                      </a:r>
                    </a:p>
                  </a:txBody>
                  <a:tcPr marL="18288" marR="18288" marT="9144" marB="9144">
                    <a:solidFill>
                      <a:srgbClr val="DEEFB1"/>
                    </a:solidFill>
                  </a:tcPr>
                </a:tc>
                <a:tc>
                  <a:txBody>
                    <a:bodyPr/>
                    <a:lstStyle/>
                    <a:p>
                      <a:pPr algn="ctr">
                        <a:defRPr sz="620" b="1">
                          <a:solidFill>
                            <a:srgbClr val="232624"/>
                          </a:solidFill>
                          <a:latin typeface="Aptos"/>
                        </a:defRPr>
                      </a:pPr>
                      <a:r>
                        <a:t>3.50</a:t>
                      </a:r>
                    </a:p>
                  </a:txBody>
                  <a:tcPr marL="18288" marR="18288" marT="9144" marB="9144">
                    <a:solidFill>
                      <a:srgbClr val="DEEFB1"/>
                    </a:solidFill>
                  </a:tcPr>
                </a:tc>
              </a:tr>
            </a:tbl>
          </a:graphicData>
        </a:graphic>
      </p:graphicFrame>
      <p:sp>
        <p:nvSpPr>
          <p:cNvPr id="10" name="TextBox 9"/>
          <p:cNvSpPr txBox="1"/>
          <p:nvPr/>
        </p:nvSpPr>
        <p:spPr>
          <a:xfrm>
            <a:off x="2331720" y="3749039"/>
            <a:ext cx="3337560" cy="201168"/>
          </a:xfrm>
          <a:prstGeom prst="rect">
            <a:avLst/>
          </a:prstGeom>
          <a:noFill/>
        </p:spPr>
        <p:txBody>
          <a:bodyPr wrap="none">
            <a:spAutoFit/>
          </a:bodyPr>
          <a:lstStyle/>
          <a:p>
            <a:pPr>
              <a:defRPr sz="900" b="1">
                <a:solidFill>
                  <a:srgbClr val="184E4B"/>
                </a:solidFill>
                <a:latin typeface="Aptos"/>
              </a:defRPr>
            </a:pPr>
            <a:r>
              <a:t>qwen3-32B non-reasoning</a:t>
            </a:r>
          </a:p>
        </p:txBody>
      </p:sp>
      <p:graphicFrame>
        <p:nvGraphicFramePr>
          <p:cNvPr id="11" name="Table 10"/>
          <p:cNvGraphicFramePr>
            <a:graphicFrameLocks noGrp="1"/>
          </p:cNvGraphicFramePr>
          <p:nvPr/>
        </p:nvGraphicFramePr>
        <p:xfrm>
          <a:off x="2331720" y="3977639"/>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1.52</a:t>
                      </a:r>
                    </a:p>
                  </a:txBody>
                  <a:tcPr marL="18288" marR="18288" marT="9144" marB="9144">
                    <a:solidFill>
                      <a:srgbClr val="FFFFFC"/>
                    </a:solidFill>
                  </a:tcPr>
                </a:tc>
                <a:tc>
                  <a:txBody>
                    <a:bodyPr/>
                    <a:lstStyle/>
                    <a:p>
                      <a:pPr algn="ctr">
                        <a:defRPr sz="620" b="0">
                          <a:solidFill>
                            <a:srgbClr val="232624"/>
                          </a:solidFill>
                          <a:latin typeface="Aptos"/>
                        </a:defRPr>
                      </a:pPr>
                      <a:r>
                        <a:t>1.44</a:t>
                      </a:r>
                    </a:p>
                  </a:txBody>
                  <a:tcPr marL="18288" marR="18288" marT="9144" marB="9144">
                    <a:solidFill>
                      <a:srgbClr val="FFFFFC"/>
                    </a:solidFill>
                  </a:tcPr>
                </a:tc>
                <a:tc>
                  <a:txBody>
                    <a:bodyPr/>
                    <a:lstStyle/>
                    <a:p>
                      <a:pPr algn="ctr">
                        <a:defRPr sz="620" b="1">
                          <a:solidFill>
                            <a:srgbClr val="232624"/>
                          </a:solidFill>
                          <a:latin typeface="Aptos"/>
                        </a:defRPr>
                      </a:pPr>
                      <a:r>
                        <a:t>2.89</a:t>
                      </a:r>
                    </a:p>
                  </a:txBody>
                  <a:tcPr marL="18288" marR="18288" marT="9144" marB="9144">
                    <a:solidFill>
                      <a:srgbClr val="DEEFB1"/>
                    </a:solidFill>
                  </a:tcPr>
                </a:tc>
                <a:tc>
                  <a:txBody>
                    <a:bodyPr/>
                    <a:lstStyle/>
                    <a:p>
                      <a:pPr algn="ctr">
                        <a:defRPr sz="620" b="1">
                          <a:solidFill>
                            <a:srgbClr val="232624"/>
                          </a:solidFill>
                          <a:latin typeface="Aptos"/>
                        </a:defRPr>
                      </a:pPr>
                      <a:r>
                        <a:t>3.61</a:t>
                      </a:r>
                    </a:p>
                  </a:txBody>
                  <a:tcPr marL="18288" marR="18288" marT="9144" marB="9144">
                    <a:solidFill>
                      <a:srgbClr val="DEEFB1"/>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1.69</a:t>
                      </a:r>
                    </a:p>
                  </a:txBody>
                  <a:tcPr marL="18288" marR="18288" marT="9144" marB="9144">
                    <a:solidFill>
                      <a:srgbClr val="FFFFFC"/>
                    </a:solidFill>
                  </a:tcPr>
                </a:tc>
                <a:tc>
                  <a:txBody>
                    <a:bodyPr/>
                    <a:lstStyle/>
                    <a:p>
                      <a:pPr algn="ctr">
                        <a:defRPr sz="620" b="0">
                          <a:solidFill>
                            <a:srgbClr val="232624"/>
                          </a:solidFill>
                          <a:latin typeface="Aptos"/>
                        </a:defRPr>
                      </a:pPr>
                      <a:r>
                        <a:t>0.89</a:t>
                      </a:r>
                    </a:p>
                  </a:txBody>
                  <a:tcPr marL="18288" marR="18288" marT="9144" marB="9144">
                    <a:solidFill>
                      <a:srgbClr val="FFFFFC"/>
                    </a:solidFill>
                  </a:tcPr>
                </a:tc>
                <a:tc>
                  <a:txBody>
                    <a:bodyPr/>
                    <a:lstStyle/>
                    <a:p>
                      <a:pPr algn="ctr">
                        <a:defRPr sz="620" b="0">
                          <a:solidFill>
                            <a:srgbClr val="232624"/>
                          </a:solidFill>
                          <a:latin typeface="Aptos"/>
                        </a:defRPr>
                      </a:pPr>
                      <a:r>
                        <a:t>1.56</a:t>
                      </a:r>
                    </a:p>
                  </a:txBody>
                  <a:tcPr marL="18288" marR="18288" marT="9144" marB="9144">
                    <a:solidFill>
                      <a:srgbClr val="FFFFFC"/>
                    </a:solidFill>
                  </a:tcPr>
                </a:tc>
                <a:tc>
                  <a:txBody>
                    <a:bodyPr/>
                    <a:lstStyle/>
                    <a:p>
                      <a:pPr algn="ctr">
                        <a:defRPr sz="620" b="0">
                          <a:solidFill>
                            <a:srgbClr val="232624"/>
                          </a:solidFill>
                          <a:latin typeface="Aptos"/>
                        </a:defRPr>
                      </a:pPr>
                      <a:r>
                        <a:t>2.06</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1.39</a:t>
                      </a:r>
                    </a:p>
                  </a:txBody>
                  <a:tcPr marL="18288" marR="18288" marT="9144" marB="9144">
                    <a:solidFill>
                      <a:srgbClr val="FFFFFC"/>
                    </a:solidFill>
                  </a:tcPr>
                </a:tc>
                <a:tc>
                  <a:txBody>
                    <a:bodyPr/>
                    <a:lstStyle/>
                    <a:p>
                      <a:pPr algn="ctr">
                        <a:defRPr sz="620" b="1">
                          <a:solidFill>
                            <a:srgbClr val="232624"/>
                          </a:solidFill>
                          <a:latin typeface="Aptos"/>
                        </a:defRPr>
                      </a:pPr>
                      <a:r>
                        <a:t>1.50</a:t>
                      </a:r>
                    </a:p>
                  </a:txBody>
                  <a:tcPr marL="18288" marR="18288" marT="9144" marB="9144">
                    <a:solidFill>
                      <a:srgbClr val="DEEFB1"/>
                    </a:solidFill>
                  </a:tcPr>
                </a:tc>
                <a:tc>
                  <a:txBody>
                    <a:bodyPr/>
                    <a:lstStyle/>
                    <a:p>
                      <a:pPr algn="ctr">
                        <a:defRPr sz="620" b="0">
                          <a:solidFill>
                            <a:srgbClr val="232624"/>
                          </a:solidFill>
                          <a:latin typeface="Aptos"/>
                        </a:defRPr>
                      </a:pPr>
                      <a:r>
                        <a:t>2.06</a:t>
                      </a:r>
                    </a:p>
                  </a:txBody>
                  <a:tcPr marL="18288" marR="18288" marT="9144" marB="9144">
                    <a:solidFill>
                      <a:srgbClr val="FFFFFC"/>
                    </a:solidFill>
                  </a:tcPr>
                </a:tc>
                <a:tc>
                  <a:txBody>
                    <a:bodyPr/>
                    <a:lstStyle/>
                    <a:p>
                      <a:pPr algn="ctr">
                        <a:defRPr sz="620" b="0">
                          <a:solidFill>
                            <a:srgbClr val="232624"/>
                          </a:solidFill>
                          <a:latin typeface="Aptos"/>
                        </a:defRPr>
                      </a:pPr>
                      <a:r>
                        <a:t>3.00</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2.48</a:t>
                      </a:r>
                    </a:p>
                  </a:txBody>
                  <a:tcPr marL="18288" marR="18288" marT="9144" marB="9144">
                    <a:solidFill>
                      <a:srgbClr val="DEEFB1"/>
                    </a:solidFill>
                  </a:tcPr>
                </a:tc>
                <a:tc>
                  <a:txBody>
                    <a:bodyPr/>
                    <a:lstStyle/>
                    <a:p>
                      <a:pPr algn="ctr">
                        <a:defRPr sz="620" b="0">
                          <a:solidFill>
                            <a:srgbClr val="232624"/>
                          </a:solidFill>
                          <a:latin typeface="Aptos"/>
                        </a:defRPr>
                      </a:pPr>
                      <a:r>
                        <a:t>1.20</a:t>
                      </a:r>
                    </a:p>
                  </a:txBody>
                  <a:tcPr marL="18288" marR="18288" marT="9144" marB="9144">
                    <a:solidFill>
                      <a:srgbClr val="FFFFFC"/>
                    </a:solidFill>
                  </a:tcPr>
                </a:tc>
                <a:tc>
                  <a:txBody>
                    <a:bodyPr/>
                    <a:lstStyle/>
                    <a:p>
                      <a:pPr algn="ctr">
                        <a:defRPr sz="620" b="0">
                          <a:solidFill>
                            <a:srgbClr val="232624"/>
                          </a:solidFill>
                          <a:latin typeface="Aptos"/>
                        </a:defRPr>
                      </a:pPr>
                      <a:r>
                        <a:t>2.39</a:t>
                      </a:r>
                    </a:p>
                  </a:txBody>
                  <a:tcPr marL="18288" marR="18288" marT="9144" marB="9144">
                    <a:solidFill>
                      <a:srgbClr val="FFFFFC"/>
                    </a:solidFill>
                  </a:tcPr>
                </a:tc>
                <a:tc>
                  <a:txBody>
                    <a:bodyPr/>
                    <a:lstStyle/>
                    <a:p>
                      <a:pPr algn="ctr">
                        <a:defRPr sz="620" b="0">
                          <a:solidFill>
                            <a:srgbClr val="232624"/>
                          </a:solidFill>
                          <a:latin typeface="Aptos"/>
                        </a:defRPr>
                      </a:pPr>
                      <a:r>
                        <a:t>3.17</a:t>
                      </a:r>
                    </a:p>
                  </a:txBody>
                  <a:tcPr marL="18288" marR="18288" marT="9144" marB="9144">
                    <a:solidFill>
                      <a:srgbClr val="FFFFFC"/>
                    </a:solidFill>
                  </a:tcPr>
                </a:tc>
              </a:tr>
            </a:tbl>
          </a:graphicData>
        </a:graphic>
      </p:graphicFrame>
      <p:sp>
        <p:nvSpPr>
          <p:cNvPr id="12" name="TextBox 11"/>
          <p:cNvSpPr txBox="1"/>
          <p:nvPr/>
        </p:nvSpPr>
        <p:spPr>
          <a:xfrm>
            <a:off x="6263640" y="3749039"/>
            <a:ext cx="3337560" cy="201168"/>
          </a:xfrm>
          <a:prstGeom prst="rect">
            <a:avLst/>
          </a:prstGeom>
          <a:noFill/>
        </p:spPr>
        <p:txBody>
          <a:bodyPr wrap="none">
            <a:spAutoFit/>
          </a:bodyPr>
          <a:lstStyle/>
          <a:p>
            <a:pPr>
              <a:defRPr sz="900" b="1">
                <a:solidFill>
                  <a:srgbClr val="184E4B"/>
                </a:solidFill>
                <a:latin typeface="Aptos"/>
              </a:defRPr>
            </a:pPr>
            <a:r>
              <a:t>llama3-70B</a:t>
            </a:r>
          </a:p>
        </p:txBody>
      </p:sp>
      <p:graphicFrame>
        <p:nvGraphicFramePr>
          <p:cNvPr id="13" name="Table 12"/>
          <p:cNvGraphicFramePr>
            <a:graphicFrameLocks noGrp="1"/>
          </p:cNvGraphicFramePr>
          <p:nvPr/>
        </p:nvGraphicFramePr>
        <p:xfrm>
          <a:off x="6263640" y="3977639"/>
          <a:ext cx="3337560" cy="2011680"/>
        </p:xfrm>
        <a:graphic>
          <a:graphicData uri="http://schemas.openxmlformats.org/drawingml/2006/table">
            <a:tbl>
              <a:tblPr firstRow="1" bandRow="1">
                <a:tableStyleId>{5C22544A-7EE6-4342-B048-85BDC9FD1C3A}</a:tableStyleId>
              </a:tblPr>
              <a:tblGrid>
                <a:gridCol w="667512"/>
                <a:gridCol w="667512"/>
                <a:gridCol w="667512"/>
                <a:gridCol w="667512"/>
                <a:gridCol w="667512"/>
              </a:tblGrid>
              <a:tr h="402336">
                <a:tc>
                  <a:txBody>
                    <a:bodyPr/>
                    <a:lstStyle/>
                    <a:p>
                      <a:pPr algn="ctr">
                        <a:defRPr sz="650" b="1">
                          <a:solidFill>
                            <a:srgbClr val="FFFFFF"/>
                          </a:solidFill>
                          <a:latin typeface="Aptos"/>
                        </a:defRPr>
                      </a:pPr>
                      <a:r>
                        <a:t>Setup</a:t>
                      </a:r>
                    </a:p>
                  </a:txBody>
                  <a:tcPr>
                    <a:solidFill>
                      <a:srgbClr val="25484C"/>
                    </a:solidFill>
                  </a:tcPr>
                </a:tc>
                <a:tc>
                  <a:txBody>
                    <a:bodyPr/>
                    <a:lstStyle/>
                    <a:p>
                      <a:pPr algn="ctr">
                        <a:defRPr sz="650" b="1">
                          <a:solidFill>
                            <a:srgbClr val="FFFFFF"/>
                          </a:solidFill>
                          <a:latin typeface="Aptos"/>
                        </a:defRPr>
                      </a:pPr>
                      <a:r>
                        <a:t>E1</a:t>
                      </a:r>
                    </a:p>
                  </a:txBody>
                  <a:tcPr>
                    <a:solidFill>
                      <a:srgbClr val="25484C"/>
                    </a:solidFill>
                  </a:tcPr>
                </a:tc>
                <a:tc>
                  <a:txBody>
                    <a:bodyPr/>
                    <a:lstStyle/>
                    <a:p>
                      <a:pPr algn="ctr">
                        <a:defRPr sz="650" b="1">
                          <a:solidFill>
                            <a:srgbClr val="FFFFFF"/>
                          </a:solidFill>
                          <a:latin typeface="Aptos"/>
                        </a:defRPr>
                      </a:pPr>
                      <a:r>
                        <a:t>E2</a:t>
                      </a:r>
                    </a:p>
                  </a:txBody>
                  <a:tcPr>
                    <a:solidFill>
                      <a:srgbClr val="25484C"/>
                    </a:solidFill>
                  </a:tcPr>
                </a:tc>
                <a:tc>
                  <a:txBody>
                    <a:bodyPr/>
                    <a:lstStyle/>
                    <a:p>
                      <a:pPr algn="ctr">
                        <a:defRPr sz="650" b="1">
                          <a:solidFill>
                            <a:srgbClr val="FFFFFF"/>
                          </a:solidFill>
                          <a:latin typeface="Aptos"/>
                        </a:defRPr>
                      </a:pPr>
                      <a:r>
                        <a:t>E3-M</a:t>
                      </a:r>
                    </a:p>
                  </a:txBody>
                  <a:tcPr>
                    <a:solidFill>
                      <a:srgbClr val="25484C"/>
                    </a:solidFill>
                  </a:tcPr>
                </a:tc>
                <a:tc>
                  <a:txBody>
                    <a:bodyPr/>
                    <a:lstStyle/>
                    <a:p>
                      <a:pPr algn="ctr">
                        <a:defRPr sz="650" b="1">
                          <a:solidFill>
                            <a:srgbClr val="FFFFFF"/>
                          </a:solidFill>
                          <a:latin typeface="Aptos"/>
                        </a:defRPr>
                      </a:pPr>
                      <a:r>
                        <a:t>E3-T</a:t>
                      </a:r>
                    </a:p>
                  </a:txBody>
                  <a:tcPr>
                    <a:solidFill>
                      <a:srgbClr val="25484C"/>
                    </a:solidFill>
                  </a:tcPr>
                </a:tc>
              </a:tr>
              <a:tr h="402336">
                <a:tc>
                  <a:txBody>
                    <a:bodyPr/>
                    <a:lstStyle/>
                    <a:p>
                      <a:pPr algn="l">
                        <a:defRPr sz="620" b="1">
                          <a:solidFill>
                            <a:srgbClr val="232624"/>
                          </a:solidFill>
                          <a:latin typeface="Aptos"/>
                        </a:defRPr>
                      </a:pPr>
                      <a:r>
                        <a:t>A</a:t>
                      </a:r>
                    </a:p>
                  </a:txBody>
                  <a:tcPr marL="18288" marR="18288" marT="9144" marB="9144">
                    <a:solidFill>
                      <a:srgbClr val="FFFFFC"/>
                    </a:solidFill>
                  </a:tcPr>
                </a:tc>
                <a:tc>
                  <a:txBody>
                    <a:bodyPr/>
                    <a:lstStyle/>
                    <a:p>
                      <a:pPr algn="ctr">
                        <a:defRPr sz="620" b="0">
                          <a:solidFill>
                            <a:srgbClr val="232624"/>
                          </a:solidFill>
                          <a:latin typeface="Aptos"/>
                        </a:defRPr>
                      </a:pPr>
                      <a:r>
                        <a:t>1.54</a:t>
                      </a:r>
                    </a:p>
                  </a:txBody>
                  <a:tcPr marL="18288" marR="18288" marT="9144" marB="9144">
                    <a:solidFill>
                      <a:srgbClr val="FFFFFC"/>
                    </a:solidFill>
                  </a:tcPr>
                </a:tc>
                <a:tc>
                  <a:txBody>
                    <a:bodyPr/>
                    <a:lstStyle/>
                    <a:p>
                      <a:pPr algn="ctr">
                        <a:defRPr sz="620" b="1">
                          <a:solidFill>
                            <a:srgbClr val="232624"/>
                          </a:solidFill>
                          <a:latin typeface="Aptos"/>
                        </a:defRPr>
                      </a:pPr>
                      <a:r>
                        <a:t>1.61</a:t>
                      </a:r>
                    </a:p>
                  </a:txBody>
                  <a:tcPr marL="18288" marR="18288" marT="9144" marB="9144">
                    <a:solidFill>
                      <a:srgbClr val="DEEFB1"/>
                    </a:solidFill>
                  </a:tcPr>
                </a:tc>
                <a:tc>
                  <a:txBody>
                    <a:bodyPr/>
                    <a:lstStyle/>
                    <a:p>
                      <a:pPr algn="ctr">
                        <a:defRPr sz="620" b="1">
                          <a:solidFill>
                            <a:srgbClr val="232624"/>
                          </a:solidFill>
                          <a:latin typeface="Aptos"/>
                        </a:defRPr>
                      </a:pPr>
                      <a:r>
                        <a:t>2.17</a:t>
                      </a:r>
                    </a:p>
                  </a:txBody>
                  <a:tcPr marL="18288" marR="18288" marT="9144" marB="9144">
                    <a:solidFill>
                      <a:srgbClr val="DEEFB1"/>
                    </a:solidFill>
                  </a:tcPr>
                </a:tc>
                <a:tc>
                  <a:txBody>
                    <a:bodyPr/>
                    <a:lstStyle/>
                    <a:p>
                      <a:pPr algn="ctr">
                        <a:defRPr sz="620" b="1">
                          <a:solidFill>
                            <a:srgbClr val="232624"/>
                          </a:solidFill>
                          <a:latin typeface="Aptos"/>
                        </a:defRPr>
                      </a:pPr>
                      <a:r>
                        <a:t>3.22</a:t>
                      </a:r>
                    </a:p>
                  </a:txBody>
                  <a:tcPr marL="18288" marR="18288" marT="9144" marB="9144">
                    <a:solidFill>
                      <a:srgbClr val="DEEFB1"/>
                    </a:solidFill>
                  </a:tcPr>
                </a:tc>
              </a:tr>
              <a:tr h="402336">
                <a:tc>
                  <a:txBody>
                    <a:bodyPr/>
                    <a:lstStyle/>
                    <a:p>
                      <a:pPr algn="l">
                        <a:defRPr sz="620" b="1">
                          <a:solidFill>
                            <a:srgbClr val="232624"/>
                          </a:solidFill>
                          <a:latin typeface="Aptos"/>
                        </a:defRPr>
                      </a:pPr>
                      <a:r>
                        <a:t>B-query</a:t>
                      </a:r>
                    </a:p>
                  </a:txBody>
                  <a:tcPr marL="18288" marR="18288" marT="9144" marB="9144">
                    <a:solidFill>
                      <a:srgbClr val="FFFFFC"/>
                    </a:solidFill>
                  </a:tcPr>
                </a:tc>
                <a:tc>
                  <a:txBody>
                    <a:bodyPr/>
                    <a:lstStyle/>
                    <a:p>
                      <a:pPr algn="ctr">
                        <a:defRPr sz="620" b="0">
                          <a:solidFill>
                            <a:srgbClr val="232624"/>
                          </a:solidFill>
                          <a:latin typeface="Aptos"/>
                        </a:defRPr>
                      </a:pPr>
                      <a:r>
                        <a:t>1.15</a:t>
                      </a:r>
                    </a:p>
                  </a:txBody>
                  <a:tcPr marL="18288" marR="18288" marT="9144" marB="9144">
                    <a:solidFill>
                      <a:srgbClr val="FFFFFC"/>
                    </a:solidFill>
                  </a:tcPr>
                </a:tc>
                <a:tc>
                  <a:txBody>
                    <a:bodyPr/>
                    <a:lstStyle/>
                    <a:p>
                      <a:pPr algn="ctr">
                        <a:defRPr sz="620" b="0">
                          <a:solidFill>
                            <a:srgbClr val="232624"/>
                          </a:solidFill>
                          <a:latin typeface="Aptos"/>
                        </a:defRPr>
                      </a:pPr>
                      <a:r>
                        <a:t>0.75</a:t>
                      </a:r>
                    </a:p>
                  </a:txBody>
                  <a:tcPr marL="18288" marR="18288" marT="9144" marB="9144">
                    <a:solidFill>
                      <a:srgbClr val="FFFFFC"/>
                    </a:solidFill>
                  </a:tcPr>
                </a:tc>
                <a:tc>
                  <a:txBody>
                    <a:bodyPr/>
                    <a:lstStyle/>
                    <a:p>
                      <a:pPr algn="ctr">
                        <a:defRPr sz="620" b="0">
                          <a:solidFill>
                            <a:srgbClr val="232624"/>
                          </a:solidFill>
                          <a:latin typeface="Aptos"/>
                        </a:defRPr>
                      </a:pPr>
                      <a:r>
                        <a:t>1.06</a:t>
                      </a:r>
                    </a:p>
                  </a:txBody>
                  <a:tcPr marL="18288" marR="18288" marT="9144" marB="9144">
                    <a:solidFill>
                      <a:srgbClr val="FFFFFC"/>
                    </a:solidFill>
                  </a:tcPr>
                </a:tc>
                <a:tc>
                  <a:txBody>
                    <a:bodyPr/>
                    <a:lstStyle/>
                    <a:p>
                      <a:pPr algn="ctr">
                        <a:defRPr sz="620" b="0">
                          <a:solidFill>
                            <a:srgbClr val="232624"/>
                          </a:solidFill>
                          <a:latin typeface="Aptos"/>
                        </a:defRPr>
                      </a:pPr>
                      <a:r>
                        <a:t>1.28</a:t>
                      </a:r>
                    </a:p>
                  </a:txBody>
                  <a:tcPr marL="18288" marR="18288" marT="9144" marB="9144">
                    <a:solidFill>
                      <a:srgbClr val="FFFFFC"/>
                    </a:solidFill>
                  </a:tcPr>
                </a:tc>
              </a:tr>
              <a:tr h="402336">
                <a:tc>
                  <a:txBody>
                    <a:bodyPr/>
                    <a:lstStyle/>
                    <a:p>
                      <a:pPr algn="l">
                        <a:defRPr sz="620" b="1">
                          <a:solidFill>
                            <a:srgbClr val="232624"/>
                          </a:solidFill>
                          <a:latin typeface="Aptos"/>
                        </a:defRPr>
                      </a:pPr>
                      <a:r>
                        <a:t>B-resolved</a:t>
                      </a:r>
                    </a:p>
                  </a:txBody>
                  <a:tcPr marL="18288" marR="18288" marT="9144" marB="9144">
                    <a:solidFill>
                      <a:srgbClr val="FFFFFC"/>
                    </a:solidFill>
                  </a:tcPr>
                </a:tc>
                <a:tc>
                  <a:txBody>
                    <a:bodyPr/>
                    <a:lstStyle/>
                    <a:p>
                      <a:pPr algn="ctr">
                        <a:defRPr sz="620" b="0">
                          <a:solidFill>
                            <a:srgbClr val="232624"/>
                          </a:solidFill>
                          <a:latin typeface="Aptos"/>
                        </a:defRPr>
                      </a:pPr>
                      <a:r>
                        <a:t>0.80</a:t>
                      </a:r>
                    </a:p>
                  </a:txBody>
                  <a:tcPr marL="18288" marR="18288" marT="9144" marB="9144">
                    <a:solidFill>
                      <a:srgbClr val="FFFFFC"/>
                    </a:solidFill>
                  </a:tcPr>
                </a:tc>
                <a:tc>
                  <a:txBody>
                    <a:bodyPr/>
                    <a:lstStyle/>
                    <a:p>
                      <a:pPr algn="ctr">
                        <a:defRPr sz="620" b="0">
                          <a:solidFill>
                            <a:srgbClr val="232624"/>
                          </a:solidFill>
                          <a:latin typeface="Aptos"/>
                        </a:defRPr>
                      </a:pPr>
                      <a:r>
                        <a:t>0.36</a:t>
                      </a:r>
                    </a:p>
                  </a:txBody>
                  <a:tcPr marL="18288" marR="18288" marT="9144" marB="9144">
                    <a:solidFill>
                      <a:srgbClr val="FFFFFC"/>
                    </a:solidFill>
                  </a:tcPr>
                </a:tc>
                <a:tc>
                  <a:txBody>
                    <a:bodyPr/>
                    <a:lstStyle/>
                    <a:p>
                      <a:pPr algn="ctr">
                        <a:defRPr sz="620" b="0">
                          <a:solidFill>
                            <a:srgbClr val="232624"/>
                          </a:solidFill>
                          <a:latin typeface="Aptos"/>
                        </a:defRPr>
                      </a:pPr>
                      <a:r>
                        <a:t>1.72</a:t>
                      </a:r>
                    </a:p>
                  </a:txBody>
                  <a:tcPr marL="18288" marR="18288" marT="9144" marB="9144">
                    <a:solidFill>
                      <a:srgbClr val="FFFFFC"/>
                    </a:solidFill>
                  </a:tcPr>
                </a:tc>
                <a:tc>
                  <a:txBody>
                    <a:bodyPr/>
                    <a:lstStyle/>
                    <a:p>
                      <a:pPr algn="ctr">
                        <a:defRPr sz="620" b="0">
                          <a:solidFill>
                            <a:srgbClr val="232624"/>
                          </a:solidFill>
                          <a:latin typeface="Aptos"/>
                        </a:defRPr>
                      </a:pPr>
                      <a:r>
                        <a:t>2.06</a:t>
                      </a:r>
                    </a:p>
                  </a:txBody>
                  <a:tcPr marL="18288" marR="18288" marT="9144" marB="9144">
                    <a:solidFill>
                      <a:srgbClr val="FFFFFC"/>
                    </a:solidFill>
                  </a:tcPr>
                </a:tc>
              </a:tr>
              <a:tr h="402336">
                <a:tc>
                  <a:txBody>
                    <a:bodyPr/>
                    <a:lstStyle/>
                    <a:p>
                      <a:pPr algn="l">
                        <a:defRPr sz="620" b="1">
                          <a:solidFill>
                            <a:srgbClr val="232624"/>
                          </a:solidFill>
                          <a:latin typeface="Aptos"/>
                        </a:defRPr>
                      </a:pPr>
                      <a:r>
                        <a:t>C</a:t>
                      </a:r>
                    </a:p>
                  </a:txBody>
                  <a:tcPr marL="18288" marR="18288" marT="9144" marB="9144">
                    <a:solidFill>
                      <a:srgbClr val="FFFFFC"/>
                    </a:solidFill>
                  </a:tcPr>
                </a:tc>
                <a:tc>
                  <a:txBody>
                    <a:bodyPr/>
                    <a:lstStyle/>
                    <a:p>
                      <a:pPr algn="ctr">
                        <a:defRPr sz="620" b="1">
                          <a:solidFill>
                            <a:srgbClr val="232624"/>
                          </a:solidFill>
                          <a:latin typeface="Aptos"/>
                        </a:defRPr>
                      </a:pPr>
                      <a:r>
                        <a:t>2.63</a:t>
                      </a:r>
                    </a:p>
                  </a:txBody>
                  <a:tcPr marL="18288" marR="18288" marT="9144" marB="9144">
                    <a:solidFill>
                      <a:srgbClr val="DEEFB1"/>
                    </a:solidFill>
                  </a:tcPr>
                </a:tc>
                <a:tc>
                  <a:txBody>
                    <a:bodyPr/>
                    <a:lstStyle/>
                    <a:p>
                      <a:pPr algn="ctr">
                        <a:defRPr sz="620" b="0">
                          <a:solidFill>
                            <a:srgbClr val="232624"/>
                          </a:solidFill>
                          <a:latin typeface="Aptos"/>
                        </a:defRPr>
                      </a:pPr>
                      <a:r>
                        <a:t>0.86</a:t>
                      </a:r>
                    </a:p>
                  </a:txBody>
                  <a:tcPr marL="18288" marR="18288" marT="9144" marB="9144">
                    <a:solidFill>
                      <a:srgbClr val="FFFFFC"/>
                    </a:solidFill>
                  </a:tcPr>
                </a:tc>
                <a:tc>
                  <a:txBody>
                    <a:bodyPr/>
                    <a:lstStyle/>
                    <a:p>
                      <a:pPr algn="ctr">
                        <a:defRPr sz="620" b="0">
                          <a:solidFill>
                            <a:srgbClr val="232624"/>
                          </a:solidFill>
                          <a:latin typeface="Aptos"/>
                        </a:defRPr>
                      </a:pPr>
                      <a:r>
                        <a:t>1.78</a:t>
                      </a:r>
                    </a:p>
                  </a:txBody>
                  <a:tcPr marL="18288" marR="18288" marT="9144" marB="9144">
                    <a:solidFill>
                      <a:srgbClr val="FFFFFC"/>
                    </a:solidFill>
                  </a:tcPr>
                </a:tc>
                <a:tc>
                  <a:txBody>
                    <a:bodyPr/>
                    <a:lstStyle/>
                    <a:p>
                      <a:pPr algn="ctr">
                        <a:defRPr sz="620" b="0">
                          <a:solidFill>
                            <a:srgbClr val="232624"/>
                          </a:solidFill>
                          <a:latin typeface="Aptos"/>
                        </a:defRPr>
                      </a:pPr>
                      <a:r>
                        <a:t>2.22</a:t>
                      </a:r>
                    </a:p>
                  </a:txBody>
                  <a:tcPr marL="18288" marR="18288" marT="9144" marB="9144">
                    <a:solidFill>
                      <a:srgbClr val="FFFF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Scoring Audit</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Rationales were not stored; audit slides reconstruct prediction/reference pairs from results and tasks.</a:t>
            </a:r>
          </a:p>
        </p:txBody>
      </p:sp>
      <p:sp>
        <p:nvSpPr>
          <p:cNvPr id="4" name="TextBox 3"/>
          <p:cNvSpPr txBox="1"/>
          <p:nvPr/>
        </p:nvSpPr>
        <p:spPr>
          <a:xfrm>
            <a:off x="685800" y="1097280"/>
            <a:ext cx="10881360" cy="4389120"/>
          </a:xfrm>
          <a:prstGeom prst="rect">
            <a:avLst/>
          </a:prstGeom>
          <a:noFill/>
        </p:spPr>
        <p:txBody>
          <a:bodyPr wrap="square">
            <a:spAutoFit/>
          </a:bodyPr>
          <a:lstStyle/>
          <a:p>
            <a:pPr>
              <a:spcAft>
                <a:spcPts val="700"/>
              </a:spcAft>
              <a:defRPr sz="1400">
                <a:solidFill>
                  <a:srgbClr val="232624"/>
                </a:solidFill>
                <a:latin typeface="Aptos"/>
              </a:defRPr>
            </a:pPr>
            <a:r>
              <a:t>Score 0 is assigned before an LLM judge call when the predicted excerpt cannot be recovered or snapped to the report.</a:t>
            </a:r>
          </a:p>
          <a:p>
            <a:pPr>
              <a:spcAft>
                <a:spcPts val="700"/>
              </a:spcAft>
              <a:defRPr sz="1400">
                <a:solidFill>
                  <a:srgbClr val="232624"/>
                </a:solidFill>
                <a:latin typeface="Aptos"/>
              </a:defRPr>
            </a:pPr>
            <a:r>
              <a:t>Scores 1-5 are judge alignment scores: 1 unrelated, 3 partial, 5 clear and complete.</a:t>
            </a:r>
          </a:p>
          <a:p>
            <a:pPr>
              <a:spcAft>
                <a:spcPts val="700"/>
              </a:spcAft>
              <a:defRPr sz="1400">
                <a:solidFill>
                  <a:srgbClr val="232624"/>
                </a:solidFill>
                <a:latin typeface="Aptos"/>
              </a:defRPr>
            </a:pPr>
            <a:r>
              <a:t>Full reconstructed audit export: judge_score_audit.csv</a:t>
            </a:r>
          </a:p>
          <a:p>
            <a:pPr>
              <a:spcAft>
                <a:spcPts val="700"/>
              </a:spcAft>
              <a:defRPr sz="1400">
                <a:solidFill>
                  <a:srgbClr val="232624"/>
                </a:solidFill>
                <a:latin typeface="Aptos"/>
              </a:defRPr>
            </a:pPr>
            <a:r>
              <a:t>Retained robustness score counts: 0: 380, 1: 555, 2: 484, 3: 599, 4: 315, 5: 130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0</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No recoverable grounded excerpt | 380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1. E1 | P1 | gpt-oss-high | B-query | score 0</a:t>
            </a:r>
          </a:p>
          <a:p>
            <a:pPr>
              <a:spcBef>
                <a:spcPts val="200"/>
              </a:spcBef>
              <a:defRPr sz="900">
                <a:solidFill>
                  <a:srgbClr val="232624"/>
                </a:solidFill>
                <a:latin typeface="Aptos"/>
              </a:defRPr>
            </a:pPr>
            <a:r>
              <a:t>Prediction: Patent activity in the field of medical technology has increased strongly since 2012.</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2. E2 | P1 | qwen3-32B-nonreasoning | B-resolved | score 0</a:t>
            </a:r>
          </a:p>
          <a:p>
            <a:pPr>
              <a:spcBef>
                <a:spcPts val="200"/>
              </a:spcBef>
              <a:defRPr sz="900">
                <a:solidFill>
                  <a:srgbClr val="232624"/>
                </a:solidFill>
                <a:latin typeface="Aptos"/>
              </a:defRPr>
            </a:pPr>
            <a:r>
              <a:t>Prediction: 2017,38 2018,237 2019,851 2020,1585 2021,2102 2022,2504 2023,2370</a:t>
            </a:r>
          </a:p>
          <a:p>
            <a:pPr>
              <a:spcBef>
                <a:spcPts val="200"/>
              </a:spcBef>
              <a:defRPr sz="900">
                <a:solidFill>
                  <a:srgbClr val="232624"/>
                </a:solidFill>
                <a:latin typeface="Aptos"/>
              </a:defRPr>
            </a:pPr>
            <a:r>
              <a:t>Ground truth: Reference E.text: Although patent publications in GANs dominated up to 2020, it has slowed down since and patent publications in diffusion models have grown tremendously since 2021.</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3. E2 | P1 | gpt-4.1 | C | score 0</a:t>
            </a:r>
          </a:p>
          <a:p>
            <a:pPr>
              <a:spcBef>
                <a:spcPts val="200"/>
              </a:spcBef>
              <a:defRPr sz="900">
                <a:solidFill>
                  <a:srgbClr val="232624"/>
                </a:solidFill>
                <a:latin typeface="Aptos"/>
              </a:defRPr>
            </a:pPr>
            <a:r>
              <a:t>Prediction: year,distinct_gan_patent_family_count 2017,38 2018,237 2019,851 2020,1585 2021,2102 2022,2504 2023,2370</a:t>
            </a:r>
          </a:p>
          <a:p>
            <a:pPr>
              <a:spcBef>
                <a:spcPts val="200"/>
              </a:spcBef>
              <a:defRPr sz="900">
                <a:solidFill>
                  <a:srgbClr val="232624"/>
                </a:solidFill>
                <a:latin typeface="Aptos"/>
              </a:defRPr>
            </a:pPr>
            <a:r>
              <a:t>Ground truth: Reference E.text: Although patent publications in GANs dominated up to 2020, it has slowed down since and patent publications in diffusion models have grown tremendously since 2021.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1</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Unrelated or not aligned | 555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1. E1 | P1 | gpt-oss-medium | B-query | score 1</a:t>
            </a:r>
          </a:p>
          <a:p>
            <a:pPr>
              <a:spcBef>
                <a:spcPts val="200"/>
              </a:spcBef>
              <a:defRPr sz="900">
                <a:solidFill>
                  <a:srgbClr val="232624"/>
                </a:solidFill>
                <a:latin typeface="Aptos"/>
              </a:defRPr>
            </a:pPr>
            <a:r>
              <a:t>Prediction: Titanium is a metal with high industrial and commercial interest.</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2. E2 | P1 | gpt-oss-medium | C | score 1</a:t>
            </a:r>
          </a:p>
          <a:p>
            <a:pPr>
              <a:spcBef>
                <a:spcPts val="200"/>
              </a:spcBef>
              <a:defRPr sz="900">
                <a:solidFill>
                  <a:srgbClr val="232624"/>
                </a:solidFill>
                <a:latin typeface="Aptos"/>
              </a:defRPr>
            </a:pPr>
            <a:r>
              <a:t>Prediction: Japan 1,350</a:t>
            </a:r>
          </a:p>
          <a:p>
            <a:pPr>
              <a:spcBef>
                <a:spcPts val="200"/>
              </a:spcBef>
              <a:defRPr sz="900">
                <a:solidFill>
                  <a:srgbClr val="232624"/>
                </a:solidFill>
                <a:latin typeface="Aptos"/>
              </a:defRPr>
            </a:pPr>
            <a:r>
              <a:t>Ground truth: Reference E.text: In both Japan and the Republic of Korea, speech/voice/music is a very important GenAI mode in terms of patent families. However, patent growth rates differ significantly between the two Asian countries. While the growth of GenAI patent families in the Republic of Korea has been very dynamic across all modes in...</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3. E3-M | P1 | llama-3.3-70b | B-resolved | score 1</a:t>
            </a:r>
          </a:p>
          <a:p>
            <a:pPr>
              <a:spcBef>
                <a:spcPts val="200"/>
              </a:spcBef>
              <a:defRPr sz="900">
                <a:solidFill>
                  <a:srgbClr val="232624"/>
                </a:solidFill>
                <a:latin typeface="Aptos"/>
              </a:defRPr>
            </a:pPr>
            <a:r>
              <a:t>Prediction: y = a * b^x</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2</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Weakly related, central conditions missing | 484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1. E1 | P1 | gpt-oss-medium | A | score 2</a:t>
            </a:r>
          </a:p>
          <a:p>
            <a:pPr>
              <a:spcBef>
                <a:spcPts val="200"/>
              </a:spcBef>
              <a:defRPr sz="900">
                <a:solidFill>
                  <a:srgbClr val="232624"/>
                </a:solidFill>
                <a:latin typeface="Aptos"/>
              </a:defRPr>
            </a:pPr>
            <a:r>
              <a:t>Prediction: Patenting activity related to titanium dioxide production from ilmenite is rapidly increasing</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2. E2 | P1 | qwen3-32B-nonreasoning | A | score 2</a:t>
            </a:r>
          </a:p>
          <a:p>
            <a:pPr>
              <a:spcBef>
                <a:spcPts val="200"/>
              </a:spcBef>
              <a:defRPr sz="900">
                <a:solidFill>
                  <a:srgbClr val="232624"/>
                </a:solidFill>
                <a:latin typeface="Aptos"/>
              </a:defRPr>
            </a:pPr>
            <a:r>
              <a:t>Prediction: The largest number of patents were published in the area of GANs.</a:t>
            </a:r>
          </a:p>
          <a:p>
            <a:pPr>
              <a:spcBef>
                <a:spcPts val="200"/>
              </a:spcBef>
              <a:defRPr sz="900">
                <a:solidFill>
                  <a:srgbClr val="232624"/>
                </a:solidFill>
                <a:latin typeface="Aptos"/>
              </a:defRPr>
            </a:pPr>
            <a:r>
              <a:t>Ground truth: Reference E.text: Although patent publications in GANs dominated up to 2020, it has slowed down since and patent publications in diffusion models have grown tremendously since 2021.</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3. E3-M | P1 | llama-3.3-70b | C | score 2</a:t>
            </a:r>
          </a:p>
          <a:p>
            <a:pPr>
              <a:spcBef>
                <a:spcPts val="200"/>
              </a:spcBef>
              <a:defRPr sz="900">
                <a:solidFill>
                  <a:srgbClr val="232624"/>
                </a:solidFill>
                <a:latin typeface="Aptos"/>
              </a:defRPr>
            </a:pPr>
            <a:r>
              <a:t>Prediction: growth rate change</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3</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Partial or uncertain alignment | 599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1. E1 | P1 | qwen3-32B-nonreasoning | C | score 3</a:t>
            </a:r>
          </a:p>
          <a:p>
            <a:pPr>
              <a:spcBef>
                <a:spcPts val="200"/>
              </a:spcBef>
              <a:defRPr sz="900">
                <a:solidFill>
                  <a:srgbClr val="232624"/>
                </a:solidFill>
                <a:latin typeface="Aptos"/>
              </a:defRPr>
            </a:pPr>
            <a:r>
              <a:t>Prediction: However, this has slowed down recently.</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2. E2 | P1 | gpt-oss-medium | B-resolved | score 3</a:t>
            </a:r>
          </a:p>
          <a:p>
            <a:pPr>
              <a:spcBef>
                <a:spcPts val="200"/>
              </a:spcBef>
              <a:defRPr sz="900">
                <a:solidFill>
                  <a:srgbClr val="232624"/>
                </a:solidFill>
                <a:latin typeface="Aptos"/>
              </a:defRPr>
            </a:pPr>
            <a:r>
              <a:t>Prediction: Between 2014 and 2023, there were almost 9,700 publications of patent families in this model type with almost 2,400 patent families published in 2023 alone.</a:t>
            </a:r>
          </a:p>
          <a:p>
            <a:pPr>
              <a:spcBef>
                <a:spcPts val="200"/>
              </a:spcBef>
              <a:defRPr sz="900">
                <a:solidFill>
                  <a:srgbClr val="232624"/>
                </a:solidFill>
                <a:latin typeface="Aptos"/>
              </a:defRPr>
            </a:pPr>
            <a:r>
              <a:t>Ground truth: Reference E.text: Although patent publications in GANs dominated up to 2020, it has slowed down since and patent publications in diffusion models have grown tremendously since 2021.</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3. E3-M | P1 | llama-3.3-70b | C | score 3</a:t>
            </a:r>
          </a:p>
          <a:p>
            <a:pPr>
              <a:spcBef>
                <a:spcPts val="200"/>
              </a:spcBef>
              <a:defRPr sz="900">
                <a:solidFill>
                  <a:srgbClr val="232624"/>
                </a:solidFill>
                <a:latin typeface="Aptos"/>
              </a:defRPr>
            </a:pPr>
            <a:r>
              <a:t>Prediction: f(t) = Δy/Δt, where Δy is the change in patent family count and Δt is the change in time, indicating a growth rate change over time</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4</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Valid with minor omission or ambiguity | 315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1. E1 | P1 | gpt-oss-high | B-query | score 4</a:t>
            </a:r>
          </a:p>
          <a:p>
            <a:pPr>
              <a:spcBef>
                <a:spcPts val="200"/>
              </a:spcBef>
              <a:defRPr sz="900">
                <a:solidFill>
                  <a:srgbClr val="232624"/>
                </a:solidFill>
                <a:latin typeface="Aptos"/>
              </a:defRPr>
            </a:pPr>
            <a:r>
              <a:t>Prediction: 2024 saw the first slight decline in patent publications since 2014.</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2. E2 | P1 | qwen3-32B-nonreasoning | C | score 4</a:t>
            </a:r>
          </a:p>
          <a:p>
            <a:pPr>
              <a:spcBef>
                <a:spcPts val="200"/>
              </a:spcBef>
              <a:defRPr sz="900">
                <a:solidFill>
                  <a:srgbClr val="232624"/>
                </a:solidFill>
                <a:latin typeface="Aptos"/>
              </a:defRPr>
            </a:pPr>
            <a:r>
              <a:t>Prediction: GAN patents show the strongest increase over the past decade. However, this has slowed down recently.</a:t>
            </a:r>
          </a:p>
          <a:p>
            <a:pPr>
              <a:spcBef>
                <a:spcPts val="200"/>
              </a:spcBef>
              <a:defRPr sz="900">
                <a:solidFill>
                  <a:srgbClr val="232624"/>
                </a:solidFill>
                <a:latin typeface="Aptos"/>
              </a:defRPr>
            </a:pPr>
            <a:r>
              <a:t>Ground truth: Reference E.text: Although patent publications in GANs dominated up to 2020, it has slowed down since and patent publications in diffusion models have grown tremendously since 2021.</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3. E3-M | P1 | gpt-oss-medium | C | score 4</a:t>
            </a:r>
          </a:p>
          <a:p>
            <a:pPr>
              <a:spcBef>
                <a:spcPts val="200"/>
              </a:spcBef>
              <a:defRPr sz="900">
                <a:solidFill>
                  <a:srgbClr val="232624"/>
                </a:solidFill>
                <a:latin typeface="Aptos"/>
              </a:defRPr>
            </a:pPr>
            <a:r>
              <a:t>Prediction: A time‑series pattern defined by the existence of a change‑point τ (a specific year) at which the annual growth rate of the series changes significantly. Formally, let f(y) be the count (e.g., distinct patent families) in year y. There must exist τ such that the slope of the best‑fit linear regression on { (y, f(y)) | y ≤ τ } (...</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5</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Clear and complete alignment | 130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1. E1 | P1 | gpt-4.1 | C | score 5</a:t>
            </a:r>
          </a:p>
          <a:p>
            <a:pPr>
              <a:spcBef>
                <a:spcPts val="200"/>
              </a:spcBef>
              <a:defRPr sz="900">
                <a:solidFill>
                  <a:srgbClr val="232624"/>
                </a:solidFill>
                <a:latin typeface="Aptos"/>
              </a:defRPr>
            </a:pPr>
            <a:r>
              <a:t>Prediction: Patenting activity in vehicle design and tire technologies also grew rapidly between 2000 and 2014 but has largely plateaued since then.</a:t>
            </a:r>
          </a:p>
          <a:p>
            <a:pPr>
              <a:spcBef>
                <a:spcPts val="200"/>
              </a:spcBef>
              <a:defRPr sz="90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2. E2 | P1 | gpt-oss-medium | C | score 5</a:t>
            </a:r>
          </a:p>
          <a:p>
            <a:pPr>
              <a:spcBef>
                <a:spcPts val="200"/>
              </a:spcBef>
              <a:defRPr sz="900">
                <a:solidFill>
                  <a:srgbClr val="232624"/>
                </a:solidFill>
                <a:latin typeface="Aptos"/>
              </a:defRPr>
            </a:pPr>
            <a:r>
              <a:t>Prediction: In terms of patent growth, patent families assigned to GANs show the strongest increase over the past decade. However, patent growth of GAN patent families has slowed down and GAN patent families have increased only moderately over the last three years.</a:t>
            </a:r>
          </a:p>
          <a:p>
            <a:pPr>
              <a:spcBef>
                <a:spcPts val="200"/>
              </a:spcBef>
              <a:defRPr sz="900">
                <a:solidFill>
                  <a:srgbClr val="232624"/>
                </a:solidFill>
                <a:latin typeface="Aptos"/>
              </a:defRPr>
            </a:pPr>
            <a:r>
              <a:t>Ground truth: Reference E.text: Although patent publications in GANs dominated up to 2020, it has slowed down since and patent publications in diffusion models have grown tremendously since 2021.</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3. E3-T | P1 | gpt-oss-medium | C | score 5</a:t>
            </a:r>
          </a:p>
          <a:p>
            <a:pPr>
              <a:spcBef>
                <a:spcPts val="200"/>
              </a:spcBef>
              <a:defRPr sz="900">
                <a:solidFill>
                  <a:srgbClr val="232624"/>
                </a:solidFill>
                <a:latin typeface="Aptos"/>
              </a:defRPr>
            </a:pPr>
            <a:r>
              <a:t>Prediction: The series of yearly counts exhibits a clear change‑point: before a certain year the counts grow (or decline) at one rate, and after that year the growth rate changes markedly—either accelerating, decelerating, or reversing—signaling a shift in the underlying trend.</a:t>
            </a:r>
          </a:p>
          <a:p>
            <a:pPr>
              <a:spcBef>
                <a:spcPts val="200"/>
              </a:spcBef>
              <a:defRPr sz="900">
                <a:solidFill>
                  <a:srgbClr val="232624"/>
                </a:solidFill>
                <a:latin typeface="Aptos"/>
              </a:defRPr>
            </a:pPr>
            <a:r>
              <a:t>Ground truth: Canonical T: A trajectory shift pattern is a temporal pattern in which an entity changes its direction, speed, or status after a specific time or event. The entity may shift from slow growth to rapid growth, growth to stagnation, growth to decline, decline to recovery, dominance to slowdown, niche activity to momentum, or one 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Conclusions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The setup ranking depends on task shape, but the macro pattern is clear.</a:t>
            </a:r>
          </a:p>
        </p:txBody>
      </p:sp>
      <p:sp>
        <p:nvSpPr>
          <p:cNvPr id="4" name="TextBox 3"/>
          <p:cNvSpPr txBox="1"/>
          <p:nvPr/>
        </p:nvSpPr>
        <p:spPr>
          <a:xfrm>
            <a:off x="685800" y="1005840"/>
            <a:ext cx="10881360" cy="4937760"/>
          </a:xfrm>
          <a:prstGeom prst="rect">
            <a:avLst/>
          </a:prstGeom>
          <a:noFill/>
        </p:spPr>
        <p:txBody>
          <a:bodyPr wrap="square">
            <a:spAutoFit/>
          </a:bodyPr>
          <a:lstStyle/>
          <a:p>
            <a:pPr>
              <a:spcAft>
                <a:spcPts val="700"/>
              </a:spcAft>
              <a:defRPr sz="1400">
                <a:solidFill>
                  <a:srgbClr val="232624"/>
                </a:solidFill>
                <a:latin typeface="Aptos"/>
              </a:defRPr>
            </a:pPr>
            <a:r>
              <a:t>Setup C is the strongest overall setup: it dominates E1 retrieval and usually wins the macro averages for capable models.</a:t>
            </a:r>
          </a:p>
          <a:p>
            <a:pPr>
              <a:spcAft>
                <a:spcPts val="700"/>
              </a:spcAft>
              <a:defRPr sz="1400">
                <a:solidFill>
                  <a:srgbClr val="232624"/>
                </a:solidFill>
                <a:latin typeface="Aptos"/>
              </a:defRPr>
            </a:pPr>
            <a:r>
              <a:t>Setup A remains a strong baseline, especially for direct E2 recovery and for weaker/non-reasoning models on natural-language induction.</a:t>
            </a:r>
          </a:p>
          <a:p>
            <a:pPr>
              <a:spcAft>
                <a:spcPts val="700"/>
              </a:spcAft>
              <a:defRPr sz="1400">
                <a:solidFill>
                  <a:srgbClr val="232624"/>
                </a:solidFill>
                <a:latin typeface="Aptos"/>
              </a:defRPr>
            </a:pPr>
            <a:r>
              <a:t>B-query is diagnostically useful: formal framework notation alone can be a burden when the model must infer the task semantics from rules.</a:t>
            </a:r>
          </a:p>
          <a:p>
            <a:pPr>
              <a:spcAft>
                <a:spcPts val="700"/>
              </a:spcAft>
              <a:defRPr sz="1400">
                <a:solidFill>
                  <a:srgbClr val="232624"/>
                </a:solidFill>
                <a:latin typeface="Aptos"/>
              </a:defRPr>
            </a:pPr>
            <a:r>
              <a:t>B-resolved is the fairer structured-prompt baseline because it keeps the framework but supplies the natural-language task resolution.</a:t>
            </a:r>
          </a:p>
          <a:p>
            <a:pPr>
              <a:spcAft>
                <a:spcPts val="700"/>
              </a:spcAft>
              <a:defRPr sz="1400">
                <a:solidFill>
                  <a:srgbClr val="232624"/>
                </a:solidFill>
                <a:latin typeface="Aptos"/>
              </a:defRPr>
            </a:pPr>
            <a:r>
              <a:t>At larger scale, agentic decomposition starts paying off; at smaller or less reliable reasoning scale, model specialization and instruction-following limits are exposed.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