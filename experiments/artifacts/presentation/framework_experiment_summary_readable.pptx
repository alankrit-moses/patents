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Three Setups</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The comparison isolates direct prompting, framework-grounded prompting, and framework-inspired agency.</a:t>
            </a:r>
          </a:p>
        </p:txBody>
      </p:sp>
      <p:sp>
        <p:nvSpPr>
          <p:cNvPr id="4" name="Rectangle 3"/>
          <p:cNvSpPr/>
          <p:nvPr/>
        </p:nvSpPr>
        <p:spPr>
          <a:xfrm>
            <a:off x="548640" y="1097280"/>
            <a:ext cx="3474720" cy="438912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Setup A: baseline</a:t>
            </a:r>
          </a:p>
          <a:p>
            <a:pPr>
              <a:spcBef>
                <a:spcPts val="200"/>
              </a:spcBef>
              <a:defRPr sz="900">
                <a:solidFill>
                  <a:srgbClr val="232624"/>
                </a:solidFill>
                <a:latin typeface="Aptos"/>
              </a:defRPr>
            </a:pPr>
            <a:r>
              <a:t>Minimal prose prompt.</a:t>
            </a:r>
          </a:p>
          <a:p>
            <a:pPr>
              <a:spcBef>
                <a:spcPts val="200"/>
              </a:spcBef>
              <a:defRPr sz="900">
                <a:solidFill>
                  <a:srgbClr val="232624"/>
                </a:solidFill>
                <a:latin typeface="Aptos"/>
              </a:defRPr>
            </a:pPr>
            <a:r>
              <a:t>One model call.</a:t>
            </a:r>
          </a:p>
          <a:p>
            <a:pPr>
              <a:spcBef>
                <a:spcPts val="200"/>
              </a:spcBef>
              <a:defRPr sz="900">
                <a:solidFill>
                  <a:srgbClr val="232624"/>
                </a:solidFill>
                <a:latin typeface="Aptos"/>
              </a:defRPr>
            </a:pPr>
            <a:r>
              <a:t>No framework notation or decomposition beyond the task statement.</a:t>
            </a:r>
          </a:p>
        </p:txBody>
      </p:sp>
      <p:sp>
        <p:nvSpPr>
          <p:cNvPr id="5" name="Rectangle 4"/>
          <p:cNvSpPr/>
          <p:nvPr/>
        </p:nvSpPr>
        <p:spPr>
          <a:xfrm>
            <a:off x="4343400" y="1097280"/>
            <a:ext cx="3474720" cy="438912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Setup B: structured prompting</a:t>
            </a:r>
          </a:p>
          <a:p>
            <a:pPr>
              <a:spcBef>
                <a:spcPts val="200"/>
              </a:spcBef>
              <a:defRPr sz="900">
                <a:solidFill>
                  <a:srgbClr val="232624"/>
                </a:solidFill>
                <a:latin typeface="Aptos"/>
              </a:defRPr>
            </a:pPr>
            <a:r>
              <a:t>Framework-grounded single prompt.</a:t>
            </a:r>
          </a:p>
          <a:p>
            <a:pPr>
              <a:spcBef>
                <a:spcPts val="200"/>
              </a:spcBef>
              <a:defRPr sz="900">
                <a:solidFill>
                  <a:srgbClr val="232624"/>
                </a:solidFill>
                <a:latin typeface="Aptos"/>
              </a:defRPr>
            </a:pPr>
            <a:r>
              <a:t>Query-only: model receives the formal query and must infer the task from the framework rules.</a:t>
            </a:r>
          </a:p>
          <a:p>
            <a:pPr>
              <a:spcBef>
                <a:spcPts val="200"/>
              </a:spcBef>
              <a:defRPr sz="900">
                <a:solidFill>
                  <a:srgbClr val="232624"/>
                </a:solidFill>
                <a:latin typeface="Aptos"/>
              </a:defRPr>
            </a:pPr>
            <a:r>
              <a:t>Resolved-task: adds a natural-language resolution of what the query asks for.</a:t>
            </a:r>
          </a:p>
        </p:txBody>
      </p:sp>
      <p:sp>
        <p:nvSpPr>
          <p:cNvPr id="6" name="Rectangle 5"/>
          <p:cNvSpPr/>
          <p:nvPr/>
        </p:nvSpPr>
        <p:spPr>
          <a:xfrm>
            <a:off x="8138160" y="1097280"/>
            <a:ext cx="3474720" cy="438912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Setup C: agentic</a:t>
            </a:r>
          </a:p>
          <a:p>
            <a:pPr>
              <a:spcBef>
                <a:spcPts val="200"/>
              </a:spcBef>
              <a:defRPr sz="900">
                <a:solidFill>
                  <a:srgbClr val="232624"/>
                </a:solidFill>
                <a:latin typeface="Aptos"/>
              </a:defRPr>
            </a:pPr>
            <a:r>
              <a:t>Framework-inspired orchestration.</a:t>
            </a:r>
          </a:p>
          <a:p>
            <a:pPr>
              <a:spcBef>
                <a:spcPts val="200"/>
              </a:spcBef>
              <a:defRPr sz="900">
                <a:solidFill>
                  <a:srgbClr val="232624"/>
                </a:solidFill>
                <a:latin typeface="Aptos"/>
              </a:defRPr>
            </a:pPr>
            <a:r>
              <a:t>Specialist steps induce or retrieve components.</a:t>
            </a:r>
          </a:p>
          <a:p>
            <a:pPr>
              <a:spcBef>
                <a:spcPts val="200"/>
              </a:spcBef>
              <a:defRPr sz="900">
                <a:solidFill>
                  <a:srgbClr val="232624"/>
                </a:solidFill>
                <a:latin typeface="Aptos"/>
              </a:defRPr>
            </a:pPr>
            <a:r>
              <a:t>E.text search uses extract-from-chunks plus reduce selection over report chunks.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Three Experiments</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Each experiment asks for a different missing framework component.</a:t>
            </a:r>
          </a:p>
        </p:txBody>
      </p:sp>
      <p:sp>
        <p:nvSpPr>
          <p:cNvPr id="4" name="Rectangle 3"/>
          <p:cNvSpPr/>
          <p:nvPr/>
        </p:nvSpPr>
        <p:spPr>
          <a:xfrm>
            <a:off x="640080" y="960120"/>
            <a:ext cx="1097280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Experiment 1: D:(D.text,_)  P:(M,_,{(?,_)[3]})</a:t>
            </a:r>
          </a:p>
          <a:p>
            <a:pPr>
              <a:spcBef>
                <a:spcPts val="200"/>
              </a:spcBef>
              <a:defRPr sz="900">
                <a:solidFill>
                  <a:srgbClr val="232624"/>
                </a:solidFill>
                <a:latin typeface="Aptos"/>
              </a:defRPr>
            </a:pPr>
            <a:r>
              <a:t>Given a report and a mathematical pattern definition M, retrieve three report excerpts that instantiate the pattern.</a:t>
            </a:r>
          </a:p>
        </p:txBody>
      </p:sp>
      <p:sp>
        <p:nvSpPr>
          <p:cNvPr id="5" name="Rectangle 4"/>
          <p:cNvSpPr/>
          <p:nvPr/>
        </p:nvSpPr>
        <p:spPr>
          <a:xfrm>
            <a:off x="640080" y="2697480"/>
            <a:ext cx="1097280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Experiment 2: D:(D.text,_)  P:(_,_,{(?,E.tab)})</a:t>
            </a:r>
          </a:p>
          <a:p>
            <a:pPr>
              <a:spcBef>
                <a:spcPts val="200"/>
              </a:spcBef>
              <a:defRPr sz="900">
                <a:solidFill>
                  <a:srgbClr val="232624"/>
                </a:solidFill>
                <a:latin typeface="Aptos"/>
              </a:defRPr>
            </a:pPr>
            <a:r>
              <a:t>Given a report and a compact table, recover the report excerpt that expresses the same evidence as the table.</a:t>
            </a:r>
          </a:p>
        </p:txBody>
      </p:sp>
      <p:sp>
        <p:nvSpPr>
          <p:cNvPr id="6" name="Rectangle 5"/>
          <p:cNvSpPr/>
          <p:nvPr/>
        </p:nvSpPr>
        <p:spPr>
          <a:xfrm>
            <a:off x="640080" y="4434840"/>
            <a:ext cx="1097280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300" b="1">
                <a:solidFill>
                  <a:srgbClr val="184E4B"/>
                </a:solidFill>
                <a:latin typeface="Aptos"/>
              </a:defRPr>
            </a:pPr>
            <a:r>
              <a:t>Experiment 3: D:(_,_)  P:(?,?,{(E1.text,E1.tab),(E2.text,E2.tab),...})</a:t>
            </a:r>
          </a:p>
          <a:p>
            <a:pPr>
              <a:spcBef>
                <a:spcPts val="200"/>
              </a:spcBef>
              <a:defRPr sz="900">
                <a:solidFill>
                  <a:srgbClr val="232624"/>
                </a:solidFill>
                <a:latin typeface="Aptos"/>
              </a:defRPr>
            </a:pPr>
            <a:r>
              <a:t>Given paired text/table examples, induce the general mathematical rule M and natural-language description 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Models Tested</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Gemma and Qwen thinking/mixed runs are intentionally excluded from this deck.</a:t>
            </a:r>
          </a:p>
        </p:txBody>
      </p:sp>
      <p:sp>
        <p:nvSpPr>
          <p:cNvPr id="4" name="TextBox 3"/>
          <p:cNvSpPr txBox="1"/>
          <p:nvPr/>
        </p:nvSpPr>
        <p:spPr>
          <a:xfrm>
            <a:off x="777240" y="1143000"/>
            <a:ext cx="10789920" cy="4297680"/>
          </a:xfrm>
          <a:prstGeom prst="rect">
            <a:avLst/>
          </a:prstGeom>
          <a:noFill/>
        </p:spPr>
        <p:txBody>
          <a:bodyPr wrap="square">
            <a:spAutoFit/>
          </a:bodyPr>
          <a:lstStyle/>
          <a:p>
            <a:pPr>
              <a:spcAft>
                <a:spcPts val="700"/>
              </a:spcAft>
              <a:defRPr sz="1500">
                <a:solidFill>
                  <a:srgbClr val="232624"/>
                </a:solidFill>
                <a:latin typeface="Aptos"/>
              </a:defRPr>
            </a:pPr>
            <a:r>
              <a:t>gpt-4.1: strongest direct baseline and the judge model used for evaluation.</a:t>
            </a:r>
          </a:p>
          <a:p>
            <a:pPr>
              <a:spcAft>
                <a:spcPts val="700"/>
              </a:spcAft>
              <a:defRPr sz="1500">
                <a:solidFill>
                  <a:srgbClr val="232624"/>
                </a:solidFill>
                <a:latin typeface="Aptos"/>
              </a:defRPr>
            </a:pPr>
            <a:r>
              <a:t>gpt-oss-high: OpenRouter gpt-oss-120b with high reasoning effort.</a:t>
            </a:r>
          </a:p>
          <a:p>
            <a:pPr>
              <a:spcAft>
                <a:spcPts val="700"/>
              </a:spcAft>
              <a:defRPr sz="1500">
                <a:solidFill>
                  <a:srgbClr val="232624"/>
                </a:solidFill>
                <a:latin typeface="Aptos"/>
              </a:defRPr>
            </a:pPr>
            <a:r>
              <a:t>gpt-oss-medium: OpenRouter gpt-oss-120b with medium reasoning effort.</a:t>
            </a:r>
          </a:p>
          <a:p>
            <a:pPr>
              <a:spcAft>
                <a:spcPts val="700"/>
              </a:spcAft>
              <a:defRPr sz="1500">
                <a:solidFill>
                  <a:srgbClr val="232624"/>
                </a:solidFill>
                <a:latin typeface="Aptos"/>
              </a:defRPr>
            </a:pPr>
            <a:r>
              <a:t>qwen3-32B non-reasoning: OpenRouter Qwen with reasoning disabled and providers pinned.</a:t>
            </a:r>
          </a:p>
          <a:p>
            <a:pPr>
              <a:spcAft>
                <a:spcPts val="700"/>
              </a:spcAft>
              <a:defRPr sz="1500">
                <a:solidFill>
                  <a:srgbClr val="232624"/>
                </a:solidFill>
                <a:latin typeface="Aptos"/>
              </a:defRPr>
            </a:pPr>
            <a:r>
              <a:t>llama3-70B: Llama 3.3 70B comparison run.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Pattern 1 Results</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Robustness means; highlighted cells are setup winners within each model and experiment.</a:t>
            </a:r>
          </a:p>
        </p:txBody>
      </p:sp>
      <p:sp>
        <p:nvSpPr>
          <p:cNvPr id="4" name="TextBox 3"/>
          <p:cNvSpPr txBox="1"/>
          <p:nvPr/>
        </p:nvSpPr>
        <p:spPr>
          <a:xfrm>
            <a:off x="594360" y="960120"/>
            <a:ext cx="11018520" cy="201168"/>
          </a:xfrm>
          <a:prstGeom prst="rect">
            <a:avLst/>
          </a:prstGeom>
          <a:noFill/>
        </p:spPr>
        <p:txBody>
          <a:bodyPr wrap="none">
            <a:spAutoFit/>
          </a:bodyPr>
          <a:lstStyle/>
          <a:p>
            <a:pPr>
              <a:defRPr sz="1150" b="1">
                <a:solidFill>
                  <a:srgbClr val="184E4B"/>
                </a:solidFill>
                <a:latin typeface="Aptos"/>
              </a:defRPr>
            </a:pPr>
            <a:r>
              <a:t>gpt-4.1</a:t>
            </a:r>
          </a:p>
        </p:txBody>
      </p:sp>
      <p:graphicFrame>
        <p:nvGraphicFramePr>
          <p:cNvPr id="5" name="Table 4"/>
          <p:cNvGraphicFramePr>
            <a:graphicFrameLocks noGrp="1"/>
          </p:cNvGraphicFramePr>
          <p:nvPr/>
        </p:nvGraphicFramePr>
        <p:xfrm>
          <a:off x="594360" y="1188720"/>
          <a:ext cx="11018520" cy="795528"/>
        </p:xfrm>
        <a:graphic>
          <a:graphicData uri="http://schemas.openxmlformats.org/drawingml/2006/table">
            <a:tbl>
              <a:tblPr firstRow="1" bandRow="1">
                <a:tableStyleId>{5C22544A-7EE6-4342-B048-85BDC9FD1C3A}</a:tableStyleId>
              </a:tblPr>
              <a:tblGrid>
                <a:gridCol w="2203704"/>
                <a:gridCol w="2203704"/>
                <a:gridCol w="2203704"/>
                <a:gridCol w="2203704"/>
                <a:gridCol w="2203704"/>
              </a:tblGrid>
              <a:tr h="159105">
                <a:tc>
                  <a:txBody>
                    <a:bodyPr/>
                    <a:lstStyle/>
                    <a:p>
                      <a:pPr algn="ctr">
                        <a:defRPr sz="1050" b="1">
                          <a:solidFill>
                            <a:srgbClr val="FFFFFF"/>
                          </a:solidFill>
                          <a:latin typeface="Aptos"/>
                        </a:defRPr>
                      </a:pPr>
                      <a:r>
                        <a:t>Setup</a:t>
                      </a:r>
                    </a:p>
                  </a:txBody>
                  <a:tcPr>
                    <a:solidFill>
                      <a:srgbClr val="25484C"/>
                    </a:solidFill>
                  </a:tcPr>
                </a:tc>
                <a:tc>
                  <a:txBody>
                    <a:bodyPr/>
                    <a:lstStyle/>
                    <a:p>
                      <a:pPr algn="ctr">
                        <a:defRPr sz="1050" b="1">
                          <a:solidFill>
                            <a:srgbClr val="FFFFFF"/>
                          </a:solidFill>
                          <a:latin typeface="Aptos"/>
                        </a:defRPr>
                      </a:pPr>
                      <a:r>
                        <a:t>E1</a:t>
                      </a:r>
                    </a:p>
                  </a:txBody>
                  <a:tcPr>
                    <a:solidFill>
                      <a:srgbClr val="25484C"/>
                    </a:solidFill>
                  </a:tcPr>
                </a:tc>
                <a:tc>
                  <a:txBody>
                    <a:bodyPr/>
                    <a:lstStyle/>
                    <a:p>
                      <a:pPr algn="ctr">
                        <a:defRPr sz="1050" b="1">
                          <a:solidFill>
                            <a:srgbClr val="FFFFFF"/>
                          </a:solidFill>
                          <a:latin typeface="Aptos"/>
                        </a:defRPr>
                      </a:pPr>
                      <a:r>
                        <a:t>E2</a:t>
                      </a:r>
                    </a:p>
                  </a:txBody>
                  <a:tcPr>
                    <a:solidFill>
                      <a:srgbClr val="25484C"/>
                    </a:solidFill>
                  </a:tcPr>
                </a:tc>
                <a:tc>
                  <a:txBody>
                    <a:bodyPr/>
                    <a:lstStyle/>
                    <a:p>
                      <a:pPr algn="ctr">
                        <a:defRPr sz="1050" b="1">
                          <a:solidFill>
                            <a:srgbClr val="FFFFFF"/>
                          </a:solidFill>
                          <a:latin typeface="Aptos"/>
                        </a:defRPr>
                      </a:pPr>
                      <a:r>
                        <a:t>E3-M</a:t>
                      </a:r>
                    </a:p>
                  </a:txBody>
                  <a:tcPr>
                    <a:solidFill>
                      <a:srgbClr val="25484C"/>
                    </a:solidFill>
                  </a:tcPr>
                </a:tc>
                <a:tc>
                  <a:txBody>
                    <a:bodyPr/>
                    <a:lstStyle/>
                    <a:p>
                      <a:pPr algn="ctr">
                        <a:defRPr sz="1050" b="1">
                          <a:solidFill>
                            <a:srgbClr val="FFFFFF"/>
                          </a:solidFill>
                          <a:latin typeface="Aptos"/>
                        </a:defRPr>
                      </a:pPr>
                      <a:r>
                        <a:t>E3-T</a:t>
                      </a:r>
                    </a:p>
                  </a:txBody>
                  <a:tcPr>
                    <a:solidFill>
                      <a:srgbClr val="25484C"/>
                    </a:solidFill>
                  </a:tcPr>
                </a:tc>
              </a:tr>
              <a:tr h="159105">
                <a:tc>
                  <a:txBody>
                    <a:bodyPr/>
                    <a:lstStyle/>
                    <a:p>
                      <a:pPr algn="l">
                        <a:defRPr sz="1050" b="1">
                          <a:solidFill>
                            <a:srgbClr val="232624"/>
                          </a:solidFill>
                          <a:latin typeface="Aptos"/>
                        </a:defRPr>
                      </a:pPr>
                      <a:r>
                        <a:t>A</a:t>
                      </a:r>
                    </a:p>
                  </a:txBody>
                  <a:tcPr marL="18288" marR="18288" marT="9144" marB="9144">
                    <a:solidFill>
                      <a:srgbClr val="FFFFFC"/>
                    </a:solidFill>
                  </a:tcPr>
                </a:tc>
                <a:tc>
                  <a:txBody>
                    <a:bodyPr/>
                    <a:lstStyle/>
                    <a:p>
                      <a:pPr algn="ctr">
                        <a:defRPr sz="1050" b="0">
                          <a:solidFill>
                            <a:srgbClr val="232624"/>
                          </a:solidFill>
                          <a:latin typeface="Aptos"/>
                        </a:defRPr>
                      </a:pPr>
                      <a:r>
                        <a:t>3.56</a:t>
                      </a:r>
                    </a:p>
                  </a:txBody>
                  <a:tcPr marL="18288" marR="18288" marT="9144" marB="9144">
                    <a:solidFill>
                      <a:srgbClr val="FFFFFC"/>
                    </a:solidFill>
                  </a:tcPr>
                </a:tc>
                <a:tc>
                  <a:txBody>
                    <a:bodyPr/>
                    <a:lstStyle/>
                    <a:p>
                      <a:pPr algn="ctr">
                        <a:defRPr sz="1050" b="0">
                          <a:solidFill>
                            <a:srgbClr val="232624"/>
                          </a:solidFill>
                          <a:latin typeface="Aptos"/>
                        </a:defRPr>
                      </a:pPr>
                      <a:r>
                        <a:t>3.50</a:t>
                      </a:r>
                    </a:p>
                  </a:txBody>
                  <a:tcPr marL="18288" marR="18288" marT="9144" marB="9144">
                    <a:solidFill>
                      <a:srgbClr val="FFFFFC"/>
                    </a:solidFill>
                  </a:tcPr>
                </a:tc>
                <a:tc>
                  <a:txBody>
                    <a:bodyPr/>
                    <a:lstStyle/>
                    <a:p>
                      <a:pPr algn="ctr">
                        <a:defRPr sz="1050" b="0">
                          <a:solidFill>
                            <a:srgbClr val="232624"/>
                          </a:solidFill>
                          <a:latin typeface="Aptos"/>
                        </a:defRPr>
                      </a:pPr>
                      <a:r>
                        <a:t>2.78</a:t>
                      </a:r>
                    </a:p>
                  </a:txBody>
                  <a:tcPr marL="18288" marR="18288" marT="9144" marB="9144">
                    <a:solidFill>
                      <a:srgbClr val="FFFFFC"/>
                    </a:solidFill>
                  </a:tcPr>
                </a:tc>
                <a:tc>
                  <a:txBody>
                    <a:bodyPr/>
                    <a:lstStyle/>
                    <a:p>
                      <a:pPr algn="ctr">
                        <a:defRPr sz="1050" b="0">
                          <a:solidFill>
                            <a:srgbClr val="232624"/>
                          </a:solidFill>
                          <a:latin typeface="Aptos"/>
                        </a:defRPr>
                      </a:pPr>
                      <a:r>
                        <a:t>3.67</a:t>
                      </a:r>
                    </a:p>
                  </a:txBody>
                  <a:tcPr marL="18288" marR="18288" marT="9144" marB="9144">
                    <a:solidFill>
                      <a:srgbClr val="FFFFFC"/>
                    </a:solidFill>
                  </a:tcPr>
                </a:tc>
              </a:tr>
              <a:tr h="159105">
                <a:tc>
                  <a:txBody>
                    <a:bodyPr/>
                    <a:lstStyle/>
                    <a:p>
                      <a:pPr algn="l">
                        <a:defRPr sz="1050" b="1">
                          <a:solidFill>
                            <a:srgbClr val="232624"/>
                          </a:solidFill>
                          <a:latin typeface="Aptos"/>
                        </a:defRPr>
                      </a:pPr>
                      <a:r>
                        <a:t>B-query</a:t>
                      </a:r>
                    </a:p>
                  </a:txBody>
                  <a:tcPr marL="18288" marR="18288" marT="9144" marB="9144">
                    <a:solidFill>
                      <a:srgbClr val="FFFFFC"/>
                    </a:solidFill>
                  </a:tcPr>
                </a:tc>
                <a:tc>
                  <a:txBody>
                    <a:bodyPr/>
                    <a:lstStyle/>
                    <a:p>
                      <a:pPr algn="ctr">
                        <a:defRPr sz="1050" b="0">
                          <a:solidFill>
                            <a:srgbClr val="232624"/>
                          </a:solidFill>
                          <a:latin typeface="Aptos"/>
                        </a:defRPr>
                      </a:pPr>
                      <a:r>
                        <a:t>3.48</a:t>
                      </a:r>
                    </a:p>
                  </a:txBody>
                  <a:tcPr marL="18288" marR="18288" marT="9144" marB="9144">
                    <a:solidFill>
                      <a:srgbClr val="FFFFFC"/>
                    </a:solidFill>
                  </a:tcPr>
                </a:tc>
                <a:tc>
                  <a:txBody>
                    <a:bodyPr/>
                    <a:lstStyle/>
                    <a:p>
                      <a:pPr algn="ctr">
                        <a:defRPr sz="1050" b="0">
                          <a:solidFill>
                            <a:srgbClr val="232624"/>
                          </a:solidFill>
                          <a:latin typeface="Aptos"/>
                        </a:defRPr>
                      </a:pPr>
                      <a:r>
                        <a:t>3.28</a:t>
                      </a:r>
                    </a:p>
                  </a:txBody>
                  <a:tcPr marL="18288" marR="18288" marT="9144" marB="9144">
                    <a:solidFill>
                      <a:srgbClr val="FFFFFC"/>
                    </a:solidFill>
                  </a:tcPr>
                </a:tc>
                <a:tc>
                  <a:txBody>
                    <a:bodyPr/>
                    <a:lstStyle/>
                    <a:p>
                      <a:pPr algn="ctr">
                        <a:defRPr sz="1050" b="0">
                          <a:solidFill>
                            <a:srgbClr val="232624"/>
                          </a:solidFill>
                          <a:latin typeface="Aptos"/>
                        </a:defRPr>
                      </a:pPr>
                      <a:r>
                        <a:t>1.00</a:t>
                      </a:r>
                    </a:p>
                  </a:txBody>
                  <a:tcPr marL="18288" marR="18288" marT="9144" marB="9144">
                    <a:solidFill>
                      <a:srgbClr val="FFFFFC"/>
                    </a:solidFill>
                  </a:tcPr>
                </a:tc>
                <a:tc>
                  <a:txBody>
                    <a:bodyPr/>
                    <a:lstStyle/>
                    <a:p>
                      <a:pPr algn="ctr">
                        <a:defRPr sz="1050" b="0">
                          <a:solidFill>
                            <a:srgbClr val="232624"/>
                          </a:solidFill>
                          <a:latin typeface="Aptos"/>
                        </a:defRPr>
                      </a:pPr>
                      <a:r>
                        <a:t>1.56</a:t>
                      </a:r>
                    </a:p>
                  </a:txBody>
                  <a:tcPr marL="18288" marR="18288" marT="9144" marB="9144">
                    <a:solidFill>
                      <a:srgbClr val="FFFFFC"/>
                    </a:solidFill>
                  </a:tcPr>
                </a:tc>
              </a:tr>
              <a:tr h="159105">
                <a:tc>
                  <a:txBody>
                    <a:bodyPr/>
                    <a:lstStyle/>
                    <a:p>
                      <a:pPr algn="l">
                        <a:defRPr sz="1050" b="1">
                          <a:solidFill>
                            <a:srgbClr val="232624"/>
                          </a:solidFill>
                          <a:latin typeface="Aptos"/>
                        </a:defRPr>
                      </a:pPr>
                      <a:r>
                        <a:t>B-resolved</a:t>
                      </a:r>
                    </a:p>
                  </a:txBody>
                  <a:tcPr marL="18288" marR="18288" marT="9144" marB="9144">
                    <a:solidFill>
                      <a:srgbClr val="FFFFFC"/>
                    </a:solidFill>
                  </a:tcPr>
                </a:tc>
                <a:tc>
                  <a:txBody>
                    <a:bodyPr/>
                    <a:lstStyle/>
                    <a:p>
                      <a:pPr algn="ctr">
                        <a:defRPr sz="1050" b="0">
                          <a:solidFill>
                            <a:srgbClr val="232624"/>
                          </a:solidFill>
                          <a:latin typeface="Aptos"/>
                        </a:defRPr>
                      </a:pPr>
                      <a:r>
                        <a:t>3.48</a:t>
                      </a:r>
                    </a:p>
                  </a:txBody>
                  <a:tcPr marL="18288" marR="18288" marT="9144" marB="9144">
                    <a:solidFill>
                      <a:srgbClr val="FFFFFC"/>
                    </a:solidFill>
                  </a:tcPr>
                </a:tc>
                <a:tc>
                  <a:txBody>
                    <a:bodyPr/>
                    <a:lstStyle/>
                    <a:p>
                      <a:pPr algn="ctr">
                        <a:defRPr sz="1050" b="0">
                          <a:solidFill>
                            <a:srgbClr val="232624"/>
                          </a:solidFill>
                          <a:latin typeface="Aptos"/>
                        </a:defRPr>
                      </a:pPr>
                      <a:r>
                        <a:t>3.17</a:t>
                      </a:r>
                    </a:p>
                  </a:txBody>
                  <a:tcPr marL="18288" marR="18288" marT="9144" marB="9144">
                    <a:solidFill>
                      <a:srgbClr val="FFFFFC"/>
                    </a:solidFill>
                  </a:tcPr>
                </a:tc>
                <a:tc>
                  <a:txBody>
                    <a:bodyPr/>
                    <a:lstStyle/>
                    <a:p>
                      <a:pPr algn="ctr">
                        <a:defRPr sz="1050" b="0">
                          <a:solidFill>
                            <a:srgbClr val="232624"/>
                          </a:solidFill>
                          <a:latin typeface="Aptos"/>
                        </a:defRPr>
                      </a:pPr>
                      <a:r>
                        <a:t>2.33</a:t>
                      </a:r>
                    </a:p>
                  </a:txBody>
                  <a:tcPr marL="18288" marR="18288" marT="9144" marB="9144">
                    <a:solidFill>
                      <a:srgbClr val="FFFFFC"/>
                    </a:solidFill>
                  </a:tcPr>
                </a:tc>
                <a:tc>
                  <a:txBody>
                    <a:bodyPr/>
                    <a:lstStyle/>
                    <a:p>
                      <a:pPr algn="ctr">
                        <a:defRPr sz="1050" b="0">
                          <a:solidFill>
                            <a:srgbClr val="232624"/>
                          </a:solidFill>
                          <a:latin typeface="Aptos"/>
                        </a:defRPr>
                      </a:pPr>
                      <a:r>
                        <a:t>2.78</a:t>
                      </a:r>
                    </a:p>
                  </a:txBody>
                  <a:tcPr marL="18288" marR="18288" marT="9144" marB="9144">
                    <a:solidFill>
                      <a:srgbClr val="FFFFFC"/>
                    </a:solidFill>
                  </a:tcPr>
                </a:tc>
              </a:tr>
              <a:tr h="159108">
                <a:tc>
                  <a:txBody>
                    <a:bodyPr/>
                    <a:lstStyle/>
                    <a:p>
                      <a:pPr algn="l">
                        <a:defRPr sz="1050" b="1">
                          <a:solidFill>
                            <a:srgbClr val="232624"/>
                          </a:solidFill>
                          <a:latin typeface="Aptos"/>
                        </a:defRPr>
                      </a:pPr>
                      <a:r>
                        <a:t>C</a:t>
                      </a:r>
                    </a:p>
                  </a:txBody>
                  <a:tcPr marL="18288" marR="18288" marT="9144" marB="9144">
                    <a:solidFill>
                      <a:srgbClr val="FFFFFC"/>
                    </a:solidFill>
                  </a:tcPr>
                </a:tc>
                <a:tc>
                  <a:txBody>
                    <a:bodyPr/>
                    <a:lstStyle/>
                    <a:p>
                      <a:pPr algn="ctr">
                        <a:defRPr sz="1050" b="1">
                          <a:solidFill>
                            <a:srgbClr val="232624"/>
                          </a:solidFill>
                          <a:latin typeface="Aptos"/>
                        </a:defRPr>
                      </a:pPr>
                      <a:r>
                        <a:t>3.89</a:t>
                      </a:r>
                    </a:p>
                  </a:txBody>
                  <a:tcPr marL="18288" marR="18288" marT="9144" marB="9144">
                    <a:solidFill>
                      <a:srgbClr val="DEEFB1"/>
                    </a:solidFill>
                  </a:tcPr>
                </a:tc>
                <a:tc>
                  <a:txBody>
                    <a:bodyPr/>
                    <a:lstStyle/>
                    <a:p>
                      <a:pPr algn="ctr">
                        <a:defRPr sz="1050" b="1">
                          <a:solidFill>
                            <a:srgbClr val="232624"/>
                          </a:solidFill>
                          <a:latin typeface="Aptos"/>
                        </a:defRPr>
                      </a:pPr>
                      <a:r>
                        <a:t>3.67</a:t>
                      </a:r>
                    </a:p>
                  </a:txBody>
                  <a:tcPr marL="18288" marR="18288" marT="9144" marB="9144">
                    <a:solidFill>
                      <a:srgbClr val="DEEFB1"/>
                    </a:solidFill>
                  </a:tcPr>
                </a:tc>
                <a:tc>
                  <a:txBody>
                    <a:bodyPr/>
                    <a:lstStyle/>
                    <a:p>
                      <a:pPr algn="ctr">
                        <a:defRPr sz="1050" b="1">
                          <a:solidFill>
                            <a:srgbClr val="232624"/>
                          </a:solidFill>
                          <a:latin typeface="Aptos"/>
                        </a:defRPr>
                      </a:pPr>
                      <a:r>
                        <a:t>3.00</a:t>
                      </a:r>
                    </a:p>
                  </a:txBody>
                  <a:tcPr marL="18288" marR="18288" marT="9144" marB="9144">
                    <a:solidFill>
                      <a:srgbClr val="DEEFB1"/>
                    </a:solidFill>
                  </a:tcPr>
                </a:tc>
                <a:tc>
                  <a:txBody>
                    <a:bodyPr/>
                    <a:lstStyle/>
                    <a:p>
                      <a:pPr algn="ctr">
                        <a:defRPr sz="1050" b="1">
                          <a:solidFill>
                            <a:srgbClr val="232624"/>
                          </a:solidFill>
                          <a:latin typeface="Aptos"/>
                        </a:defRPr>
                      </a:pPr>
                      <a:r>
                        <a:t>3.78</a:t>
                      </a:r>
                    </a:p>
                  </a:txBody>
                  <a:tcPr marL="18288" marR="18288" marT="9144" marB="9144">
                    <a:solidFill>
                      <a:srgbClr val="DEEFB1"/>
                    </a:solidFill>
                  </a:tcPr>
                </a:tc>
              </a:tr>
            </a:tbl>
          </a:graphicData>
        </a:graphic>
      </p:graphicFrame>
      <p:sp>
        <p:nvSpPr>
          <p:cNvPr id="6" name="TextBox 5"/>
          <p:cNvSpPr txBox="1"/>
          <p:nvPr/>
        </p:nvSpPr>
        <p:spPr>
          <a:xfrm>
            <a:off x="594360" y="2057400"/>
            <a:ext cx="11018520" cy="201168"/>
          </a:xfrm>
          <a:prstGeom prst="rect">
            <a:avLst/>
          </a:prstGeom>
          <a:noFill/>
        </p:spPr>
        <p:txBody>
          <a:bodyPr wrap="none">
            <a:spAutoFit/>
          </a:bodyPr>
          <a:lstStyle/>
          <a:p>
            <a:pPr>
              <a:defRPr sz="1150" b="1">
                <a:solidFill>
                  <a:srgbClr val="184E4B"/>
                </a:solidFill>
                <a:latin typeface="Aptos"/>
              </a:defRPr>
            </a:pPr>
            <a:r>
              <a:t>gpt-oss-high</a:t>
            </a:r>
          </a:p>
        </p:txBody>
      </p:sp>
      <p:graphicFrame>
        <p:nvGraphicFramePr>
          <p:cNvPr id="7" name="Table 6"/>
          <p:cNvGraphicFramePr>
            <a:graphicFrameLocks noGrp="1"/>
          </p:cNvGraphicFramePr>
          <p:nvPr/>
        </p:nvGraphicFramePr>
        <p:xfrm>
          <a:off x="594360" y="2286000"/>
          <a:ext cx="11018520" cy="795528"/>
        </p:xfrm>
        <a:graphic>
          <a:graphicData uri="http://schemas.openxmlformats.org/drawingml/2006/table">
            <a:tbl>
              <a:tblPr firstRow="1" bandRow="1">
                <a:tableStyleId>{5C22544A-7EE6-4342-B048-85BDC9FD1C3A}</a:tableStyleId>
              </a:tblPr>
              <a:tblGrid>
                <a:gridCol w="2203704"/>
                <a:gridCol w="2203704"/>
                <a:gridCol w="2203704"/>
                <a:gridCol w="2203704"/>
                <a:gridCol w="2203704"/>
              </a:tblGrid>
              <a:tr h="159105">
                <a:tc>
                  <a:txBody>
                    <a:bodyPr/>
                    <a:lstStyle/>
                    <a:p>
                      <a:pPr algn="ctr">
                        <a:defRPr sz="1050" b="1">
                          <a:solidFill>
                            <a:srgbClr val="FFFFFF"/>
                          </a:solidFill>
                          <a:latin typeface="Aptos"/>
                        </a:defRPr>
                      </a:pPr>
                      <a:r>
                        <a:t>Setup</a:t>
                      </a:r>
                    </a:p>
                  </a:txBody>
                  <a:tcPr>
                    <a:solidFill>
                      <a:srgbClr val="25484C"/>
                    </a:solidFill>
                  </a:tcPr>
                </a:tc>
                <a:tc>
                  <a:txBody>
                    <a:bodyPr/>
                    <a:lstStyle/>
                    <a:p>
                      <a:pPr algn="ctr">
                        <a:defRPr sz="1050" b="1">
                          <a:solidFill>
                            <a:srgbClr val="FFFFFF"/>
                          </a:solidFill>
                          <a:latin typeface="Aptos"/>
                        </a:defRPr>
                      </a:pPr>
                      <a:r>
                        <a:t>E1</a:t>
                      </a:r>
                    </a:p>
                  </a:txBody>
                  <a:tcPr>
                    <a:solidFill>
                      <a:srgbClr val="25484C"/>
                    </a:solidFill>
                  </a:tcPr>
                </a:tc>
                <a:tc>
                  <a:txBody>
                    <a:bodyPr/>
                    <a:lstStyle/>
                    <a:p>
                      <a:pPr algn="ctr">
                        <a:defRPr sz="1050" b="1">
                          <a:solidFill>
                            <a:srgbClr val="FFFFFF"/>
                          </a:solidFill>
                          <a:latin typeface="Aptos"/>
                        </a:defRPr>
                      </a:pPr>
                      <a:r>
                        <a:t>E2</a:t>
                      </a:r>
                    </a:p>
                  </a:txBody>
                  <a:tcPr>
                    <a:solidFill>
                      <a:srgbClr val="25484C"/>
                    </a:solidFill>
                  </a:tcPr>
                </a:tc>
                <a:tc>
                  <a:txBody>
                    <a:bodyPr/>
                    <a:lstStyle/>
                    <a:p>
                      <a:pPr algn="ctr">
                        <a:defRPr sz="1050" b="1">
                          <a:solidFill>
                            <a:srgbClr val="FFFFFF"/>
                          </a:solidFill>
                          <a:latin typeface="Aptos"/>
                        </a:defRPr>
                      </a:pPr>
                      <a:r>
                        <a:t>E3-M</a:t>
                      </a:r>
                    </a:p>
                  </a:txBody>
                  <a:tcPr>
                    <a:solidFill>
                      <a:srgbClr val="25484C"/>
                    </a:solidFill>
                  </a:tcPr>
                </a:tc>
                <a:tc>
                  <a:txBody>
                    <a:bodyPr/>
                    <a:lstStyle/>
                    <a:p>
                      <a:pPr algn="ctr">
                        <a:defRPr sz="1050" b="1">
                          <a:solidFill>
                            <a:srgbClr val="FFFFFF"/>
                          </a:solidFill>
                          <a:latin typeface="Aptos"/>
                        </a:defRPr>
                      </a:pPr>
                      <a:r>
                        <a:t>E3-T</a:t>
                      </a:r>
                    </a:p>
                  </a:txBody>
                  <a:tcPr>
                    <a:solidFill>
                      <a:srgbClr val="25484C"/>
                    </a:solidFill>
                  </a:tcPr>
                </a:tc>
              </a:tr>
              <a:tr h="159105">
                <a:tc>
                  <a:txBody>
                    <a:bodyPr/>
                    <a:lstStyle/>
                    <a:p>
                      <a:pPr algn="l">
                        <a:defRPr sz="1050" b="1">
                          <a:solidFill>
                            <a:srgbClr val="232624"/>
                          </a:solidFill>
                          <a:latin typeface="Aptos"/>
                        </a:defRPr>
                      </a:pPr>
                      <a:r>
                        <a:t>A</a:t>
                      </a:r>
                    </a:p>
                  </a:txBody>
                  <a:tcPr marL="18288" marR="18288" marT="9144" marB="9144">
                    <a:solidFill>
                      <a:srgbClr val="FFFFFC"/>
                    </a:solidFill>
                  </a:tcPr>
                </a:tc>
                <a:tc>
                  <a:txBody>
                    <a:bodyPr/>
                    <a:lstStyle/>
                    <a:p>
                      <a:pPr algn="ctr">
                        <a:defRPr sz="1050" b="0">
                          <a:solidFill>
                            <a:srgbClr val="232624"/>
                          </a:solidFill>
                          <a:latin typeface="Aptos"/>
                        </a:defRPr>
                      </a:pPr>
                      <a:r>
                        <a:t>3.00</a:t>
                      </a:r>
                    </a:p>
                  </a:txBody>
                  <a:tcPr marL="18288" marR="18288" marT="9144" marB="9144">
                    <a:solidFill>
                      <a:srgbClr val="FFFFFC"/>
                    </a:solidFill>
                  </a:tcPr>
                </a:tc>
                <a:tc>
                  <a:txBody>
                    <a:bodyPr/>
                    <a:lstStyle/>
                    <a:p>
                      <a:pPr algn="ctr">
                        <a:defRPr sz="1050" b="1">
                          <a:solidFill>
                            <a:srgbClr val="232624"/>
                          </a:solidFill>
                          <a:latin typeface="Aptos"/>
                        </a:defRPr>
                      </a:pPr>
                      <a:r>
                        <a:t>3.00</a:t>
                      </a:r>
                    </a:p>
                  </a:txBody>
                  <a:tcPr marL="18288" marR="18288" marT="9144" marB="9144">
                    <a:solidFill>
                      <a:srgbClr val="DEEFB1"/>
                    </a:solidFill>
                  </a:tcPr>
                </a:tc>
                <a:tc>
                  <a:txBody>
                    <a:bodyPr/>
                    <a:lstStyle/>
                    <a:p>
                      <a:pPr algn="ctr">
                        <a:defRPr sz="1050" b="0">
                          <a:solidFill>
                            <a:srgbClr val="232624"/>
                          </a:solidFill>
                          <a:latin typeface="Aptos"/>
                        </a:defRPr>
                      </a:pPr>
                      <a:r>
                        <a:t>1.78</a:t>
                      </a:r>
                    </a:p>
                  </a:txBody>
                  <a:tcPr marL="18288" marR="18288" marT="9144" marB="9144">
                    <a:solidFill>
                      <a:srgbClr val="FFFFFC"/>
                    </a:solidFill>
                  </a:tcPr>
                </a:tc>
                <a:tc>
                  <a:txBody>
                    <a:bodyPr/>
                    <a:lstStyle/>
                    <a:p>
                      <a:pPr algn="ctr">
                        <a:defRPr sz="1050" b="0">
                          <a:solidFill>
                            <a:srgbClr val="232624"/>
                          </a:solidFill>
                          <a:latin typeface="Aptos"/>
                        </a:defRPr>
                      </a:pPr>
                      <a:r>
                        <a:t>2.00</a:t>
                      </a:r>
                    </a:p>
                  </a:txBody>
                  <a:tcPr marL="18288" marR="18288" marT="9144" marB="9144">
                    <a:solidFill>
                      <a:srgbClr val="FFFFFC"/>
                    </a:solidFill>
                  </a:tcPr>
                </a:tc>
              </a:tr>
              <a:tr h="159105">
                <a:tc>
                  <a:txBody>
                    <a:bodyPr/>
                    <a:lstStyle/>
                    <a:p>
                      <a:pPr algn="l">
                        <a:defRPr sz="1050" b="1">
                          <a:solidFill>
                            <a:srgbClr val="232624"/>
                          </a:solidFill>
                          <a:latin typeface="Aptos"/>
                        </a:defRPr>
                      </a:pPr>
                      <a:r>
                        <a:t>B-query</a:t>
                      </a:r>
                    </a:p>
                  </a:txBody>
                  <a:tcPr marL="18288" marR="18288" marT="9144" marB="9144">
                    <a:solidFill>
                      <a:srgbClr val="FFFFFC"/>
                    </a:solidFill>
                  </a:tcPr>
                </a:tc>
                <a:tc>
                  <a:txBody>
                    <a:bodyPr/>
                    <a:lstStyle/>
                    <a:p>
                      <a:pPr algn="ctr">
                        <a:defRPr sz="1050" b="0">
                          <a:solidFill>
                            <a:srgbClr val="232624"/>
                          </a:solidFill>
                          <a:latin typeface="Aptos"/>
                        </a:defRPr>
                      </a:pPr>
                      <a:r>
                        <a:t>2.93</a:t>
                      </a:r>
                    </a:p>
                  </a:txBody>
                  <a:tcPr marL="18288" marR="18288" marT="9144" marB="9144">
                    <a:solidFill>
                      <a:srgbClr val="FFFFFC"/>
                    </a:solidFill>
                  </a:tcPr>
                </a:tc>
                <a:tc>
                  <a:txBody>
                    <a:bodyPr/>
                    <a:lstStyle/>
                    <a:p>
                      <a:pPr algn="ctr">
                        <a:defRPr sz="1050" b="0">
                          <a:solidFill>
                            <a:srgbClr val="232624"/>
                          </a:solidFill>
                          <a:latin typeface="Aptos"/>
                        </a:defRPr>
                      </a:pPr>
                      <a:r>
                        <a:t>2.89</a:t>
                      </a:r>
                    </a:p>
                  </a:txBody>
                  <a:tcPr marL="18288" marR="18288" marT="9144" marB="9144">
                    <a:solidFill>
                      <a:srgbClr val="FFFFFC"/>
                    </a:solidFill>
                  </a:tcPr>
                </a:tc>
                <a:tc>
                  <a:txBody>
                    <a:bodyPr/>
                    <a:lstStyle/>
                    <a:p>
                      <a:pPr algn="ctr">
                        <a:defRPr sz="1050" b="0">
                          <a:solidFill>
                            <a:srgbClr val="232624"/>
                          </a:solidFill>
                          <a:latin typeface="Aptos"/>
                        </a:defRPr>
                      </a:pPr>
                      <a:r>
                        <a:t>1.89</a:t>
                      </a:r>
                    </a:p>
                  </a:txBody>
                  <a:tcPr marL="18288" marR="18288" marT="9144" marB="9144">
                    <a:solidFill>
                      <a:srgbClr val="FFFFFC"/>
                    </a:solidFill>
                  </a:tcPr>
                </a:tc>
                <a:tc>
                  <a:txBody>
                    <a:bodyPr/>
                    <a:lstStyle/>
                    <a:p>
                      <a:pPr algn="ctr">
                        <a:defRPr sz="1050" b="0">
                          <a:solidFill>
                            <a:srgbClr val="232624"/>
                          </a:solidFill>
                          <a:latin typeface="Aptos"/>
                        </a:defRPr>
                      </a:pPr>
                      <a:r>
                        <a:t>2.56</a:t>
                      </a:r>
                    </a:p>
                  </a:txBody>
                  <a:tcPr marL="18288" marR="18288" marT="9144" marB="9144">
                    <a:solidFill>
                      <a:srgbClr val="FFFFFC"/>
                    </a:solidFill>
                  </a:tcPr>
                </a:tc>
              </a:tr>
              <a:tr h="159105">
                <a:tc>
                  <a:txBody>
                    <a:bodyPr/>
                    <a:lstStyle/>
                    <a:p>
                      <a:pPr algn="l">
                        <a:defRPr sz="1050" b="1">
                          <a:solidFill>
                            <a:srgbClr val="232624"/>
                          </a:solidFill>
                          <a:latin typeface="Aptos"/>
                        </a:defRPr>
                      </a:pPr>
                      <a:r>
                        <a:t>B-resolved</a:t>
                      </a:r>
                    </a:p>
                  </a:txBody>
                  <a:tcPr marL="18288" marR="18288" marT="9144" marB="9144">
                    <a:solidFill>
                      <a:srgbClr val="FFFFFC"/>
                    </a:solidFill>
                  </a:tcPr>
                </a:tc>
                <a:tc>
                  <a:txBody>
                    <a:bodyPr/>
                    <a:lstStyle/>
                    <a:p>
                      <a:pPr algn="ctr">
                        <a:defRPr sz="1050" b="0">
                          <a:solidFill>
                            <a:srgbClr val="232624"/>
                          </a:solidFill>
                          <a:latin typeface="Aptos"/>
                        </a:defRPr>
                      </a:pPr>
                      <a:r>
                        <a:t>2.89</a:t>
                      </a:r>
                    </a:p>
                  </a:txBody>
                  <a:tcPr marL="18288" marR="18288" marT="9144" marB="9144">
                    <a:solidFill>
                      <a:srgbClr val="FFFFFC"/>
                    </a:solidFill>
                  </a:tcPr>
                </a:tc>
                <a:tc>
                  <a:txBody>
                    <a:bodyPr/>
                    <a:lstStyle/>
                    <a:p>
                      <a:pPr algn="ctr">
                        <a:defRPr sz="1050" b="0">
                          <a:solidFill>
                            <a:srgbClr val="232624"/>
                          </a:solidFill>
                          <a:latin typeface="Aptos"/>
                        </a:defRPr>
                      </a:pPr>
                      <a:r>
                        <a:t>2.89</a:t>
                      </a:r>
                    </a:p>
                  </a:txBody>
                  <a:tcPr marL="18288" marR="18288" marT="9144" marB="9144">
                    <a:solidFill>
                      <a:srgbClr val="FFFFFC"/>
                    </a:solidFill>
                  </a:tcPr>
                </a:tc>
                <a:tc>
                  <a:txBody>
                    <a:bodyPr/>
                    <a:lstStyle/>
                    <a:p>
                      <a:pPr algn="ctr">
                        <a:defRPr sz="1050" b="0">
                          <a:solidFill>
                            <a:srgbClr val="232624"/>
                          </a:solidFill>
                          <a:latin typeface="Aptos"/>
                        </a:defRPr>
                      </a:pPr>
                      <a:r>
                        <a:t>2.00</a:t>
                      </a:r>
                    </a:p>
                  </a:txBody>
                  <a:tcPr marL="18288" marR="18288" marT="9144" marB="9144">
                    <a:solidFill>
                      <a:srgbClr val="FFFFFC"/>
                    </a:solidFill>
                  </a:tcPr>
                </a:tc>
                <a:tc>
                  <a:txBody>
                    <a:bodyPr/>
                    <a:lstStyle/>
                    <a:p>
                      <a:pPr algn="ctr">
                        <a:defRPr sz="1050" b="0">
                          <a:solidFill>
                            <a:srgbClr val="232624"/>
                          </a:solidFill>
                          <a:latin typeface="Aptos"/>
                        </a:defRPr>
                      </a:pPr>
                      <a:r>
                        <a:t>2.22</a:t>
                      </a:r>
                    </a:p>
                  </a:txBody>
                  <a:tcPr marL="18288" marR="18288" marT="9144" marB="9144">
                    <a:solidFill>
                      <a:srgbClr val="FFFFFC"/>
                    </a:solidFill>
                  </a:tcPr>
                </a:tc>
              </a:tr>
              <a:tr h="159108">
                <a:tc>
                  <a:txBody>
                    <a:bodyPr/>
                    <a:lstStyle/>
                    <a:p>
                      <a:pPr algn="l">
                        <a:defRPr sz="1050" b="1">
                          <a:solidFill>
                            <a:srgbClr val="232624"/>
                          </a:solidFill>
                          <a:latin typeface="Aptos"/>
                        </a:defRPr>
                      </a:pPr>
                      <a:r>
                        <a:t>C</a:t>
                      </a:r>
                    </a:p>
                  </a:txBody>
                  <a:tcPr marL="18288" marR="18288" marT="9144" marB="9144">
                    <a:solidFill>
                      <a:srgbClr val="FFFFFC"/>
                    </a:solidFill>
                  </a:tcPr>
                </a:tc>
                <a:tc>
                  <a:txBody>
                    <a:bodyPr/>
                    <a:lstStyle/>
                    <a:p>
                      <a:pPr algn="ctr">
                        <a:defRPr sz="1050" b="1">
                          <a:solidFill>
                            <a:srgbClr val="232624"/>
                          </a:solidFill>
                          <a:latin typeface="Aptos"/>
                        </a:defRPr>
                      </a:pPr>
                      <a:r>
                        <a:t>3.37</a:t>
                      </a:r>
                    </a:p>
                  </a:txBody>
                  <a:tcPr marL="18288" marR="18288" marT="9144" marB="9144">
                    <a:solidFill>
                      <a:srgbClr val="DEEFB1"/>
                    </a:solidFill>
                  </a:tcPr>
                </a:tc>
                <a:tc>
                  <a:txBody>
                    <a:bodyPr/>
                    <a:lstStyle/>
                    <a:p>
                      <a:pPr algn="ctr">
                        <a:defRPr sz="1050" b="0">
                          <a:solidFill>
                            <a:srgbClr val="232624"/>
                          </a:solidFill>
                          <a:latin typeface="Aptos"/>
                        </a:defRPr>
                      </a:pPr>
                      <a:r>
                        <a:t>2.83</a:t>
                      </a:r>
                    </a:p>
                  </a:txBody>
                  <a:tcPr marL="18288" marR="18288" marT="9144" marB="9144">
                    <a:solidFill>
                      <a:srgbClr val="FFFFFC"/>
                    </a:solidFill>
                  </a:tcPr>
                </a:tc>
                <a:tc>
                  <a:txBody>
                    <a:bodyPr/>
                    <a:lstStyle/>
                    <a:p>
                      <a:pPr algn="ctr">
                        <a:defRPr sz="1050" b="1">
                          <a:solidFill>
                            <a:srgbClr val="232624"/>
                          </a:solidFill>
                          <a:latin typeface="Aptos"/>
                        </a:defRPr>
                      </a:pPr>
                      <a:r>
                        <a:t>2.89</a:t>
                      </a:r>
                    </a:p>
                  </a:txBody>
                  <a:tcPr marL="18288" marR="18288" marT="9144" marB="9144">
                    <a:solidFill>
                      <a:srgbClr val="DEEFB1"/>
                    </a:solidFill>
                  </a:tcPr>
                </a:tc>
                <a:tc>
                  <a:txBody>
                    <a:bodyPr/>
                    <a:lstStyle/>
                    <a:p>
                      <a:pPr algn="ctr">
                        <a:defRPr sz="1050" b="1">
                          <a:solidFill>
                            <a:srgbClr val="232624"/>
                          </a:solidFill>
                          <a:latin typeface="Aptos"/>
                        </a:defRPr>
                      </a:pPr>
                      <a:r>
                        <a:t>3.22</a:t>
                      </a:r>
                    </a:p>
                  </a:txBody>
                  <a:tcPr marL="18288" marR="18288" marT="9144" marB="9144">
                    <a:solidFill>
                      <a:srgbClr val="DEEFB1"/>
                    </a:solidFill>
                  </a:tcPr>
                </a:tc>
              </a:tr>
            </a:tbl>
          </a:graphicData>
        </a:graphic>
      </p:graphicFrame>
      <p:sp>
        <p:nvSpPr>
          <p:cNvPr id="8" name="TextBox 7"/>
          <p:cNvSpPr txBox="1"/>
          <p:nvPr/>
        </p:nvSpPr>
        <p:spPr>
          <a:xfrm>
            <a:off x="594360" y="3154680"/>
            <a:ext cx="11018520" cy="201168"/>
          </a:xfrm>
          <a:prstGeom prst="rect">
            <a:avLst/>
          </a:prstGeom>
          <a:noFill/>
        </p:spPr>
        <p:txBody>
          <a:bodyPr wrap="none">
            <a:spAutoFit/>
          </a:bodyPr>
          <a:lstStyle/>
          <a:p>
            <a:pPr>
              <a:defRPr sz="1150" b="1">
                <a:solidFill>
                  <a:srgbClr val="184E4B"/>
                </a:solidFill>
                <a:latin typeface="Aptos"/>
              </a:defRPr>
            </a:pPr>
            <a:r>
              <a:t>gpt-oss-medium</a:t>
            </a:r>
          </a:p>
        </p:txBody>
      </p:sp>
      <p:graphicFrame>
        <p:nvGraphicFramePr>
          <p:cNvPr id="9" name="Table 8"/>
          <p:cNvGraphicFramePr>
            <a:graphicFrameLocks noGrp="1"/>
          </p:cNvGraphicFramePr>
          <p:nvPr/>
        </p:nvGraphicFramePr>
        <p:xfrm>
          <a:off x="594360" y="3383280"/>
          <a:ext cx="11018520" cy="795528"/>
        </p:xfrm>
        <a:graphic>
          <a:graphicData uri="http://schemas.openxmlformats.org/drawingml/2006/table">
            <a:tbl>
              <a:tblPr firstRow="1" bandRow="1">
                <a:tableStyleId>{5C22544A-7EE6-4342-B048-85BDC9FD1C3A}</a:tableStyleId>
              </a:tblPr>
              <a:tblGrid>
                <a:gridCol w="2203704"/>
                <a:gridCol w="2203704"/>
                <a:gridCol w="2203704"/>
                <a:gridCol w="2203704"/>
                <a:gridCol w="2203704"/>
              </a:tblGrid>
              <a:tr h="159105">
                <a:tc>
                  <a:txBody>
                    <a:bodyPr/>
                    <a:lstStyle/>
                    <a:p>
                      <a:pPr algn="ctr">
                        <a:defRPr sz="1050" b="1">
                          <a:solidFill>
                            <a:srgbClr val="FFFFFF"/>
                          </a:solidFill>
                          <a:latin typeface="Aptos"/>
                        </a:defRPr>
                      </a:pPr>
                      <a:r>
                        <a:t>Setup</a:t>
                      </a:r>
                    </a:p>
                  </a:txBody>
                  <a:tcPr>
                    <a:solidFill>
                      <a:srgbClr val="25484C"/>
                    </a:solidFill>
                  </a:tcPr>
                </a:tc>
                <a:tc>
                  <a:txBody>
                    <a:bodyPr/>
                    <a:lstStyle/>
                    <a:p>
                      <a:pPr algn="ctr">
                        <a:defRPr sz="1050" b="1">
                          <a:solidFill>
                            <a:srgbClr val="FFFFFF"/>
                          </a:solidFill>
                          <a:latin typeface="Aptos"/>
                        </a:defRPr>
                      </a:pPr>
                      <a:r>
                        <a:t>E1</a:t>
                      </a:r>
                    </a:p>
                  </a:txBody>
                  <a:tcPr>
                    <a:solidFill>
                      <a:srgbClr val="25484C"/>
                    </a:solidFill>
                  </a:tcPr>
                </a:tc>
                <a:tc>
                  <a:txBody>
                    <a:bodyPr/>
                    <a:lstStyle/>
                    <a:p>
                      <a:pPr algn="ctr">
                        <a:defRPr sz="1050" b="1">
                          <a:solidFill>
                            <a:srgbClr val="FFFFFF"/>
                          </a:solidFill>
                          <a:latin typeface="Aptos"/>
                        </a:defRPr>
                      </a:pPr>
                      <a:r>
                        <a:t>E2</a:t>
                      </a:r>
                    </a:p>
                  </a:txBody>
                  <a:tcPr>
                    <a:solidFill>
                      <a:srgbClr val="25484C"/>
                    </a:solidFill>
                  </a:tcPr>
                </a:tc>
                <a:tc>
                  <a:txBody>
                    <a:bodyPr/>
                    <a:lstStyle/>
                    <a:p>
                      <a:pPr algn="ctr">
                        <a:defRPr sz="1050" b="1">
                          <a:solidFill>
                            <a:srgbClr val="FFFFFF"/>
                          </a:solidFill>
                          <a:latin typeface="Aptos"/>
                        </a:defRPr>
                      </a:pPr>
                      <a:r>
                        <a:t>E3-M</a:t>
                      </a:r>
                    </a:p>
                  </a:txBody>
                  <a:tcPr>
                    <a:solidFill>
                      <a:srgbClr val="25484C"/>
                    </a:solidFill>
                  </a:tcPr>
                </a:tc>
                <a:tc>
                  <a:txBody>
                    <a:bodyPr/>
                    <a:lstStyle/>
                    <a:p>
                      <a:pPr algn="ctr">
                        <a:defRPr sz="1050" b="1">
                          <a:solidFill>
                            <a:srgbClr val="FFFFFF"/>
                          </a:solidFill>
                          <a:latin typeface="Aptos"/>
                        </a:defRPr>
                      </a:pPr>
                      <a:r>
                        <a:t>E3-T</a:t>
                      </a:r>
                    </a:p>
                  </a:txBody>
                  <a:tcPr>
                    <a:solidFill>
                      <a:srgbClr val="25484C"/>
                    </a:solidFill>
                  </a:tcPr>
                </a:tc>
              </a:tr>
              <a:tr h="159105">
                <a:tc>
                  <a:txBody>
                    <a:bodyPr/>
                    <a:lstStyle/>
                    <a:p>
                      <a:pPr algn="l">
                        <a:defRPr sz="1050" b="1">
                          <a:solidFill>
                            <a:srgbClr val="232624"/>
                          </a:solidFill>
                          <a:latin typeface="Aptos"/>
                        </a:defRPr>
                      </a:pPr>
                      <a:r>
                        <a:t>A</a:t>
                      </a:r>
                    </a:p>
                  </a:txBody>
                  <a:tcPr marL="18288" marR="18288" marT="9144" marB="9144">
                    <a:solidFill>
                      <a:srgbClr val="FFFFFC"/>
                    </a:solidFill>
                  </a:tcPr>
                </a:tc>
                <a:tc>
                  <a:txBody>
                    <a:bodyPr/>
                    <a:lstStyle/>
                    <a:p>
                      <a:pPr algn="ctr">
                        <a:defRPr sz="1050" b="0">
                          <a:solidFill>
                            <a:srgbClr val="232624"/>
                          </a:solidFill>
                          <a:latin typeface="Aptos"/>
                        </a:defRPr>
                      </a:pPr>
                      <a:r>
                        <a:t>2.93</a:t>
                      </a:r>
                    </a:p>
                  </a:txBody>
                  <a:tcPr marL="18288" marR="18288" marT="9144" marB="9144">
                    <a:solidFill>
                      <a:srgbClr val="FFFFFC"/>
                    </a:solidFill>
                  </a:tcPr>
                </a:tc>
                <a:tc>
                  <a:txBody>
                    <a:bodyPr/>
                    <a:lstStyle/>
                    <a:p>
                      <a:pPr algn="ctr">
                        <a:defRPr sz="1050" b="0">
                          <a:solidFill>
                            <a:srgbClr val="232624"/>
                          </a:solidFill>
                          <a:latin typeface="Aptos"/>
                        </a:defRPr>
                      </a:pPr>
                      <a:r>
                        <a:t>2.78</a:t>
                      </a:r>
                    </a:p>
                  </a:txBody>
                  <a:tcPr marL="18288" marR="18288" marT="9144" marB="9144">
                    <a:solidFill>
                      <a:srgbClr val="FFFFFC"/>
                    </a:solidFill>
                  </a:tcPr>
                </a:tc>
                <a:tc>
                  <a:txBody>
                    <a:bodyPr/>
                    <a:lstStyle/>
                    <a:p>
                      <a:pPr algn="ctr">
                        <a:defRPr sz="1050" b="0">
                          <a:solidFill>
                            <a:srgbClr val="232624"/>
                          </a:solidFill>
                          <a:latin typeface="Aptos"/>
                        </a:defRPr>
                      </a:pPr>
                      <a:r>
                        <a:t>2.44</a:t>
                      </a:r>
                    </a:p>
                  </a:txBody>
                  <a:tcPr marL="18288" marR="18288" marT="9144" marB="9144">
                    <a:solidFill>
                      <a:srgbClr val="FFFFFC"/>
                    </a:solidFill>
                  </a:tcPr>
                </a:tc>
                <a:tc>
                  <a:txBody>
                    <a:bodyPr/>
                    <a:lstStyle/>
                    <a:p>
                      <a:pPr algn="ctr">
                        <a:defRPr sz="1050" b="0">
                          <a:solidFill>
                            <a:srgbClr val="232624"/>
                          </a:solidFill>
                          <a:latin typeface="Aptos"/>
                        </a:defRPr>
                      </a:pPr>
                      <a:r>
                        <a:t>2.44</a:t>
                      </a:r>
                    </a:p>
                  </a:txBody>
                  <a:tcPr marL="18288" marR="18288" marT="9144" marB="9144">
                    <a:solidFill>
                      <a:srgbClr val="FFFFFC"/>
                    </a:solidFill>
                  </a:tcPr>
                </a:tc>
              </a:tr>
              <a:tr h="159105">
                <a:tc>
                  <a:txBody>
                    <a:bodyPr/>
                    <a:lstStyle/>
                    <a:p>
                      <a:pPr algn="l">
                        <a:defRPr sz="1050" b="1">
                          <a:solidFill>
                            <a:srgbClr val="232624"/>
                          </a:solidFill>
                          <a:latin typeface="Aptos"/>
                        </a:defRPr>
                      </a:pPr>
                      <a:r>
                        <a:t>B-query</a:t>
                      </a:r>
                    </a:p>
                  </a:txBody>
                  <a:tcPr marL="18288" marR="18288" marT="9144" marB="9144">
                    <a:solidFill>
                      <a:srgbClr val="FFFFFC"/>
                    </a:solidFill>
                  </a:tcPr>
                </a:tc>
                <a:tc>
                  <a:txBody>
                    <a:bodyPr/>
                    <a:lstStyle/>
                    <a:p>
                      <a:pPr algn="ctr">
                        <a:defRPr sz="1050" b="0">
                          <a:solidFill>
                            <a:srgbClr val="232624"/>
                          </a:solidFill>
                          <a:latin typeface="Aptos"/>
                        </a:defRPr>
                      </a:pPr>
                      <a:r>
                        <a:t>2.70</a:t>
                      </a:r>
                    </a:p>
                  </a:txBody>
                  <a:tcPr marL="18288" marR="18288" marT="9144" marB="9144">
                    <a:solidFill>
                      <a:srgbClr val="FFFFFC"/>
                    </a:solidFill>
                  </a:tcPr>
                </a:tc>
                <a:tc>
                  <a:txBody>
                    <a:bodyPr/>
                    <a:lstStyle/>
                    <a:p>
                      <a:pPr algn="ctr">
                        <a:defRPr sz="1050" b="0">
                          <a:solidFill>
                            <a:srgbClr val="232624"/>
                          </a:solidFill>
                          <a:latin typeface="Aptos"/>
                        </a:defRPr>
                      </a:pPr>
                      <a:r>
                        <a:t>3.00</a:t>
                      </a:r>
                    </a:p>
                  </a:txBody>
                  <a:tcPr marL="18288" marR="18288" marT="9144" marB="9144">
                    <a:solidFill>
                      <a:srgbClr val="FFFFFC"/>
                    </a:solidFill>
                  </a:tcPr>
                </a:tc>
                <a:tc>
                  <a:txBody>
                    <a:bodyPr/>
                    <a:lstStyle/>
                    <a:p>
                      <a:pPr algn="ctr">
                        <a:defRPr sz="1050" b="0">
                          <a:solidFill>
                            <a:srgbClr val="232624"/>
                          </a:solidFill>
                          <a:latin typeface="Aptos"/>
                        </a:defRPr>
                      </a:pPr>
                      <a:r>
                        <a:t>1.33</a:t>
                      </a:r>
                    </a:p>
                  </a:txBody>
                  <a:tcPr marL="18288" marR="18288" marT="9144" marB="9144">
                    <a:solidFill>
                      <a:srgbClr val="FFFFFC"/>
                    </a:solidFill>
                  </a:tcPr>
                </a:tc>
                <a:tc>
                  <a:txBody>
                    <a:bodyPr/>
                    <a:lstStyle/>
                    <a:p>
                      <a:pPr algn="ctr">
                        <a:defRPr sz="1050" b="0">
                          <a:solidFill>
                            <a:srgbClr val="232624"/>
                          </a:solidFill>
                          <a:latin typeface="Aptos"/>
                        </a:defRPr>
                      </a:pPr>
                      <a:r>
                        <a:t>1.89</a:t>
                      </a:r>
                    </a:p>
                  </a:txBody>
                  <a:tcPr marL="18288" marR="18288" marT="9144" marB="9144">
                    <a:solidFill>
                      <a:srgbClr val="FFFFFC"/>
                    </a:solidFill>
                  </a:tcPr>
                </a:tc>
              </a:tr>
              <a:tr h="159105">
                <a:tc>
                  <a:txBody>
                    <a:bodyPr/>
                    <a:lstStyle/>
                    <a:p>
                      <a:pPr algn="l">
                        <a:defRPr sz="1050" b="1">
                          <a:solidFill>
                            <a:srgbClr val="232624"/>
                          </a:solidFill>
                          <a:latin typeface="Aptos"/>
                        </a:defRPr>
                      </a:pPr>
                      <a:r>
                        <a:t>B-resolved</a:t>
                      </a:r>
                    </a:p>
                  </a:txBody>
                  <a:tcPr marL="18288" marR="18288" marT="9144" marB="9144">
                    <a:solidFill>
                      <a:srgbClr val="FFFFFC"/>
                    </a:solidFill>
                  </a:tcPr>
                </a:tc>
                <a:tc>
                  <a:txBody>
                    <a:bodyPr/>
                    <a:lstStyle/>
                    <a:p>
                      <a:pPr algn="ctr">
                        <a:defRPr sz="1050" b="0">
                          <a:solidFill>
                            <a:srgbClr val="232624"/>
                          </a:solidFill>
                          <a:latin typeface="Aptos"/>
                        </a:defRPr>
                      </a:pPr>
                      <a:r>
                        <a:t>2.93</a:t>
                      </a:r>
                    </a:p>
                  </a:txBody>
                  <a:tcPr marL="18288" marR="18288" marT="9144" marB="9144">
                    <a:solidFill>
                      <a:srgbClr val="FFFFFC"/>
                    </a:solidFill>
                  </a:tcPr>
                </a:tc>
                <a:tc>
                  <a:txBody>
                    <a:bodyPr/>
                    <a:lstStyle/>
                    <a:p>
                      <a:pPr algn="ctr">
                        <a:defRPr sz="1050" b="1">
                          <a:solidFill>
                            <a:srgbClr val="232624"/>
                          </a:solidFill>
                          <a:latin typeface="Aptos"/>
                        </a:defRPr>
                      </a:pPr>
                      <a:r>
                        <a:t>3.11</a:t>
                      </a:r>
                    </a:p>
                  </a:txBody>
                  <a:tcPr marL="18288" marR="18288" marT="9144" marB="9144">
                    <a:solidFill>
                      <a:srgbClr val="DEEFB1"/>
                    </a:solidFill>
                  </a:tcPr>
                </a:tc>
                <a:tc>
                  <a:txBody>
                    <a:bodyPr/>
                    <a:lstStyle/>
                    <a:p>
                      <a:pPr algn="ctr">
                        <a:defRPr sz="1050" b="0">
                          <a:solidFill>
                            <a:srgbClr val="232624"/>
                          </a:solidFill>
                          <a:latin typeface="Aptos"/>
                        </a:defRPr>
                      </a:pPr>
                      <a:r>
                        <a:t>1.56</a:t>
                      </a:r>
                    </a:p>
                  </a:txBody>
                  <a:tcPr marL="18288" marR="18288" marT="9144" marB="9144">
                    <a:solidFill>
                      <a:srgbClr val="FFFFFC"/>
                    </a:solidFill>
                  </a:tcPr>
                </a:tc>
                <a:tc>
                  <a:txBody>
                    <a:bodyPr/>
                    <a:lstStyle/>
                    <a:p>
                      <a:pPr algn="ctr">
                        <a:defRPr sz="1050" b="0">
                          <a:solidFill>
                            <a:srgbClr val="232624"/>
                          </a:solidFill>
                          <a:latin typeface="Aptos"/>
                        </a:defRPr>
                      </a:pPr>
                      <a:r>
                        <a:t>2.00</a:t>
                      </a:r>
                    </a:p>
                  </a:txBody>
                  <a:tcPr marL="18288" marR="18288" marT="9144" marB="9144">
                    <a:solidFill>
                      <a:srgbClr val="FFFFFC"/>
                    </a:solidFill>
                  </a:tcPr>
                </a:tc>
              </a:tr>
              <a:tr h="159108">
                <a:tc>
                  <a:txBody>
                    <a:bodyPr/>
                    <a:lstStyle/>
                    <a:p>
                      <a:pPr algn="l">
                        <a:defRPr sz="1050" b="1">
                          <a:solidFill>
                            <a:srgbClr val="232624"/>
                          </a:solidFill>
                          <a:latin typeface="Aptos"/>
                        </a:defRPr>
                      </a:pPr>
                      <a:r>
                        <a:t>C</a:t>
                      </a:r>
                    </a:p>
                  </a:txBody>
                  <a:tcPr marL="18288" marR="18288" marT="9144" marB="9144">
                    <a:solidFill>
                      <a:srgbClr val="FFFFFC"/>
                    </a:solidFill>
                  </a:tcPr>
                </a:tc>
                <a:tc>
                  <a:txBody>
                    <a:bodyPr/>
                    <a:lstStyle/>
                    <a:p>
                      <a:pPr algn="ctr">
                        <a:defRPr sz="1050" b="1">
                          <a:solidFill>
                            <a:srgbClr val="232624"/>
                          </a:solidFill>
                          <a:latin typeface="Aptos"/>
                        </a:defRPr>
                      </a:pPr>
                      <a:r>
                        <a:t>3.11</a:t>
                      </a:r>
                    </a:p>
                  </a:txBody>
                  <a:tcPr marL="18288" marR="18288" marT="9144" marB="9144">
                    <a:solidFill>
                      <a:srgbClr val="DEEFB1"/>
                    </a:solidFill>
                  </a:tcPr>
                </a:tc>
                <a:tc>
                  <a:txBody>
                    <a:bodyPr/>
                    <a:lstStyle/>
                    <a:p>
                      <a:pPr algn="ctr">
                        <a:defRPr sz="1050" b="0">
                          <a:solidFill>
                            <a:srgbClr val="232624"/>
                          </a:solidFill>
                          <a:latin typeface="Aptos"/>
                        </a:defRPr>
                      </a:pPr>
                      <a:r>
                        <a:t>2.44</a:t>
                      </a:r>
                    </a:p>
                  </a:txBody>
                  <a:tcPr marL="18288" marR="18288" marT="9144" marB="9144">
                    <a:solidFill>
                      <a:srgbClr val="FFFFFC"/>
                    </a:solidFill>
                  </a:tcPr>
                </a:tc>
                <a:tc>
                  <a:txBody>
                    <a:bodyPr/>
                    <a:lstStyle/>
                    <a:p>
                      <a:pPr algn="ctr">
                        <a:defRPr sz="1050" b="1">
                          <a:solidFill>
                            <a:srgbClr val="232624"/>
                          </a:solidFill>
                          <a:latin typeface="Aptos"/>
                        </a:defRPr>
                      </a:pPr>
                      <a:r>
                        <a:t>3.00</a:t>
                      </a:r>
                    </a:p>
                  </a:txBody>
                  <a:tcPr marL="18288" marR="18288" marT="9144" marB="9144">
                    <a:solidFill>
                      <a:srgbClr val="DEEFB1"/>
                    </a:solidFill>
                  </a:tcPr>
                </a:tc>
                <a:tc>
                  <a:txBody>
                    <a:bodyPr/>
                    <a:lstStyle/>
                    <a:p>
                      <a:pPr algn="ctr">
                        <a:defRPr sz="1050" b="1">
                          <a:solidFill>
                            <a:srgbClr val="232624"/>
                          </a:solidFill>
                          <a:latin typeface="Aptos"/>
                        </a:defRPr>
                      </a:pPr>
                      <a:r>
                        <a:t>3.44</a:t>
                      </a:r>
                    </a:p>
                  </a:txBody>
                  <a:tcPr marL="18288" marR="18288" marT="9144" marB="9144">
                    <a:solidFill>
                      <a:srgbClr val="DEEFB1"/>
                    </a:solidFill>
                  </a:tcPr>
                </a:tc>
              </a:tr>
            </a:tbl>
          </a:graphicData>
        </a:graphic>
      </p:graphicFrame>
      <p:sp>
        <p:nvSpPr>
          <p:cNvPr id="10" name="TextBox 9"/>
          <p:cNvSpPr txBox="1"/>
          <p:nvPr/>
        </p:nvSpPr>
        <p:spPr>
          <a:xfrm>
            <a:off x="594360" y="4251960"/>
            <a:ext cx="11018520" cy="201168"/>
          </a:xfrm>
          <a:prstGeom prst="rect">
            <a:avLst/>
          </a:prstGeom>
          <a:noFill/>
        </p:spPr>
        <p:txBody>
          <a:bodyPr wrap="none">
            <a:spAutoFit/>
          </a:bodyPr>
          <a:lstStyle/>
          <a:p>
            <a:pPr>
              <a:defRPr sz="1150" b="1">
                <a:solidFill>
                  <a:srgbClr val="184E4B"/>
                </a:solidFill>
                <a:latin typeface="Aptos"/>
              </a:defRPr>
            </a:pPr>
            <a:r>
              <a:t>qwen3-32B non-reasoning</a:t>
            </a:r>
          </a:p>
        </p:txBody>
      </p:sp>
      <p:graphicFrame>
        <p:nvGraphicFramePr>
          <p:cNvPr id="11" name="Table 10"/>
          <p:cNvGraphicFramePr>
            <a:graphicFrameLocks noGrp="1"/>
          </p:cNvGraphicFramePr>
          <p:nvPr/>
        </p:nvGraphicFramePr>
        <p:xfrm>
          <a:off x="594360" y="4480560"/>
          <a:ext cx="11018520" cy="795528"/>
        </p:xfrm>
        <a:graphic>
          <a:graphicData uri="http://schemas.openxmlformats.org/drawingml/2006/table">
            <a:tbl>
              <a:tblPr firstRow="1" bandRow="1">
                <a:tableStyleId>{5C22544A-7EE6-4342-B048-85BDC9FD1C3A}</a:tableStyleId>
              </a:tblPr>
              <a:tblGrid>
                <a:gridCol w="2203704"/>
                <a:gridCol w="2203704"/>
                <a:gridCol w="2203704"/>
                <a:gridCol w="2203704"/>
                <a:gridCol w="2203704"/>
              </a:tblGrid>
              <a:tr h="159105">
                <a:tc>
                  <a:txBody>
                    <a:bodyPr/>
                    <a:lstStyle/>
                    <a:p>
                      <a:pPr algn="ctr">
                        <a:defRPr sz="1050" b="1">
                          <a:solidFill>
                            <a:srgbClr val="FFFFFF"/>
                          </a:solidFill>
                          <a:latin typeface="Aptos"/>
                        </a:defRPr>
                      </a:pPr>
                      <a:r>
                        <a:t>Setup</a:t>
                      </a:r>
                    </a:p>
                  </a:txBody>
                  <a:tcPr>
                    <a:solidFill>
                      <a:srgbClr val="25484C"/>
                    </a:solidFill>
                  </a:tcPr>
                </a:tc>
                <a:tc>
                  <a:txBody>
                    <a:bodyPr/>
                    <a:lstStyle/>
                    <a:p>
                      <a:pPr algn="ctr">
                        <a:defRPr sz="1050" b="1">
                          <a:solidFill>
                            <a:srgbClr val="FFFFFF"/>
                          </a:solidFill>
                          <a:latin typeface="Aptos"/>
                        </a:defRPr>
                      </a:pPr>
                      <a:r>
                        <a:t>E1</a:t>
                      </a:r>
                    </a:p>
                  </a:txBody>
                  <a:tcPr>
                    <a:solidFill>
                      <a:srgbClr val="25484C"/>
                    </a:solidFill>
                  </a:tcPr>
                </a:tc>
                <a:tc>
                  <a:txBody>
                    <a:bodyPr/>
                    <a:lstStyle/>
                    <a:p>
                      <a:pPr algn="ctr">
                        <a:defRPr sz="1050" b="1">
                          <a:solidFill>
                            <a:srgbClr val="FFFFFF"/>
                          </a:solidFill>
                          <a:latin typeface="Aptos"/>
                        </a:defRPr>
                      </a:pPr>
                      <a:r>
                        <a:t>E2</a:t>
                      </a:r>
                    </a:p>
                  </a:txBody>
                  <a:tcPr>
                    <a:solidFill>
                      <a:srgbClr val="25484C"/>
                    </a:solidFill>
                  </a:tcPr>
                </a:tc>
                <a:tc>
                  <a:txBody>
                    <a:bodyPr/>
                    <a:lstStyle/>
                    <a:p>
                      <a:pPr algn="ctr">
                        <a:defRPr sz="1050" b="1">
                          <a:solidFill>
                            <a:srgbClr val="FFFFFF"/>
                          </a:solidFill>
                          <a:latin typeface="Aptos"/>
                        </a:defRPr>
                      </a:pPr>
                      <a:r>
                        <a:t>E3-M</a:t>
                      </a:r>
                    </a:p>
                  </a:txBody>
                  <a:tcPr>
                    <a:solidFill>
                      <a:srgbClr val="25484C"/>
                    </a:solidFill>
                  </a:tcPr>
                </a:tc>
                <a:tc>
                  <a:txBody>
                    <a:bodyPr/>
                    <a:lstStyle/>
                    <a:p>
                      <a:pPr algn="ctr">
                        <a:defRPr sz="1050" b="1">
                          <a:solidFill>
                            <a:srgbClr val="FFFFFF"/>
                          </a:solidFill>
                          <a:latin typeface="Aptos"/>
                        </a:defRPr>
                      </a:pPr>
                      <a:r>
                        <a:t>E3-T</a:t>
                      </a:r>
                    </a:p>
                  </a:txBody>
                  <a:tcPr>
                    <a:solidFill>
                      <a:srgbClr val="25484C"/>
                    </a:solidFill>
                  </a:tcPr>
                </a:tc>
              </a:tr>
              <a:tr h="159105">
                <a:tc>
                  <a:txBody>
                    <a:bodyPr/>
                    <a:lstStyle/>
                    <a:p>
                      <a:pPr algn="l">
                        <a:defRPr sz="1050" b="1">
                          <a:solidFill>
                            <a:srgbClr val="232624"/>
                          </a:solidFill>
                          <a:latin typeface="Aptos"/>
                        </a:defRPr>
                      </a:pPr>
                      <a:r>
                        <a:t>A</a:t>
                      </a:r>
                    </a:p>
                  </a:txBody>
                  <a:tcPr marL="18288" marR="18288" marT="9144" marB="9144">
                    <a:solidFill>
                      <a:srgbClr val="FFFFFC"/>
                    </a:solidFill>
                  </a:tcPr>
                </a:tc>
                <a:tc>
                  <a:txBody>
                    <a:bodyPr/>
                    <a:lstStyle/>
                    <a:p>
                      <a:pPr algn="ctr">
                        <a:defRPr sz="1050" b="0">
                          <a:solidFill>
                            <a:srgbClr val="232624"/>
                          </a:solidFill>
                          <a:latin typeface="Aptos"/>
                        </a:defRPr>
                      </a:pPr>
                      <a:r>
                        <a:t>2.00</a:t>
                      </a:r>
                    </a:p>
                  </a:txBody>
                  <a:tcPr marL="18288" marR="18288" marT="9144" marB="9144">
                    <a:solidFill>
                      <a:srgbClr val="FFFFFC"/>
                    </a:solidFill>
                  </a:tcPr>
                </a:tc>
                <a:tc>
                  <a:txBody>
                    <a:bodyPr/>
                    <a:lstStyle/>
                    <a:p>
                      <a:pPr algn="ctr">
                        <a:defRPr sz="1050" b="1">
                          <a:solidFill>
                            <a:srgbClr val="232624"/>
                          </a:solidFill>
                          <a:latin typeface="Aptos"/>
                        </a:defRPr>
                      </a:pPr>
                      <a:r>
                        <a:t>2.17</a:t>
                      </a:r>
                    </a:p>
                  </a:txBody>
                  <a:tcPr marL="18288" marR="18288" marT="9144" marB="9144">
                    <a:solidFill>
                      <a:srgbClr val="DEEFB1"/>
                    </a:solidFill>
                  </a:tcPr>
                </a:tc>
                <a:tc>
                  <a:txBody>
                    <a:bodyPr/>
                    <a:lstStyle/>
                    <a:p>
                      <a:pPr algn="ctr">
                        <a:defRPr sz="1050" b="1">
                          <a:solidFill>
                            <a:srgbClr val="232624"/>
                          </a:solidFill>
                          <a:latin typeface="Aptos"/>
                        </a:defRPr>
                      </a:pPr>
                      <a:r>
                        <a:t>2.67</a:t>
                      </a:r>
                    </a:p>
                  </a:txBody>
                  <a:tcPr marL="18288" marR="18288" marT="9144" marB="9144">
                    <a:solidFill>
                      <a:srgbClr val="DEEFB1"/>
                    </a:solidFill>
                  </a:tcPr>
                </a:tc>
                <a:tc>
                  <a:txBody>
                    <a:bodyPr/>
                    <a:lstStyle/>
                    <a:p>
                      <a:pPr algn="ctr">
                        <a:defRPr sz="1050" b="1">
                          <a:solidFill>
                            <a:srgbClr val="232624"/>
                          </a:solidFill>
                          <a:latin typeface="Aptos"/>
                        </a:defRPr>
                      </a:pPr>
                      <a:r>
                        <a:t>3.44</a:t>
                      </a:r>
                    </a:p>
                  </a:txBody>
                  <a:tcPr marL="18288" marR="18288" marT="9144" marB="9144">
                    <a:solidFill>
                      <a:srgbClr val="DEEFB1"/>
                    </a:solidFill>
                  </a:tcPr>
                </a:tc>
              </a:tr>
              <a:tr h="159105">
                <a:tc>
                  <a:txBody>
                    <a:bodyPr/>
                    <a:lstStyle/>
                    <a:p>
                      <a:pPr algn="l">
                        <a:defRPr sz="1050" b="1">
                          <a:solidFill>
                            <a:srgbClr val="232624"/>
                          </a:solidFill>
                          <a:latin typeface="Aptos"/>
                        </a:defRPr>
                      </a:pPr>
                      <a:r>
                        <a:t>B-query</a:t>
                      </a:r>
                    </a:p>
                  </a:txBody>
                  <a:tcPr marL="18288" marR="18288" marT="9144" marB="9144">
                    <a:solidFill>
                      <a:srgbClr val="FFFFFC"/>
                    </a:solidFill>
                  </a:tcPr>
                </a:tc>
                <a:tc>
                  <a:txBody>
                    <a:bodyPr/>
                    <a:lstStyle/>
                    <a:p>
                      <a:pPr algn="ctr">
                        <a:defRPr sz="1050" b="0">
                          <a:solidFill>
                            <a:srgbClr val="232624"/>
                          </a:solidFill>
                          <a:latin typeface="Aptos"/>
                        </a:defRPr>
                      </a:pPr>
                      <a:r>
                        <a:t>2.53</a:t>
                      </a:r>
                    </a:p>
                  </a:txBody>
                  <a:tcPr marL="18288" marR="18288" marT="9144" marB="9144">
                    <a:solidFill>
                      <a:srgbClr val="FFFFFC"/>
                    </a:solidFill>
                  </a:tcPr>
                </a:tc>
                <a:tc>
                  <a:txBody>
                    <a:bodyPr/>
                    <a:lstStyle/>
                    <a:p>
                      <a:pPr algn="ctr">
                        <a:defRPr sz="1050" b="0">
                          <a:solidFill>
                            <a:srgbClr val="232624"/>
                          </a:solidFill>
                          <a:latin typeface="Aptos"/>
                        </a:defRPr>
                      </a:pPr>
                      <a:r>
                        <a:t>0.79</a:t>
                      </a:r>
                    </a:p>
                  </a:txBody>
                  <a:tcPr marL="18288" marR="18288" marT="9144" marB="9144">
                    <a:solidFill>
                      <a:srgbClr val="FFFFFC"/>
                    </a:solidFill>
                  </a:tcPr>
                </a:tc>
                <a:tc>
                  <a:txBody>
                    <a:bodyPr/>
                    <a:lstStyle/>
                    <a:p>
                      <a:pPr algn="ctr">
                        <a:defRPr sz="1050" b="0">
                          <a:solidFill>
                            <a:srgbClr val="232624"/>
                          </a:solidFill>
                          <a:latin typeface="Aptos"/>
                        </a:defRPr>
                      </a:pPr>
                      <a:r>
                        <a:t>1.22</a:t>
                      </a:r>
                    </a:p>
                  </a:txBody>
                  <a:tcPr marL="18288" marR="18288" marT="9144" marB="9144">
                    <a:solidFill>
                      <a:srgbClr val="FFFFFC"/>
                    </a:solidFill>
                  </a:tcPr>
                </a:tc>
                <a:tc>
                  <a:txBody>
                    <a:bodyPr/>
                    <a:lstStyle/>
                    <a:p>
                      <a:pPr algn="ctr">
                        <a:defRPr sz="1050" b="0">
                          <a:solidFill>
                            <a:srgbClr val="232624"/>
                          </a:solidFill>
                          <a:latin typeface="Aptos"/>
                        </a:defRPr>
                      </a:pPr>
                      <a:r>
                        <a:t>1.44</a:t>
                      </a:r>
                    </a:p>
                  </a:txBody>
                  <a:tcPr marL="18288" marR="18288" marT="9144" marB="9144">
                    <a:solidFill>
                      <a:srgbClr val="FFFFFC"/>
                    </a:solidFill>
                  </a:tcPr>
                </a:tc>
              </a:tr>
              <a:tr h="159105">
                <a:tc>
                  <a:txBody>
                    <a:bodyPr/>
                    <a:lstStyle/>
                    <a:p>
                      <a:pPr algn="l">
                        <a:defRPr sz="1050" b="1">
                          <a:solidFill>
                            <a:srgbClr val="232624"/>
                          </a:solidFill>
                          <a:latin typeface="Aptos"/>
                        </a:defRPr>
                      </a:pPr>
                      <a:r>
                        <a:t>B-resolved</a:t>
                      </a:r>
                    </a:p>
                  </a:txBody>
                  <a:tcPr marL="18288" marR="18288" marT="9144" marB="9144">
                    <a:solidFill>
                      <a:srgbClr val="FFFFFC"/>
                    </a:solidFill>
                  </a:tcPr>
                </a:tc>
                <a:tc>
                  <a:txBody>
                    <a:bodyPr/>
                    <a:lstStyle/>
                    <a:p>
                      <a:pPr algn="ctr">
                        <a:defRPr sz="1050" b="0">
                          <a:solidFill>
                            <a:srgbClr val="232624"/>
                          </a:solidFill>
                          <a:latin typeface="Aptos"/>
                        </a:defRPr>
                      </a:pPr>
                      <a:r>
                        <a:t>1.78</a:t>
                      </a:r>
                    </a:p>
                  </a:txBody>
                  <a:tcPr marL="18288" marR="18288" marT="9144" marB="9144">
                    <a:solidFill>
                      <a:srgbClr val="FFFFFC"/>
                    </a:solidFill>
                  </a:tcPr>
                </a:tc>
                <a:tc>
                  <a:txBody>
                    <a:bodyPr/>
                    <a:lstStyle/>
                    <a:p>
                      <a:pPr algn="ctr">
                        <a:defRPr sz="1050" b="0">
                          <a:solidFill>
                            <a:srgbClr val="232624"/>
                          </a:solidFill>
                          <a:latin typeface="Aptos"/>
                        </a:defRPr>
                      </a:pPr>
                      <a:r>
                        <a:t>1.82</a:t>
                      </a:r>
                    </a:p>
                  </a:txBody>
                  <a:tcPr marL="18288" marR="18288" marT="9144" marB="9144">
                    <a:solidFill>
                      <a:srgbClr val="FFFFFC"/>
                    </a:solidFill>
                  </a:tcPr>
                </a:tc>
                <a:tc>
                  <a:txBody>
                    <a:bodyPr/>
                    <a:lstStyle/>
                    <a:p>
                      <a:pPr algn="ctr">
                        <a:defRPr sz="1050" b="0">
                          <a:solidFill>
                            <a:srgbClr val="232624"/>
                          </a:solidFill>
                          <a:latin typeface="Aptos"/>
                        </a:defRPr>
                      </a:pPr>
                      <a:r>
                        <a:t>2.00</a:t>
                      </a:r>
                    </a:p>
                  </a:txBody>
                  <a:tcPr marL="18288" marR="18288" marT="9144" marB="9144">
                    <a:solidFill>
                      <a:srgbClr val="FFFFFC"/>
                    </a:solidFill>
                  </a:tcPr>
                </a:tc>
                <a:tc>
                  <a:txBody>
                    <a:bodyPr/>
                    <a:lstStyle/>
                    <a:p>
                      <a:pPr algn="ctr">
                        <a:defRPr sz="1050" b="0">
                          <a:solidFill>
                            <a:srgbClr val="232624"/>
                          </a:solidFill>
                          <a:latin typeface="Aptos"/>
                        </a:defRPr>
                      </a:pPr>
                      <a:r>
                        <a:t>2.89</a:t>
                      </a:r>
                    </a:p>
                  </a:txBody>
                  <a:tcPr marL="18288" marR="18288" marT="9144" marB="9144">
                    <a:solidFill>
                      <a:srgbClr val="FFFFFC"/>
                    </a:solidFill>
                  </a:tcPr>
                </a:tc>
              </a:tr>
              <a:tr h="159108">
                <a:tc>
                  <a:txBody>
                    <a:bodyPr/>
                    <a:lstStyle/>
                    <a:p>
                      <a:pPr algn="l">
                        <a:defRPr sz="1050" b="1">
                          <a:solidFill>
                            <a:srgbClr val="232624"/>
                          </a:solidFill>
                          <a:latin typeface="Aptos"/>
                        </a:defRPr>
                      </a:pPr>
                      <a:r>
                        <a:t>C</a:t>
                      </a:r>
                    </a:p>
                  </a:txBody>
                  <a:tcPr marL="18288" marR="18288" marT="9144" marB="9144">
                    <a:solidFill>
                      <a:srgbClr val="FFFFFC"/>
                    </a:solidFill>
                  </a:tcPr>
                </a:tc>
                <a:tc>
                  <a:txBody>
                    <a:bodyPr/>
                    <a:lstStyle/>
                    <a:p>
                      <a:pPr algn="ctr">
                        <a:defRPr sz="1050" b="1">
                          <a:solidFill>
                            <a:srgbClr val="232624"/>
                          </a:solidFill>
                          <a:latin typeface="Aptos"/>
                        </a:defRPr>
                      </a:pPr>
                      <a:r>
                        <a:t>2.81</a:t>
                      </a:r>
                    </a:p>
                  </a:txBody>
                  <a:tcPr marL="18288" marR="18288" marT="9144" marB="9144">
                    <a:solidFill>
                      <a:srgbClr val="DEEFB1"/>
                    </a:solidFill>
                  </a:tcPr>
                </a:tc>
                <a:tc>
                  <a:txBody>
                    <a:bodyPr/>
                    <a:lstStyle/>
                    <a:p>
                      <a:pPr algn="ctr">
                        <a:defRPr sz="1050" b="0">
                          <a:solidFill>
                            <a:srgbClr val="232624"/>
                          </a:solidFill>
                          <a:latin typeface="Aptos"/>
                        </a:defRPr>
                      </a:pPr>
                      <a:r>
                        <a:t>2.00</a:t>
                      </a:r>
                    </a:p>
                  </a:txBody>
                  <a:tcPr marL="18288" marR="18288" marT="9144" marB="9144">
                    <a:solidFill>
                      <a:srgbClr val="FFFFFC"/>
                    </a:solidFill>
                  </a:tcPr>
                </a:tc>
                <a:tc>
                  <a:txBody>
                    <a:bodyPr/>
                    <a:lstStyle/>
                    <a:p>
                      <a:pPr algn="ctr">
                        <a:defRPr sz="1050" b="0">
                          <a:solidFill>
                            <a:srgbClr val="232624"/>
                          </a:solidFill>
                          <a:latin typeface="Aptos"/>
                        </a:defRPr>
                      </a:pPr>
                      <a:r>
                        <a:t>2.44</a:t>
                      </a:r>
                    </a:p>
                  </a:txBody>
                  <a:tcPr marL="18288" marR="18288" marT="9144" marB="9144">
                    <a:solidFill>
                      <a:srgbClr val="FFFFFC"/>
                    </a:solidFill>
                  </a:tcPr>
                </a:tc>
                <a:tc>
                  <a:txBody>
                    <a:bodyPr/>
                    <a:lstStyle/>
                    <a:p>
                      <a:pPr algn="ctr">
                        <a:defRPr sz="1050" b="0">
                          <a:solidFill>
                            <a:srgbClr val="232624"/>
                          </a:solidFill>
                          <a:latin typeface="Aptos"/>
                        </a:defRPr>
                      </a:pPr>
                      <a:r>
                        <a:t>3.22</a:t>
                      </a:r>
                    </a:p>
                  </a:txBody>
                  <a:tcPr marL="18288" marR="18288" marT="9144" marB="9144">
                    <a:solidFill>
                      <a:srgbClr val="FFFFFC"/>
                    </a:solidFill>
                  </a:tcPr>
                </a:tc>
              </a:tr>
            </a:tbl>
          </a:graphicData>
        </a:graphic>
      </p:graphicFrame>
      <p:sp>
        <p:nvSpPr>
          <p:cNvPr id="12" name="TextBox 11"/>
          <p:cNvSpPr txBox="1"/>
          <p:nvPr/>
        </p:nvSpPr>
        <p:spPr>
          <a:xfrm>
            <a:off x="594360" y="5349240"/>
            <a:ext cx="11018520" cy="201168"/>
          </a:xfrm>
          <a:prstGeom prst="rect">
            <a:avLst/>
          </a:prstGeom>
          <a:noFill/>
        </p:spPr>
        <p:txBody>
          <a:bodyPr wrap="none">
            <a:spAutoFit/>
          </a:bodyPr>
          <a:lstStyle/>
          <a:p>
            <a:pPr>
              <a:defRPr sz="1150" b="1">
                <a:solidFill>
                  <a:srgbClr val="184E4B"/>
                </a:solidFill>
                <a:latin typeface="Aptos"/>
              </a:defRPr>
            </a:pPr>
            <a:r>
              <a:t>llama3-70B</a:t>
            </a:r>
          </a:p>
        </p:txBody>
      </p:sp>
      <p:graphicFrame>
        <p:nvGraphicFramePr>
          <p:cNvPr id="13" name="Table 12"/>
          <p:cNvGraphicFramePr>
            <a:graphicFrameLocks noGrp="1"/>
          </p:cNvGraphicFramePr>
          <p:nvPr/>
        </p:nvGraphicFramePr>
        <p:xfrm>
          <a:off x="594360" y="5577840"/>
          <a:ext cx="11018520" cy="795528"/>
        </p:xfrm>
        <a:graphic>
          <a:graphicData uri="http://schemas.openxmlformats.org/drawingml/2006/table">
            <a:tbl>
              <a:tblPr firstRow="1" bandRow="1">
                <a:tableStyleId>{5C22544A-7EE6-4342-B048-85BDC9FD1C3A}</a:tableStyleId>
              </a:tblPr>
              <a:tblGrid>
                <a:gridCol w="2203704"/>
                <a:gridCol w="2203704"/>
                <a:gridCol w="2203704"/>
                <a:gridCol w="2203704"/>
                <a:gridCol w="2203704"/>
              </a:tblGrid>
              <a:tr h="159105">
                <a:tc>
                  <a:txBody>
                    <a:bodyPr/>
                    <a:lstStyle/>
                    <a:p>
                      <a:pPr algn="ctr">
                        <a:defRPr sz="1050" b="1">
                          <a:solidFill>
                            <a:srgbClr val="FFFFFF"/>
                          </a:solidFill>
                          <a:latin typeface="Aptos"/>
                        </a:defRPr>
                      </a:pPr>
                      <a:r>
                        <a:t>Setup</a:t>
                      </a:r>
                    </a:p>
                  </a:txBody>
                  <a:tcPr>
                    <a:solidFill>
                      <a:srgbClr val="25484C"/>
                    </a:solidFill>
                  </a:tcPr>
                </a:tc>
                <a:tc>
                  <a:txBody>
                    <a:bodyPr/>
                    <a:lstStyle/>
                    <a:p>
                      <a:pPr algn="ctr">
                        <a:defRPr sz="1050" b="1">
                          <a:solidFill>
                            <a:srgbClr val="FFFFFF"/>
                          </a:solidFill>
                          <a:latin typeface="Aptos"/>
                        </a:defRPr>
                      </a:pPr>
                      <a:r>
                        <a:t>E1</a:t>
                      </a:r>
                    </a:p>
                  </a:txBody>
                  <a:tcPr>
                    <a:solidFill>
                      <a:srgbClr val="25484C"/>
                    </a:solidFill>
                  </a:tcPr>
                </a:tc>
                <a:tc>
                  <a:txBody>
                    <a:bodyPr/>
                    <a:lstStyle/>
                    <a:p>
                      <a:pPr algn="ctr">
                        <a:defRPr sz="1050" b="1">
                          <a:solidFill>
                            <a:srgbClr val="FFFFFF"/>
                          </a:solidFill>
                          <a:latin typeface="Aptos"/>
                        </a:defRPr>
                      </a:pPr>
                      <a:r>
                        <a:t>E2</a:t>
                      </a:r>
                    </a:p>
                  </a:txBody>
                  <a:tcPr>
                    <a:solidFill>
                      <a:srgbClr val="25484C"/>
                    </a:solidFill>
                  </a:tcPr>
                </a:tc>
                <a:tc>
                  <a:txBody>
                    <a:bodyPr/>
                    <a:lstStyle/>
                    <a:p>
                      <a:pPr algn="ctr">
                        <a:defRPr sz="1050" b="1">
                          <a:solidFill>
                            <a:srgbClr val="FFFFFF"/>
                          </a:solidFill>
                          <a:latin typeface="Aptos"/>
                        </a:defRPr>
                      </a:pPr>
                      <a:r>
                        <a:t>E3-M</a:t>
                      </a:r>
                    </a:p>
                  </a:txBody>
                  <a:tcPr>
                    <a:solidFill>
                      <a:srgbClr val="25484C"/>
                    </a:solidFill>
                  </a:tcPr>
                </a:tc>
                <a:tc>
                  <a:txBody>
                    <a:bodyPr/>
                    <a:lstStyle/>
                    <a:p>
                      <a:pPr algn="ctr">
                        <a:defRPr sz="1050" b="1">
                          <a:solidFill>
                            <a:srgbClr val="FFFFFF"/>
                          </a:solidFill>
                          <a:latin typeface="Aptos"/>
                        </a:defRPr>
                      </a:pPr>
                      <a:r>
                        <a:t>E3-T</a:t>
                      </a:r>
                    </a:p>
                  </a:txBody>
                  <a:tcPr>
                    <a:solidFill>
                      <a:srgbClr val="25484C"/>
                    </a:solidFill>
                  </a:tcPr>
                </a:tc>
              </a:tr>
              <a:tr h="159105">
                <a:tc>
                  <a:txBody>
                    <a:bodyPr/>
                    <a:lstStyle/>
                    <a:p>
                      <a:pPr algn="l">
                        <a:defRPr sz="1050" b="1">
                          <a:solidFill>
                            <a:srgbClr val="232624"/>
                          </a:solidFill>
                          <a:latin typeface="Aptos"/>
                        </a:defRPr>
                      </a:pPr>
                      <a:r>
                        <a:t>A</a:t>
                      </a:r>
                    </a:p>
                  </a:txBody>
                  <a:tcPr marL="18288" marR="18288" marT="9144" marB="9144">
                    <a:solidFill>
                      <a:srgbClr val="FFFFFC"/>
                    </a:solidFill>
                  </a:tcPr>
                </a:tc>
                <a:tc>
                  <a:txBody>
                    <a:bodyPr/>
                    <a:lstStyle/>
                    <a:p>
                      <a:pPr algn="ctr">
                        <a:defRPr sz="1050" b="0">
                          <a:solidFill>
                            <a:srgbClr val="232624"/>
                          </a:solidFill>
                          <a:latin typeface="Aptos"/>
                        </a:defRPr>
                      </a:pPr>
                      <a:r>
                        <a:t>1.59</a:t>
                      </a:r>
                    </a:p>
                  </a:txBody>
                  <a:tcPr marL="18288" marR="18288" marT="9144" marB="9144">
                    <a:solidFill>
                      <a:srgbClr val="FFFFFC"/>
                    </a:solidFill>
                  </a:tcPr>
                </a:tc>
                <a:tc>
                  <a:txBody>
                    <a:bodyPr/>
                    <a:lstStyle/>
                    <a:p>
                      <a:pPr algn="ctr">
                        <a:defRPr sz="1050" b="1">
                          <a:solidFill>
                            <a:srgbClr val="232624"/>
                          </a:solidFill>
                          <a:latin typeface="Aptos"/>
                        </a:defRPr>
                      </a:pPr>
                      <a:r>
                        <a:t>2.06</a:t>
                      </a:r>
                    </a:p>
                  </a:txBody>
                  <a:tcPr marL="18288" marR="18288" marT="9144" marB="9144">
                    <a:solidFill>
                      <a:srgbClr val="DEEFB1"/>
                    </a:solidFill>
                  </a:tcPr>
                </a:tc>
                <a:tc>
                  <a:txBody>
                    <a:bodyPr/>
                    <a:lstStyle/>
                    <a:p>
                      <a:pPr algn="ctr">
                        <a:defRPr sz="1050" b="0">
                          <a:solidFill>
                            <a:srgbClr val="232624"/>
                          </a:solidFill>
                          <a:latin typeface="Aptos"/>
                        </a:defRPr>
                      </a:pPr>
                      <a:r>
                        <a:t>1.67</a:t>
                      </a:r>
                    </a:p>
                  </a:txBody>
                  <a:tcPr marL="18288" marR="18288" marT="9144" marB="9144">
                    <a:solidFill>
                      <a:srgbClr val="FFFFFC"/>
                    </a:solidFill>
                  </a:tcPr>
                </a:tc>
                <a:tc>
                  <a:txBody>
                    <a:bodyPr/>
                    <a:lstStyle/>
                    <a:p>
                      <a:pPr algn="ctr">
                        <a:defRPr sz="1050" b="1">
                          <a:solidFill>
                            <a:srgbClr val="232624"/>
                          </a:solidFill>
                          <a:latin typeface="Aptos"/>
                        </a:defRPr>
                      </a:pPr>
                      <a:r>
                        <a:t>2.89</a:t>
                      </a:r>
                    </a:p>
                  </a:txBody>
                  <a:tcPr marL="18288" marR="18288" marT="9144" marB="9144">
                    <a:solidFill>
                      <a:srgbClr val="DEEFB1"/>
                    </a:solidFill>
                  </a:tcPr>
                </a:tc>
              </a:tr>
              <a:tr h="159105">
                <a:tc>
                  <a:txBody>
                    <a:bodyPr/>
                    <a:lstStyle/>
                    <a:p>
                      <a:pPr algn="l">
                        <a:defRPr sz="1050" b="1">
                          <a:solidFill>
                            <a:srgbClr val="232624"/>
                          </a:solidFill>
                          <a:latin typeface="Aptos"/>
                        </a:defRPr>
                      </a:pPr>
                      <a:r>
                        <a:t>B-query</a:t>
                      </a:r>
                    </a:p>
                  </a:txBody>
                  <a:tcPr marL="18288" marR="18288" marT="9144" marB="9144">
                    <a:solidFill>
                      <a:srgbClr val="FFFFFC"/>
                    </a:solidFill>
                  </a:tcPr>
                </a:tc>
                <a:tc>
                  <a:txBody>
                    <a:bodyPr/>
                    <a:lstStyle/>
                    <a:p>
                      <a:pPr algn="ctr">
                        <a:defRPr sz="1050" b="0">
                          <a:solidFill>
                            <a:srgbClr val="232624"/>
                          </a:solidFill>
                          <a:latin typeface="Aptos"/>
                        </a:defRPr>
                      </a:pPr>
                      <a:r>
                        <a:t>1.26</a:t>
                      </a:r>
                    </a:p>
                  </a:txBody>
                  <a:tcPr marL="18288" marR="18288" marT="9144" marB="9144">
                    <a:solidFill>
                      <a:srgbClr val="FFFFFC"/>
                    </a:solidFill>
                  </a:tcPr>
                </a:tc>
                <a:tc>
                  <a:txBody>
                    <a:bodyPr/>
                    <a:lstStyle/>
                    <a:p>
                      <a:pPr algn="ctr">
                        <a:defRPr sz="1050" b="0">
                          <a:solidFill>
                            <a:srgbClr val="232624"/>
                          </a:solidFill>
                          <a:latin typeface="Aptos"/>
                        </a:defRPr>
                      </a:pPr>
                      <a:r>
                        <a:t>0.89</a:t>
                      </a:r>
                    </a:p>
                  </a:txBody>
                  <a:tcPr marL="18288" marR="18288" marT="9144" marB="9144">
                    <a:solidFill>
                      <a:srgbClr val="FFFFFC"/>
                    </a:solidFill>
                  </a:tcPr>
                </a:tc>
                <a:tc>
                  <a:txBody>
                    <a:bodyPr/>
                    <a:lstStyle/>
                    <a:p>
                      <a:pPr algn="ctr">
                        <a:defRPr sz="1050" b="0">
                          <a:solidFill>
                            <a:srgbClr val="232624"/>
                          </a:solidFill>
                          <a:latin typeface="Aptos"/>
                        </a:defRPr>
                      </a:pPr>
                      <a:r>
                        <a:t>1.11</a:t>
                      </a:r>
                    </a:p>
                  </a:txBody>
                  <a:tcPr marL="18288" marR="18288" marT="9144" marB="9144">
                    <a:solidFill>
                      <a:srgbClr val="FFFFFC"/>
                    </a:solidFill>
                  </a:tcPr>
                </a:tc>
                <a:tc>
                  <a:txBody>
                    <a:bodyPr/>
                    <a:lstStyle/>
                    <a:p>
                      <a:pPr algn="ctr">
                        <a:defRPr sz="1050" b="0">
                          <a:solidFill>
                            <a:srgbClr val="232624"/>
                          </a:solidFill>
                          <a:latin typeface="Aptos"/>
                        </a:defRPr>
                      </a:pPr>
                      <a:r>
                        <a:t>1.33</a:t>
                      </a:r>
                    </a:p>
                  </a:txBody>
                  <a:tcPr marL="18288" marR="18288" marT="9144" marB="9144">
                    <a:solidFill>
                      <a:srgbClr val="FFFFFC"/>
                    </a:solidFill>
                  </a:tcPr>
                </a:tc>
              </a:tr>
              <a:tr h="159105">
                <a:tc>
                  <a:txBody>
                    <a:bodyPr/>
                    <a:lstStyle/>
                    <a:p>
                      <a:pPr algn="l">
                        <a:defRPr sz="1050" b="1">
                          <a:solidFill>
                            <a:srgbClr val="232624"/>
                          </a:solidFill>
                          <a:latin typeface="Aptos"/>
                        </a:defRPr>
                      </a:pPr>
                      <a:r>
                        <a:t>B-resolved</a:t>
                      </a:r>
                    </a:p>
                  </a:txBody>
                  <a:tcPr marL="18288" marR="18288" marT="9144" marB="9144">
                    <a:solidFill>
                      <a:srgbClr val="FFFFFC"/>
                    </a:solidFill>
                  </a:tcPr>
                </a:tc>
                <a:tc>
                  <a:txBody>
                    <a:bodyPr/>
                    <a:lstStyle/>
                    <a:p>
                      <a:pPr algn="ctr">
                        <a:defRPr sz="1050" b="0">
                          <a:solidFill>
                            <a:srgbClr val="232624"/>
                          </a:solidFill>
                          <a:latin typeface="Aptos"/>
                        </a:defRPr>
                      </a:pPr>
                      <a:r>
                        <a:t>0.70</a:t>
                      </a:r>
                    </a:p>
                  </a:txBody>
                  <a:tcPr marL="18288" marR="18288" marT="9144" marB="9144">
                    <a:solidFill>
                      <a:srgbClr val="FFFFFC"/>
                    </a:solidFill>
                  </a:tcPr>
                </a:tc>
                <a:tc>
                  <a:txBody>
                    <a:bodyPr/>
                    <a:lstStyle/>
                    <a:p>
                      <a:pPr algn="ctr">
                        <a:defRPr sz="1050" b="0">
                          <a:solidFill>
                            <a:srgbClr val="232624"/>
                          </a:solidFill>
                          <a:latin typeface="Aptos"/>
                        </a:defRPr>
                      </a:pPr>
                      <a:r>
                        <a:t>0.28</a:t>
                      </a:r>
                    </a:p>
                  </a:txBody>
                  <a:tcPr marL="18288" marR="18288" marT="9144" marB="9144">
                    <a:solidFill>
                      <a:srgbClr val="FFFFFC"/>
                    </a:solidFill>
                  </a:tcPr>
                </a:tc>
                <a:tc>
                  <a:txBody>
                    <a:bodyPr/>
                    <a:lstStyle/>
                    <a:p>
                      <a:pPr algn="ctr">
                        <a:defRPr sz="1050" b="0">
                          <a:solidFill>
                            <a:srgbClr val="232624"/>
                          </a:solidFill>
                          <a:latin typeface="Aptos"/>
                        </a:defRPr>
                      </a:pPr>
                      <a:r>
                        <a:t>1.11</a:t>
                      </a:r>
                    </a:p>
                  </a:txBody>
                  <a:tcPr marL="18288" marR="18288" marT="9144" marB="9144">
                    <a:solidFill>
                      <a:srgbClr val="FFFFFC"/>
                    </a:solidFill>
                  </a:tcPr>
                </a:tc>
                <a:tc>
                  <a:txBody>
                    <a:bodyPr/>
                    <a:lstStyle/>
                    <a:p>
                      <a:pPr algn="ctr">
                        <a:defRPr sz="1050" b="0">
                          <a:solidFill>
                            <a:srgbClr val="232624"/>
                          </a:solidFill>
                          <a:latin typeface="Aptos"/>
                        </a:defRPr>
                      </a:pPr>
                      <a:r>
                        <a:t>1.44</a:t>
                      </a:r>
                    </a:p>
                  </a:txBody>
                  <a:tcPr marL="18288" marR="18288" marT="9144" marB="9144">
                    <a:solidFill>
                      <a:srgbClr val="FFFFFC"/>
                    </a:solidFill>
                  </a:tcPr>
                </a:tc>
              </a:tr>
              <a:tr h="159108">
                <a:tc>
                  <a:txBody>
                    <a:bodyPr/>
                    <a:lstStyle/>
                    <a:p>
                      <a:pPr algn="l">
                        <a:defRPr sz="1050" b="1">
                          <a:solidFill>
                            <a:srgbClr val="232624"/>
                          </a:solidFill>
                          <a:latin typeface="Aptos"/>
                        </a:defRPr>
                      </a:pPr>
                      <a:r>
                        <a:t>C</a:t>
                      </a:r>
                    </a:p>
                  </a:txBody>
                  <a:tcPr marL="18288" marR="18288" marT="9144" marB="9144">
                    <a:solidFill>
                      <a:srgbClr val="FFFFFC"/>
                    </a:solidFill>
                  </a:tcPr>
                </a:tc>
                <a:tc>
                  <a:txBody>
                    <a:bodyPr/>
                    <a:lstStyle/>
                    <a:p>
                      <a:pPr algn="ctr">
                        <a:defRPr sz="1050" b="1">
                          <a:solidFill>
                            <a:srgbClr val="232624"/>
                          </a:solidFill>
                          <a:latin typeface="Aptos"/>
                        </a:defRPr>
                      </a:pPr>
                      <a:r>
                        <a:t>3.15</a:t>
                      </a:r>
                    </a:p>
                  </a:txBody>
                  <a:tcPr marL="18288" marR="18288" marT="9144" marB="9144">
                    <a:solidFill>
                      <a:srgbClr val="DEEFB1"/>
                    </a:solidFill>
                  </a:tcPr>
                </a:tc>
                <a:tc>
                  <a:txBody>
                    <a:bodyPr/>
                    <a:lstStyle/>
                    <a:p>
                      <a:pPr algn="ctr">
                        <a:defRPr sz="1050" b="0">
                          <a:solidFill>
                            <a:srgbClr val="232624"/>
                          </a:solidFill>
                          <a:latin typeface="Aptos"/>
                        </a:defRPr>
                      </a:pPr>
                      <a:r>
                        <a:t>1.17</a:t>
                      </a:r>
                    </a:p>
                  </a:txBody>
                  <a:tcPr marL="18288" marR="18288" marT="9144" marB="9144">
                    <a:solidFill>
                      <a:srgbClr val="FFFFFC"/>
                    </a:solidFill>
                  </a:tcPr>
                </a:tc>
                <a:tc>
                  <a:txBody>
                    <a:bodyPr/>
                    <a:lstStyle/>
                    <a:p>
                      <a:pPr algn="ctr">
                        <a:defRPr sz="1050" b="1">
                          <a:solidFill>
                            <a:srgbClr val="232624"/>
                          </a:solidFill>
                          <a:latin typeface="Aptos"/>
                        </a:defRPr>
                      </a:pPr>
                      <a:r>
                        <a:t>1.89</a:t>
                      </a:r>
                    </a:p>
                  </a:txBody>
                  <a:tcPr marL="18288" marR="18288" marT="9144" marB="9144">
                    <a:solidFill>
                      <a:srgbClr val="DEEFB1"/>
                    </a:solidFill>
                  </a:tcPr>
                </a:tc>
                <a:tc>
                  <a:txBody>
                    <a:bodyPr/>
                    <a:lstStyle/>
                    <a:p>
                      <a:pPr algn="ctr">
                        <a:defRPr sz="1050" b="0">
                          <a:solidFill>
                            <a:srgbClr val="232624"/>
                          </a:solidFill>
                          <a:latin typeface="Aptos"/>
                        </a:defRPr>
                      </a:pPr>
                      <a:r>
                        <a:t>2.00</a:t>
                      </a:r>
                    </a:p>
                  </a:txBody>
                  <a:tcPr marL="18288" marR="18288" marT="9144" marB="9144">
                    <a:solidFill>
                      <a:srgbClr val="FFFFFC"/>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Pattern 2 Results</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Robustness means; highlighted cells are setup winners within each model and experiment.</a:t>
            </a:r>
          </a:p>
        </p:txBody>
      </p:sp>
      <p:sp>
        <p:nvSpPr>
          <p:cNvPr id="4" name="TextBox 3"/>
          <p:cNvSpPr txBox="1"/>
          <p:nvPr/>
        </p:nvSpPr>
        <p:spPr>
          <a:xfrm>
            <a:off x="594360" y="960120"/>
            <a:ext cx="11018520" cy="201168"/>
          </a:xfrm>
          <a:prstGeom prst="rect">
            <a:avLst/>
          </a:prstGeom>
          <a:noFill/>
        </p:spPr>
        <p:txBody>
          <a:bodyPr wrap="none">
            <a:spAutoFit/>
          </a:bodyPr>
          <a:lstStyle/>
          <a:p>
            <a:pPr>
              <a:defRPr sz="1150" b="1">
                <a:solidFill>
                  <a:srgbClr val="184E4B"/>
                </a:solidFill>
                <a:latin typeface="Aptos"/>
              </a:defRPr>
            </a:pPr>
            <a:r>
              <a:t>gpt-4.1</a:t>
            </a:r>
          </a:p>
        </p:txBody>
      </p:sp>
      <p:graphicFrame>
        <p:nvGraphicFramePr>
          <p:cNvPr id="5" name="Table 4"/>
          <p:cNvGraphicFramePr>
            <a:graphicFrameLocks noGrp="1"/>
          </p:cNvGraphicFramePr>
          <p:nvPr/>
        </p:nvGraphicFramePr>
        <p:xfrm>
          <a:off x="594360" y="1188720"/>
          <a:ext cx="11018520" cy="795528"/>
        </p:xfrm>
        <a:graphic>
          <a:graphicData uri="http://schemas.openxmlformats.org/drawingml/2006/table">
            <a:tbl>
              <a:tblPr firstRow="1" bandRow="1">
                <a:tableStyleId>{5C22544A-7EE6-4342-B048-85BDC9FD1C3A}</a:tableStyleId>
              </a:tblPr>
              <a:tblGrid>
                <a:gridCol w="2203704"/>
                <a:gridCol w="2203704"/>
                <a:gridCol w="2203704"/>
                <a:gridCol w="2203704"/>
                <a:gridCol w="2203704"/>
              </a:tblGrid>
              <a:tr h="159105">
                <a:tc>
                  <a:txBody>
                    <a:bodyPr/>
                    <a:lstStyle/>
                    <a:p>
                      <a:pPr algn="ctr">
                        <a:defRPr sz="1050" b="1">
                          <a:solidFill>
                            <a:srgbClr val="FFFFFF"/>
                          </a:solidFill>
                          <a:latin typeface="Aptos"/>
                        </a:defRPr>
                      </a:pPr>
                      <a:r>
                        <a:t>Setup</a:t>
                      </a:r>
                    </a:p>
                  </a:txBody>
                  <a:tcPr>
                    <a:solidFill>
                      <a:srgbClr val="25484C"/>
                    </a:solidFill>
                  </a:tcPr>
                </a:tc>
                <a:tc>
                  <a:txBody>
                    <a:bodyPr/>
                    <a:lstStyle/>
                    <a:p>
                      <a:pPr algn="ctr">
                        <a:defRPr sz="1050" b="1">
                          <a:solidFill>
                            <a:srgbClr val="FFFFFF"/>
                          </a:solidFill>
                          <a:latin typeface="Aptos"/>
                        </a:defRPr>
                      </a:pPr>
                      <a:r>
                        <a:t>E1</a:t>
                      </a:r>
                    </a:p>
                  </a:txBody>
                  <a:tcPr>
                    <a:solidFill>
                      <a:srgbClr val="25484C"/>
                    </a:solidFill>
                  </a:tcPr>
                </a:tc>
                <a:tc>
                  <a:txBody>
                    <a:bodyPr/>
                    <a:lstStyle/>
                    <a:p>
                      <a:pPr algn="ctr">
                        <a:defRPr sz="1050" b="1">
                          <a:solidFill>
                            <a:srgbClr val="FFFFFF"/>
                          </a:solidFill>
                          <a:latin typeface="Aptos"/>
                        </a:defRPr>
                      </a:pPr>
                      <a:r>
                        <a:t>E2</a:t>
                      </a:r>
                    </a:p>
                  </a:txBody>
                  <a:tcPr>
                    <a:solidFill>
                      <a:srgbClr val="25484C"/>
                    </a:solidFill>
                  </a:tcPr>
                </a:tc>
                <a:tc>
                  <a:txBody>
                    <a:bodyPr/>
                    <a:lstStyle/>
                    <a:p>
                      <a:pPr algn="ctr">
                        <a:defRPr sz="1050" b="1">
                          <a:solidFill>
                            <a:srgbClr val="FFFFFF"/>
                          </a:solidFill>
                          <a:latin typeface="Aptos"/>
                        </a:defRPr>
                      </a:pPr>
                      <a:r>
                        <a:t>E3-M</a:t>
                      </a:r>
                    </a:p>
                  </a:txBody>
                  <a:tcPr>
                    <a:solidFill>
                      <a:srgbClr val="25484C"/>
                    </a:solidFill>
                  </a:tcPr>
                </a:tc>
                <a:tc>
                  <a:txBody>
                    <a:bodyPr/>
                    <a:lstStyle/>
                    <a:p>
                      <a:pPr algn="ctr">
                        <a:defRPr sz="1050" b="1">
                          <a:solidFill>
                            <a:srgbClr val="FFFFFF"/>
                          </a:solidFill>
                          <a:latin typeface="Aptos"/>
                        </a:defRPr>
                      </a:pPr>
                      <a:r>
                        <a:t>E3-T</a:t>
                      </a:r>
                    </a:p>
                  </a:txBody>
                  <a:tcPr>
                    <a:solidFill>
                      <a:srgbClr val="25484C"/>
                    </a:solidFill>
                  </a:tcPr>
                </a:tc>
              </a:tr>
              <a:tr h="159105">
                <a:tc>
                  <a:txBody>
                    <a:bodyPr/>
                    <a:lstStyle/>
                    <a:p>
                      <a:pPr algn="l">
                        <a:defRPr sz="1050" b="1">
                          <a:solidFill>
                            <a:srgbClr val="232624"/>
                          </a:solidFill>
                          <a:latin typeface="Aptos"/>
                        </a:defRPr>
                      </a:pPr>
                      <a:r>
                        <a:t>A</a:t>
                      </a:r>
                    </a:p>
                  </a:txBody>
                  <a:tcPr marL="18288" marR="18288" marT="9144" marB="9144">
                    <a:solidFill>
                      <a:srgbClr val="FFFFFC"/>
                    </a:solidFill>
                  </a:tcPr>
                </a:tc>
                <a:tc>
                  <a:txBody>
                    <a:bodyPr/>
                    <a:lstStyle/>
                    <a:p>
                      <a:pPr algn="ctr">
                        <a:defRPr sz="1050" b="0">
                          <a:solidFill>
                            <a:srgbClr val="232624"/>
                          </a:solidFill>
                          <a:latin typeface="Aptos"/>
                        </a:defRPr>
                      </a:pPr>
                      <a:r>
                        <a:t>2.00</a:t>
                      </a:r>
                    </a:p>
                  </a:txBody>
                  <a:tcPr marL="18288" marR="18288" marT="9144" marB="9144">
                    <a:solidFill>
                      <a:srgbClr val="FFFFFC"/>
                    </a:solidFill>
                  </a:tcPr>
                </a:tc>
                <a:tc>
                  <a:txBody>
                    <a:bodyPr/>
                    <a:lstStyle/>
                    <a:p>
                      <a:pPr algn="ctr">
                        <a:defRPr sz="1050" b="0">
                          <a:solidFill>
                            <a:srgbClr val="232624"/>
                          </a:solidFill>
                          <a:latin typeface="Aptos"/>
                        </a:defRPr>
                      </a:pPr>
                      <a:r>
                        <a:t>1.17</a:t>
                      </a:r>
                    </a:p>
                  </a:txBody>
                  <a:tcPr marL="18288" marR="18288" marT="9144" marB="9144">
                    <a:solidFill>
                      <a:srgbClr val="FFFFFC"/>
                    </a:solidFill>
                  </a:tcPr>
                </a:tc>
                <a:tc>
                  <a:txBody>
                    <a:bodyPr/>
                    <a:lstStyle/>
                    <a:p>
                      <a:pPr algn="ctr">
                        <a:defRPr sz="1050" b="0">
                          <a:solidFill>
                            <a:srgbClr val="232624"/>
                          </a:solidFill>
                          <a:latin typeface="Aptos"/>
                        </a:defRPr>
                      </a:pPr>
                      <a:r>
                        <a:t>3.22</a:t>
                      </a:r>
                    </a:p>
                  </a:txBody>
                  <a:tcPr marL="18288" marR="18288" marT="9144" marB="9144">
                    <a:solidFill>
                      <a:srgbClr val="FFFFFC"/>
                    </a:solidFill>
                  </a:tcPr>
                </a:tc>
                <a:tc>
                  <a:txBody>
                    <a:bodyPr/>
                    <a:lstStyle/>
                    <a:p>
                      <a:pPr algn="ctr">
                        <a:defRPr sz="1050" b="1">
                          <a:solidFill>
                            <a:srgbClr val="232624"/>
                          </a:solidFill>
                          <a:latin typeface="Aptos"/>
                        </a:defRPr>
                      </a:pPr>
                      <a:r>
                        <a:t>4.00</a:t>
                      </a:r>
                    </a:p>
                  </a:txBody>
                  <a:tcPr marL="18288" marR="18288" marT="9144" marB="9144">
                    <a:solidFill>
                      <a:srgbClr val="DEEFB1"/>
                    </a:solidFill>
                  </a:tcPr>
                </a:tc>
              </a:tr>
              <a:tr h="159105">
                <a:tc>
                  <a:txBody>
                    <a:bodyPr/>
                    <a:lstStyle/>
                    <a:p>
                      <a:pPr algn="l">
                        <a:defRPr sz="1050" b="1">
                          <a:solidFill>
                            <a:srgbClr val="232624"/>
                          </a:solidFill>
                          <a:latin typeface="Aptos"/>
                        </a:defRPr>
                      </a:pPr>
                      <a:r>
                        <a:t>B-query</a:t>
                      </a:r>
                    </a:p>
                  </a:txBody>
                  <a:tcPr marL="18288" marR="18288" marT="9144" marB="9144">
                    <a:solidFill>
                      <a:srgbClr val="FFFFFC"/>
                    </a:solidFill>
                  </a:tcPr>
                </a:tc>
                <a:tc>
                  <a:txBody>
                    <a:bodyPr/>
                    <a:lstStyle/>
                    <a:p>
                      <a:pPr algn="ctr">
                        <a:defRPr sz="1050" b="0">
                          <a:solidFill>
                            <a:srgbClr val="232624"/>
                          </a:solidFill>
                          <a:latin typeface="Aptos"/>
                        </a:defRPr>
                      </a:pPr>
                      <a:r>
                        <a:t>2.11</a:t>
                      </a:r>
                    </a:p>
                  </a:txBody>
                  <a:tcPr marL="18288" marR="18288" marT="9144" marB="9144">
                    <a:solidFill>
                      <a:srgbClr val="FFFFFC"/>
                    </a:solidFill>
                  </a:tcPr>
                </a:tc>
                <a:tc>
                  <a:txBody>
                    <a:bodyPr/>
                    <a:lstStyle/>
                    <a:p>
                      <a:pPr algn="ctr">
                        <a:defRPr sz="1050" b="0">
                          <a:solidFill>
                            <a:srgbClr val="232624"/>
                          </a:solidFill>
                          <a:latin typeface="Aptos"/>
                        </a:defRPr>
                      </a:pPr>
                      <a:r>
                        <a:t>1.39</a:t>
                      </a:r>
                    </a:p>
                  </a:txBody>
                  <a:tcPr marL="18288" marR="18288" marT="9144" marB="9144">
                    <a:solidFill>
                      <a:srgbClr val="FFFFFC"/>
                    </a:solidFill>
                  </a:tcPr>
                </a:tc>
                <a:tc>
                  <a:txBody>
                    <a:bodyPr/>
                    <a:lstStyle/>
                    <a:p>
                      <a:pPr algn="ctr">
                        <a:defRPr sz="1050" b="0">
                          <a:solidFill>
                            <a:srgbClr val="232624"/>
                          </a:solidFill>
                          <a:latin typeface="Aptos"/>
                        </a:defRPr>
                      </a:pPr>
                      <a:r>
                        <a:t>2.78</a:t>
                      </a:r>
                    </a:p>
                  </a:txBody>
                  <a:tcPr marL="18288" marR="18288" marT="9144" marB="9144">
                    <a:solidFill>
                      <a:srgbClr val="FFFFFC"/>
                    </a:solidFill>
                  </a:tcPr>
                </a:tc>
                <a:tc>
                  <a:txBody>
                    <a:bodyPr/>
                    <a:lstStyle/>
                    <a:p>
                      <a:pPr algn="ctr">
                        <a:defRPr sz="1050" b="0">
                          <a:solidFill>
                            <a:srgbClr val="232624"/>
                          </a:solidFill>
                          <a:latin typeface="Aptos"/>
                        </a:defRPr>
                      </a:pPr>
                      <a:r>
                        <a:t>3.78</a:t>
                      </a:r>
                    </a:p>
                  </a:txBody>
                  <a:tcPr marL="18288" marR="18288" marT="9144" marB="9144">
                    <a:solidFill>
                      <a:srgbClr val="FFFFFC"/>
                    </a:solidFill>
                  </a:tcPr>
                </a:tc>
              </a:tr>
              <a:tr h="159105">
                <a:tc>
                  <a:txBody>
                    <a:bodyPr/>
                    <a:lstStyle/>
                    <a:p>
                      <a:pPr algn="l">
                        <a:defRPr sz="1050" b="1">
                          <a:solidFill>
                            <a:srgbClr val="232624"/>
                          </a:solidFill>
                          <a:latin typeface="Aptos"/>
                        </a:defRPr>
                      </a:pPr>
                      <a:r>
                        <a:t>B-resolved</a:t>
                      </a:r>
                    </a:p>
                  </a:txBody>
                  <a:tcPr marL="18288" marR="18288" marT="9144" marB="9144">
                    <a:solidFill>
                      <a:srgbClr val="FFFFFC"/>
                    </a:solidFill>
                  </a:tcPr>
                </a:tc>
                <a:tc>
                  <a:txBody>
                    <a:bodyPr/>
                    <a:lstStyle/>
                    <a:p>
                      <a:pPr algn="ctr">
                        <a:defRPr sz="1050" b="0">
                          <a:solidFill>
                            <a:srgbClr val="232624"/>
                          </a:solidFill>
                          <a:latin typeface="Aptos"/>
                        </a:defRPr>
                      </a:pPr>
                      <a:r>
                        <a:t>1.93</a:t>
                      </a:r>
                    </a:p>
                  </a:txBody>
                  <a:tcPr marL="18288" marR="18288" marT="9144" marB="9144">
                    <a:solidFill>
                      <a:srgbClr val="FFFFFC"/>
                    </a:solidFill>
                  </a:tcPr>
                </a:tc>
                <a:tc>
                  <a:txBody>
                    <a:bodyPr/>
                    <a:lstStyle/>
                    <a:p>
                      <a:pPr algn="ctr">
                        <a:defRPr sz="1050" b="0">
                          <a:solidFill>
                            <a:srgbClr val="232624"/>
                          </a:solidFill>
                          <a:latin typeface="Aptos"/>
                        </a:defRPr>
                      </a:pPr>
                      <a:r>
                        <a:t>1.67</a:t>
                      </a:r>
                    </a:p>
                  </a:txBody>
                  <a:tcPr marL="18288" marR="18288" marT="9144" marB="9144">
                    <a:solidFill>
                      <a:srgbClr val="FFFFFC"/>
                    </a:solidFill>
                  </a:tcPr>
                </a:tc>
                <a:tc>
                  <a:txBody>
                    <a:bodyPr/>
                    <a:lstStyle/>
                    <a:p>
                      <a:pPr algn="ctr">
                        <a:defRPr sz="1050" b="0">
                          <a:solidFill>
                            <a:srgbClr val="232624"/>
                          </a:solidFill>
                          <a:latin typeface="Aptos"/>
                        </a:defRPr>
                      </a:pPr>
                      <a:r>
                        <a:t>3.11</a:t>
                      </a:r>
                    </a:p>
                  </a:txBody>
                  <a:tcPr marL="18288" marR="18288" marT="9144" marB="9144">
                    <a:solidFill>
                      <a:srgbClr val="FFFFFC"/>
                    </a:solidFill>
                  </a:tcPr>
                </a:tc>
                <a:tc>
                  <a:txBody>
                    <a:bodyPr/>
                    <a:lstStyle/>
                    <a:p>
                      <a:pPr algn="ctr">
                        <a:defRPr sz="1050" b="1">
                          <a:solidFill>
                            <a:srgbClr val="232624"/>
                          </a:solidFill>
                          <a:latin typeface="Aptos"/>
                        </a:defRPr>
                      </a:pPr>
                      <a:r>
                        <a:t>4.00</a:t>
                      </a:r>
                    </a:p>
                  </a:txBody>
                  <a:tcPr marL="18288" marR="18288" marT="9144" marB="9144">
                    <a:solidFill>
                      <a:srgbClr val="DEEFB1"/>
                    </a:solidFill>
                  </a:tcPr>
                </a:tc>
              </a:tr>
              <a:tr h="159108">
                <a:tc>
                  <a:txBody>
                    <a:bodyPr/>
                    <a:lstStyle/>
                    <a:p>
                      <a:pPr algn="l">
                        <a:defRPr sz="1050" b="1">
                          <a:solidFill>
                            <a:srgbClr val="232624"/>
                          </a:solidFill>
                          <a:latin typeface="Aptos"/>
                        </a:defRPr>
                      </a:pPr>
                      <a:r>
                        <a:t>C</a:t>
                      </a:r>
                    </a:p>
                  </a:txBody>
                  <a:tcPr marL="18288" marR="18288" marT="9144" marB="9144">
                    <a:solidFill>
                      <a:srgbClr val="FFFFFC"/>
                    </a:solidFill>
                  </a:tcPr>
                </a:tc>
                <a:tc>
                  <a:txBody>
                    <a:bodyPr/>
                    <a:lstStyle/>
                    <a:p>
                      <a:pPr algn="ctr">
                        <a:defRPr sz="1050" b="1">
                          <a:solidFill>
                            <a:srgbClr val="232624"/>
                          </a:solidFill>
                          <a:latin typeface="Aptos"/>
                        </a:defRPr>
                      </a:pPr>
                      <a:r>
                        <a:t>2.26</a:t>
                      </a:r>
                    </a:p>
                  </a:txBody>
                  <a:tcPr marL="18288" marR="18288" marT="9144" marB="9144">
                    <a:solidFill>
                      <a:srgbClr val="DEEFB1"/>
                    </a:solidFill>
                  </a:tcPr>
                </a:tc>
                <a:tc>
                  <a:txBody>
                    <a:bodyPr/>
                    <a:lstStyle/>
                    <a:p>
                      <a:pPr algn="ctr">
                        <a:defRPr sz="1050" b="1">
                          <a:solidFill>
                            <a:srgbClr val="232624"/>
                          </a:solidFill>
                          <a:latin typeface="Aptos"/>
                        </a:defRPr>
                      </a:pPr>
                      <a:r>
                        <a:t>1.89</a:t>
                      </a:r>
                    </a:p>
                  </a:txBody>
                  <a:tcPr marL="18288" marR="18288" marT="9144" marB="9144">
                    <a:solidFill>
                      <a:srgbClr val="DEEFB1"/>
                    </a:solidFill>
                  </a:tcPr>
                </a:tc>
                <a:tc>
                  <a:txBody>
                    <a:bodyPr/>
                    <a:lstStyle/>
                    <a:p>
                      <a:pPr algn="ctr">
                        <a:defRPr sz="1050" b="1">
                          <a:solidFill>
                            <a:srgbClr val="232624"/>
                          </a:solidFill>
                          <a:latin typeface="Aptos"/>
                        </a:defRPr>
                      </a:pPr>
                      <a:r>
                        <a:t>3.33</a:t>
                      </a:r>
                    </a:p>
                  </a:txBody>
                  <a:tcPr marL="18288" marR="18288" marT="9144" marB="9144">
                    <a:solidFill>
                      <a:srgbClr val="DEEFB1"/>
                    </a:solidFill>
                  </a:tcPr>
                </a:tc>
                <a:tc>
                  <a:txBody>
                    <a:bodyPr/>
                    <a:lstStyle/>
                    <a:p>
                      <a:pPr algn="ctr">
                        <a:defRPr sz="1050" b="1">
                          <a:solidFill>
                            <a:srgbClr val="232624"/>
                          </a:solidFill>
                          <a:latin typeface="Aptos"/>
                        </a:defRPr>
                      </a:pPr>
                      <a:r>
                        <a:t>4.00</a:t>
                      </a:r>
                    </a:p>
                  </a:txBody>
                  <a:tcPr marL="18288" marR="18288" marT="9144" marB="9144">
                    <a:solidFill>
                      <a:srgbClr val="DEEFB1"/>
                    </a:solidFill>
                  </a:tcPr>
                </a:tc>
              </a:tr>
            </a:tbl>
          </a:graphicData>
        </a:graphic>
      </p:graphicFrame>
      <p:sp>
        <p:nvSpPr>
          <p:cNvPr id="6" name="TextBox 5"/>
          <p:cNvSpPr txBox="1"/>
          <p:nvPr/>
        </p:nvSpPr>
        <p:spPr>
          <a:xfrm>
            <a:off x="594360" y="2057400"/>
            <a:ext cx="11018520" cy="201168"/>
          </a:xfrm>
          <a:prstGeom prst="rect">
            <a:avLst/>
          </a:prstGeom>
          <a:noFill/>
        </p:spPr>
        <p:txBody>
          <a:bodyPr wrap="none">
            <a:spAutoFit/>
          </a:bodyPr>
          <a:lstStyle/>
          <a:p>
            <a:pPr>
              <a:defRPr sz="1150" b="1">
                <a:solidFill>
                  <a:srgbClr val="184E4B"/>
                </a:solidFill>
                <a:latin typeface="Aptos"/>
              </a:defRPr>
            </a:pPr>
            <a:r>
              <a:t>gpt-oss-high</a:t>
            </a:r>
          </a:p>
        </p:txBody>
      </p:sp>
      <p:graphicFrame>
        <p:nvGraphicFramePr>
          <p:cNvPr id="7" name="Table 6"/>
          <p:cNvGraphicFramePr>
            <a:graphicFrameLocks noGrp="1"/>
          </p:cNvGraphicFramePr>
          <p:nvPr/>
        </p:nvGraphicFramePr>
        <p:xfrm>
          <a:off x="594360" y="2286000"/>
          <a:ext cx="11018520" cy="795528"/>
        </p:xfrm>
        <a:graphic>
          <a:graphicData uri="http://schemas.openxmlformats.org/drawingml/2006/table">
            <a:tbl>
              <a:tblPr firstRow="1" bandRow="1">
                <a:tableStyleId>{5C22544A-7EE6-4342-B048-85BDC9FD1C3A}</a:tableStyleId>
              </a:tblPr>
              <a:tblGrid>
                <a:gridCol w="2203704"/>
                <a:gridCol w="2203704"/>
                <a:gridCol w="2203704"/>
                <a:gridCol w="2203704"/>
                <a:gridCol w="2203704"/>
              </a:tblGrid>
              <a:tr h="159105">
                <a:tc>
                  <a:txBody>
                    <a:bodyPr/>
                    <a:lstStyle/>
                    <a:p>
                      <a:pPr algn="ctr">
                        <a:defRPr sz="1050" b="1">
                          <a:solidFill>
                            <a:srgbClr val="FFFFFF"/>
                          </a:solidFill>
                          <a:latin typeface="Aptos"/>
                        </a:defRPr>
                      </a:pPr>
                      <a:r>
                        <a:t>Setup</a:t>
                      </a:r>
                    </a:p>
                  </a:txBody>
                  <a:tcPr>
                    <a:solidFill>
                      <a:srgbClr val="25484C"/>
                    </a:solidFill>
                  </a:tcPr>
                </a:tc>
                <a:tc>
                  <a:txBody>
                    <a:bodyPr/>
                    <a:lstStyle/>
                    <a:p>
                      <a:pPr algn="ctr">
                        <a:defRPr sz="1050" b="1">
                          <a:solidFill>
                            <a:srgbClr val="FFFFFF"/>
                          </a:solidFill>
                          <a:latin typeface="Aptos"/>
                        </a:defRPr>
                      </a:pPr>
                      <a:r>
                        <a:t>E1</a:t>
                      </a:r>
                    </a:p>
                  </a:txBody>
                  <a:tcPr>
                    <a:solidFill>
                      <a:srgbClr val="25484C"/>
                    </a:solidFill>
                  </a:tcPr>
                </a:tc>
                <a:tc>
                  <a:txBody>
                    <a:bodyPr/>
                    <a:lstStyle/>
                    <a:p>
                      <a:pPr algn="ctr">
                        <a:defRPr sz="1050" b="1">
                          <a:solidFill>
                            <a:srgbClr val="FFFFFF"/>
                          </a:solidFill>
                          <a:latin typeface="Aptos"/>
                        </a:defRPr>
                      </a:pPr>
                      <a:r>
                        <a:t>E2</a:t>
                      </a:r>
                    </a:p>
                  </a:txBody>
                  <a:tcPr>
                    <a:solidFill>
                      <a:srgbClr val="25484C"/>
                    </a:solidFill>
                  </a:tcPr>
                </a:tc>
                <a:tc>
                  <a:txBody>
                    <a:bodyPr/>
                    <a:lstStyle/>
                    <a:p>
                      <a:pPr algn="ctr">
                        <a:defRPr sz="1050" b="1">
                          <a:solidFill>
                            <a:srgbClr val="FFFFFF"/>
                          </a:solidFill>
                          <a:latin typeface="Aptos"/>
                        </a:defRPr>
                      </a:pPr>
                      <a:r>
                        <a:t>E3-M</a:t>
                      </a:r>
                    </a:p>
                  </a:txBody>
                  <a:tcPr>
                    <a:solidFill>
                      <a:srgbClr val="25484C"/>
                    </a:solidFill>
                  </a:tcPr>
                </a:tc>
                <a:tc>
                  <a:txBody>
                    <a:bodyPr/>
                    <a:lstStyle/>
                    <a:p>
                      <a:pPr algn="ctr">
                        <a:defRPr sz="1050" b="1">
                          <a:solidFill>
                            <a:srgbClr val="FFFFFF"/>
                          </a:solidFill>
                          <a:latin typeface="Aptos"/>
                        </a:defRPr>
                      </a:pPr>
                      <a:r>
                        <a:t>E3-T</a:t>
                      </a:r>
                    </a:p>
                  </a:txBody>
                  <a:tcPr>
                    <a:solidFill>
                      <a:srgbClr val="25484C"/>
                    </a:solidFill>
                  </a:tcPr>
                </a:tc>
              </a:tr>
              <a:tr h="159105">
                <a:tc>
                  <a:txBody>
                    <a:bodyPr/>
                    <a:lstStyle/>
                    <a:p>
                      <a:pPr algn="l">
                        <a:defRPr sz="1050" b="1">
                          <a:solidFill>
                            <a:srgbClr val="232624"/>
                          </a:solidFill>
                          <a:latin typeface="Aptos"/>
                        </a:defRPr>
                      </a:pPr>
                      <a:r>
                        <a:t>A</a:t>
                      </a:r>
                    </a:p>
                  </a:txBody>
                  <a:tcPr marL="18288" marR="18288" marT="9144" marB="9144">
                    <a:solidFill>
                      <a:srgbClr val="FFFFFC"/>
                    </a:solidFill>
                  </a:tcPr>
                </a:tc>
                <a:tc>
                  <a:txBody>
                    <a:bodyPr/>
                    <a:lstStyle/>
                    <a:p>
                      <a:pPr algn="ctr">
                        <a:defRPr sz="1050" b="0">
                          <a:solidFill>
                            <a:srgbClr val="232624"/>
                          </a:solidFill>
                          <a:latin typeface="Aptos"/>
                        </a:defRPr>
                      </a:pPr>
                      <a:r>
                        <a:t>1.33</a:t>
                      </a:r>
                    </a:p>
                  </a:txBody>
                  <a:tcPr marL="18288" marR="18288" marT="9144" marB="9144">
                    <a:solidFill>
                      <a:srgbClr val="FFFFFC"/>
                    </a:solidFill>
                  </a:tcPr>
                </a:tc>
                <a:tc>
                  <a:txBody>
                    <a:bodyPr/>
                    <a:lstStyle/>
                    <a:p>
                      <a:pPr algn="ctr">
                        <a:defRPr sz="1050" b="0">
                          <a:solidFill>
                            <a:srgbClr val="232624"/>
                          </a:solidFill>
                          <a:latin typeface="Aptos"/>
                        </a:defRPr>
                      </a:pPr>
                      <a:r>
                        <a:t>0.94</a:t>
                      </a:r>
                    </a:p>
                  </a:txBody>
                  <a:tcPr marL="18288" marR="18288" marT="9144" marB="9144">
                    <a:solidFill>
                      <a:srgbClr val="FFFFFC"/>
                    </a:solidFill>
                  </a:tcPr>
                </a:tc>
                <a:tc>
                  <a:txBody>
                    <a:bodyPr/>
                    <a:lstStyle/>
                    <a:p>
                      <a:pPr algn="ctr">
                        <a:defRPr sz="1050" b="1">
                          <a:solidFill>
                            <a:srgbClr val="232624"/>
                          </a:solidFill>
                          <a:latin typeface="Aptos"/>
                        </a:defRPr>
                      </a:pPr>
                      <a:r>
                        <a:t>3.00</a:t>
                      </a:r>
                    </a:p>
                  </a:txBody>
                  <a:tcPr marL="18288" marR="18288" marT="9144" marB="9144">
                    <a:solidFill>
                      <a:srgbClr val="DEEFB1"/>
                    </a:solidFill>
                  </a:tcPr>
                </a:tc>
                <a:tc>
                  <a:txBody>
                    <a:bodyPr/>
                    <a:lstStyle/>
                    <a:p>
                      <a:pPr algn="ctr">
                        <a:defRPr sz="1050" b="0">
                          <a:solidFill>
                            <a:srgbClr val="232624"/>
                          </a:solidFill>
                          <a:latin typeface="Aptos"/>
                        </a:defRPr>
                      </a:pPr>
                      <a:r>
                        <a:t>3.22</a:t>
                      </a:r>
                    </a:p>
                  </a:txBody>
                  <a:tcPr marL="18288" marR="18288" marT="9144" marB="9144">
                    <a:solidFill>
                      <a:srgbClr val="FFFFFC"/>
                    </a:solidFill>
                  </a:tcPr>
                </a:tc>
              </a:tr>
              <a:tr h="159105">
                <a:tc>
                  <a:txBody>
                    <a:bodyPr/>
                    <a:lstStyle/>
                    <a:p>
                      <a:pPr algn="l">
                        <a:defRPr sz="1050" b="1">
                          <a:solidFill>
                            <a:srgbClr val="232624"/>
                          </a:solidFill>
                          <a:latin typeface="Aptos"/>
                        </a:defRPr>
                      </a:pPr>
                      <a:r>
                        <a:t>B-query</a:t>
                      </a:r>
                    </a:p>
                  </a:txBody>
                  <a:tcPr marL="18288" marR="18288" marT="9144" marB="9144">
                    <a:solidFill>
                      <a:srgbClr val="FFFFFC"/>
                    </a:solidFill>
                  </a:tcPr>
                </a:tc>
                <a:tc>
                  <a:txBody>
                    <a:bodyPr/>
                    <a:lstStyle/>
                    <a:p>
                      <a:pPr algn="ctr">
                        <a:defRPr sz="1050" b="0">
                          <a:solidFill>
                            <a:srgbClr val="232624"/>
                          </a:solidFill>
                          <a:latin typeface="Aptos"/>
                        </a:defRPr>
                      </a:pPr>
                      <a:r>
                        <a:t>1.41</a:t>
                      </a:r>
                    </a:p>
                  </a:txBody>
                  <a:tcPr marL="18288" marR="18288" marT="9144" marB="9144">
                    <a:solidFill>
                      <a:srgbClr val="FFFFFC"/>
                    </a:solidFill>
                  </a:tcPr>
                </a:tc>
                <a:tc>
                  <a:txBody>
                    <a:bodyPr/>
                    <a:lstStyle/>
                    <a:p>
                      <a:pPr algn="ctr">
                        <a:defRPr sz="1050" b="1">
                          <a:solidFill>
                            <a:srgbClr val="232624"/>
                          </a:solidFill>
                          <a:latin typeface="Aptos"/>
                        </a:defRPr>
                      </a:pPr>
                      <a:r>
                        <a:t>1.17</a:t>
                      </a:r>
                    </a:p>
                  </a:txBody>
                  <a:tcPr marL="18288" marR="18288" marT="9144" marB="9144">
                    <a:solidFill>
                      <a:srgbClr val="DEEFB1"/>
                    </a:solidFill>
                  </a:tcPr>
                </a:tc>
                <a:tc>
                  <a:txBody>
                    <a:bodyPr/>
                    <a:lstStyle/>
                    <a:p>
                      <a:pPr algn="ctr">
                        <a:defRPr sz="1050" b="1">
                          <a:solidFill>
                            <a:srgbClr val="232624"/>
                          </a:solidFill>
                          <a:latin typeface="Aptos"/>
                        </a:defRPr>
                      </a:pPr>
                      <a:r>
                        <a:t>3.00</a:t>
                      </a:r>
                    </a:p>
                  </a:txBody>
                  <a:tcPr marL="18288" marR="18288" marT="9144" marB="9144">
                    <a:solidFill>
                      <a:srgbClr val="DEEFB1"/>
                    </a:solidFill>
                  </a:tcPr>
                </a:tc>
                <a:tc>
                  <a:txBody>
                    <a:bodyPr/>
                    <a:lstStyle/>
                    <a:p>
                      <a:pPr algn="ctr">
                        <a:defRPr sz="1050" b="0">
                          <a:solidFill>
                            <a:srgbClr val="232624"/>
                          </a:solidFill>
                          <a:latin typeface="Aptos"/>
                        </a:defRPr>
                      </a:pPr>
                      <a:r>
                        <a:t>3.11</a:t>
                      </a:r>
                    </a:p>
                  </a:txBody>
                  <a:tcPr marL="18288" marR="18288" marT="9144" marB="9144">
                    <a:solidFill>
                      <a:srgbClr val="FFFFFC"/>
                    </a:solidFill>
                  </a:tcPr>
                </a:tc>
              </a:tr>
              <a:tr h="159105">
                <a:tc>
                  <a:txBody>
                    <a:bodyPr/>
                    <a:lstStyle/>
                    <a:p>
                      <a:pPr algn="l">
                        <a:defRPr sz="1050" b="1">
                          <a:solidFill>
                            <a:srgbClr val="232624"/>
                          </a:solidFill>
                          <a:latin typeface="Aptos"/>
                        </a:defRPr>
                      </a:pPr>
                      <a:r>
                        <a:t>B-resolved</a:t>
                      </a:r>
                    </a:p>
                  </a:txBody>
                  <a:tcPr marL="18288" marR="18288" marT="9144" marB="9144">
                    <a:solidFill>
                      <a:srgbClr val="FFFFFC"/>
                    </a:solidFill>
                  </a:tcPr>
                </a:tc>
                <a:tc>
                  <a:txBody>
                    <a:bodyPr/>
                    <a:lstStyle/>
                    <a:p>
                      <a:pPr algn="ctr">
                        <a:defRPr sz="1050" b="0">
                          <a:solidFill>
                            <a:srgbClr val="232624"/>
                          </a:solidFill>
                          <a:latin typeface="Aptos"/>
                        </a:defRPr>
                      </a:pPr>
                      <a:r>
                        <a:t>1.78</a:t>
                      </a:r>
                    </a:p>
                  </a:txBody>
                  <a:tcPr marL="18288" marR="18288" marT="9144" marB="9144">
                    <a:solidFill>
                      <a:srgbClr val="FFFFFC"/>
                    </a:solidFill>
                  </a:tcPr>
                </a:tc>
                <a:tc>
                  <a:txBody>
                    <a:bodyPr/>
                    <a:lstStyle/>
                    <a:p>
                      <a:pPr algn="ctr">
                        <a:defRPr sz="1050" b="0">
                          <a:solidFill>
                            <a:srgbClr val="232624"/>
                          </a:solidFill>
                          <a:latin typeface="Aptos"/>
                        </a:defRPr>
                      </a:pPr>
                      <a:r>
                        <a:t>0.94</a:t>
                      </a:r>
                    </a:p>
                  </a:txBody>
                  <a:tcPr marL="18288" marR="18288" marT="9144" marB="9144">
                    <a:solidFill>
                      <a:srgbClr val="FFFFFC"/>
                    </a:solidFill>
                  </a:tcPr>
                </a:tc>
                <a:tc>
                  <a:txBody>
                    <a:bodyPr/>
                    <a:lstStyle/>
                    <a:p>
                      <a:pPr algn="ctr">
                        <a:defRPr sz="1050" b="1">
                          <a:solidFill>
                            <a:srgbClr val="232624"/>
                          </a:solidFill>
                          <a:latin typeface="Aptos"/>
                        </a:defRPr>
                      </a:pPr>
                      <a:r>
                        <a:t>3.00</a:t>
                      </a:r>
                    </a:p>
                  </a:txBody>
                  <a:tcPr marL="18288" marR="18288" marT="9144" marB="9144">
                    <a:solidFill>
                      <a:srgbClr val="DEEFB1"/>
                    </a:solidFill>
                  </a:tcPr>
                </a:tc>
                <a:tc>
                  <a:txBody>
                    <a:bodyPr/>
                    <a:lstStyle/>
                    <a:p>
                      <a:pPr algn="ctr">
                        <a:defRPr sz="1050" b="0">
                          <a:solidFill>
                            <a:srgbClr val="232624"/>
                          </a:solidFill>
                          <a:latin typeface="Aptos"/>
                        </a:defRPr>
                      </a:pPr>
                      <a:r>
                        <a:t>3.00</a:t>
                      </a:r>
                    </a:p>
                  </a:txBody>
                  <a:tcPr marL="18288" marR="18288" marT="9144" marB="9144">
                    <a:solidFill>
                      <a:srgbClr val="FFFFFC"/>
                    </a:solidFill>
                  </a:tcPr>
                </a:tc>
              </a:tr>
              <a:tr h="159108">
                <a:tc>
                  <a:txBody>
                    <a:bodyPr/>
                    <a:lstStyle/>
                    <a:p>
                      <a:pPr algn="l">
                        <a:defRPr sz="1050" b="1">
                          <a:solidFill>
                            <a:srgbClr val="232624"/>
                          </a:solidFill>
                          <a:latin typeface="Aptos"/>
                        </a:defRPr>
                      </a:pPr>
                      <a:r>
                        <a:t>C</a:t>
                      </a:r>
                    </a:p>
                  </a:txBody>
                  <a:tcPr marL="18288" marR="18288" marT="9144" marB="9144">
                    <a:solidFill>
                      <a:srgbClr val="FFFFFC"/>
                    </a:solidFill>
                  </a:tcPr>
                </a:tc>
                <a:tc>
                  <a:txBody>
                    <a:bodyPr/>
                    <a:lstStyle/>
                    <a:p>
                      <a:pPr algn="ctr">
                        <a:defRPr sz="1050" b="1">
                          <a:solidFill>
                            <a:srgbClr val="232624"/>
                          </a:solidFill>
                          <a:latin typeface="Aptos"/>
                        </a:defRPr>
                      </a:pPr>
                      <a:r>
                        <a:t>2.48</a:t>
                      </a:r>
                    </a:p>
                  </a:txBody>
                  <a:tcPr marL="18288" marR="18288" marT="9144" marB="9144">
                    <a:solidFill>
                      <a:srgbClr val="DEEFB1"/>
                    </a:solidFill>
                  </a:tcPr>
                </a:tc>
                <a:tc>
                  <a:txBody>
                    <a:bodyPr/>
                    <a:lstStyle/>
                    <a:p>
                      <a:pPr algn="ctr">
                        <a:defRPr sz="1050" b="0">
                          <a:solidFill>
                            <a:srgbClr val="232624"/>
                          </a:solidFill>
                          <a:latin typeface="Aptos"/>
                        </a:defRPr>
                      </a:pPr>
                      <a:r>
                        <a:t>1.00</a:t>
                      </a:r>
                    </a:p>
                  </a:txBody>
                  <a:tcPr marL="18288" marR="18288" marT="9144" marB="9144">
                    <a:solidFill>
                      <a:srgbClr val="FFFFFC"/>
                    </a:solidFill>
                  </a:tcPr>
                </a:tc>
                <a:tc>
                  <a:txBody>
                    <a:bodyPr/>
                    <a:lstStyle/>
                    <a:p>
                      <a:pPr algn="ctr">
                        <a:defRPr sz="1050" b="1">
                          <a:solidFill>
                            <a:srgbClr val="232624"/>
                          </a:solidFill>
                          <a:latin typeface="Aptos"/>
                        </a:defRPr>
                      </a:pPr>
                      <a:r>
                        <a:t>3.00</a:t>
                      </a:r>
                    </a:p>
                  </a:txBody>
                  <a:tcPr marL="18288" marR="18288" marT="9144" marB="9144">
                    <a:solidFill>
                      <a:srgbClr val="DEEFB1"/>
                    </a:solidFill>
                  </a:tcPr>
                </a:tc>
                <a:tc>
                  <a:txBody>
                    <a:bodyPr/>
                    <a:lstStyle/>
                    <a:p>
                      <a:pPr algn="ctr">
                        <a:defRPr sz="1050" b="1">
                          <a:solidFill>
                            <a:srgbClr val="232624"/>
                          </a:solidFill>
                          <a:latin typeface="Aptos"/>
                        </a:defRPr>
                      </a:pPr>
                      <a:r>
                        <a:t>3.67</a:t>
                      </a:r>
                    </a:p>
                  </a:txBody>
                  <a:tcPr marL="18288" marR="18288" marT="9144" marB="9144">
                    <a:solidFill>
                      <a:srgbClr val="DEEFB1"/>
                    </a:solidFill>
                  </a:tcPr>
                </a:tc>
              </a:tr>
            </a:tbl>
          </a:graphicData>
        </a:graphic>
      </p:graphicFrame>
      <p:sp>
        <p:nvSpPr>
          <p:cNvPr id="8" name="TextBox 7"/>
          <p:cNvSpPr txBox="1"/>
          <p:nvPr/>
        </p:nvSpPr>
        <p:spPr>
          <a:xfrm>
            <a:off x="594360" y="3154680"/>
            <a:ext cx="11018520" cy="201168"/>
          </a:xfrm>
          <a:prstGeom prst="rect">
            <a:avLst/>
          </a:prstGeom>
          <a:noFill/>
        </p:spPr>
        <p:txBody>
          <a:bodyPr wrap="none">
            <a:spAutoFit/>
          </a:bodyPr>
          <a:lstStyle/>
          <a:p>
            <a:pPr>
              <a:defRPr sz="1150" b="1">
                <a:solidFill>
                  <a:srgbClr val="184E4B"/>
                </a:solidFill>
                <a:latin typeface="Aptos"/>
              </a:defRPr>
            </a:pPr>
            <a:r>
              <a:t>gpt-oss-medium</a:t>
            </a:r>
          </a:p>
        </p:txBody>
      </p:sp>
      <p:graphicFrame>
        <p:nvGraphicFramePr>
          <p:cNvPr id="9" name="Table 8"/>
          <p:cNvGraphicFramePr>
            <a:graphicFrameLocks noGrp="1"/>
          </p:cNvGraphicFramePr>
          <p:nvPr/>
        </p:nvGraphicFramePr>
        <p:xfrm>
          <a:off x="594360" y="3383280"/>
          <a:ext cx="11018520" cy="795528"/>
        </p:xfrm>
        <a:graphic>
          <a:graphicData uri="http://schemas.openxmlformats.org/drawingml/2006/table">
            <a:tbl>
              <a:tblPr firstRow="1" bandRow="1">
                <a:tableStyleId>{5C22544A-7EE6-4342-B048-85BDC9FD1C3A}</a:tableStyleId>
              </a:tblPr>
              <a:tblGrid>
                <a:gridCol w="2203704"/>
                <a:gridCol w="2203704"/>
                <a:gridCol w="2203704"/>
                <a:gridCol w="2203704"/>
                <a:gridCol w="2203704"/>
              </a:tblGrid>
              <a:tr h="159105">
                <a:tc>
                  <a:txBody>
                    <a:bodyPr/>
                    <a:lstStyle/>
                    <a:p>
                      <a:pPr algn="ctr">
                        <a:defRPr sz="1050" b="1">
                          <a:solidFill>
                            <a:srgbClr val="FFFFFF"/>
                          </a:solidFill>
                          <a:latin typeface="Aptos"/>
                        </a:defRPr>
                      </a:pPr>
                      <a:r>
                        <a:t>Setup</a:t>
                      </a:r>
                    </a:p>
                  </a:txBody>
                  <a:tcPr>
                    <a:solidFill>
                      <a:srgbClr val="25484C"/>
                    </a:solidFill>
                  </a:tcPr>
                </a:tc>
                <a:tc>
                  <a:txBody>
                    <a:bodyPr/>
                    <a:lstStyle/>
                    <a:p>
                      <a:pPr algn="ctr">
                        <a:defRPr sz="1050" b="1">
                          <a:solidFill>
                            <a:srgbClr val="FFFFFF"/>
                          </a:solidFill>
                          <a:latin typeface="Aptos"/>
                        </a:defRPr>
                      </a:pPr>
                      <a:r>
                        <a:t>E1</a:t>
                      </a:r>
                    </a:p>
                  </a:txBody>
                  <a:tcPr>
                    <a:solidFill>
                      <a:srgbClr val="25484C"/>
                    </a:solidFill>
                  </a:tcPr>
                </a:tc>
                <a:tc>
                  <a:txBody>
                    <a:bodyPr/>
                    <a:lstStyle/>
                    <a:p>
                      <a:pPr algn="ctr">
                        <a:defRPr sz="1050" b="1">
                          <a:solidFill>
                            <a:srgbClr val="FFFFFF"/>
                          </a:solidFill>
                          <a:latin typeface="Aptos"/>
                        </a:defRPr>
                      </a:pPr>
                      <a:r>
                        <a:t>E2</a:t>
                      </a:r>
                    </a:p>
                  </a:txBody>
                  <a:tcPr>
                    <a:solidFill>
                      <a:srgbClr val="25484C"/>
                    </a:solidFill>
                  </a:tcPr>
                </a:tc>
                <a:tc>
                  <a:txBody>
                    <a:bodyPr/>
                    <a:lstStyle/>
                    <a:p>
                      <a:pPr algn="ctr">
                        <a:defRPr sz="1050" b="1">
                          <a:solidFill>
                            <a:srgbClr val="FFFFFF"/>
                          </a:solidFill>
                          <a:latin typeface="Aptos"/>
                        </a:defRPr>
                      </a:pPr>
                      <a:r>
                        <a:t>E3-M</a:t>
                      </a:r>
                    </a:p>
                  </a:txBody>
                  <a:tcPr>
                    <a:solidFill>
                      <a:srgbClr val="25484C"/>
                    </a:solidFill>
                  </a:tcPr>
                </a:tc>
                <a:tc>
                  <a:txBody>
                    <a:bodyPr/>
                    <a:lstStyle/>
                    <a:p>
                      <a:pPr algn="ctr">
                        <a:defRPr sz="1050" b="1">
                          <a:solidFill>
                            <a:srgbClr val="FFFFFF"/>
                          </a:solidFill>
                          <a:latin typeface="Aptos"/>
                        </a:defRPr>
                      </a:pPr>
                      <a:r>
                        <a:t>E3-T</a:t>
                      </a:r>
                    </a:p>
                  </a:txBody>
                  <a:tcPr>
                    <a:solidFill>
                      <a:srgbClr val="25484C"/>
                    </a:solidFill>
                  </a:tcPr>
                </a:tc>
              </a:tr>
              <a:tr h="159105">
                <a:tc>
                  <a:txBody>
                    <a:bodyPr/>
                    <a:lstStyle/>
                    <a:p>
                      <a:pPr algn="l">
                        <a:defRPr sz="1050" b="1">
                          <a:solidFill>
                            <a:srgbClr val="232624"/>
                          </a:solidFill>
                          <a:latin typeface="Aptos"/>
                        </a:defRPr>
                      </a:pPr>
                      <a:r>
                        <a:t>A</a:t>
                      </a:r>
                    </a:p>
                  </a:txBody>
                  <a:tcPr marL="18288" marR="18288" marT="9144" marB="9144">
                    <a:solidFill>
                      <a:srgbClr val="FFFFFC"/>
                    </a:solidFill>
                  </a:tcPr>
                </a:tc>
                <a:tc>
                  <a:txBody>
                    <a:bodyPr/>
                    <a:lstStyle/>
                    <a:p>
                      <a:pPr algn="ctr">
                        <a:defRPr sz="1050" b="0">
                          <a:solidFill>
                            <a:srgbClr val="232624"/>
                          </a:solidFill>
                          <a:latin typeface="Aptos"/>
                        </a:defRPr>
                      </a:pPr>
                      <a:r>
                        <a:t>1.28</a:t>
                      </a:r>
                    </a:p>
                  </a:txBody>
                  <a:tcPr marL="18288" marR="18288" marT="9144" marB="9144">
                    <a:solidFill>
                      <a:srgbClr val="FFFFFC"/>
                    </a:solidFill>
                  </a:tcPr>
                </a:tc>
                <a:tc>
                  <a:txBody>
                    <a:bodyPr/>
                    <a:lstStyle/>
                    <a:p>
                      <a:pPr algn="ctr">
                        <a:defRPr sz="1050" b="0">
                          <a:solidFill>
                            <a:srgbClr val="232624"/>
                          </a:solidFill>
                          <a:latin typeface="Aptos"/>
                        </a:defRPr>
                      </a:pPr>
                      <a:r>
                        <a:t>0.89</a:t>
                      </a:r>
                    </a:p>
                  </a:txBody>
                  <a:tcPr marL="18288" marR="18288" marT="9144" marB="9144">
                    <a:solidFill>
                      <a:srgbClr val="FFFFFC"/>
                    </a:solidFill>
                  </a:tcPr>
                </a:tc>
                <a:tc>
                  <a:txBody>
                    <a:bodyPr/>
                    <a:lstStyle/>
                    <a:p>
                      <a:pPr algn="ctr">
                        <a:defRPr sz="1050" b="0">
                          <a:solidFill>
                            <a:srgbClr val="232624"/>
                          </a:solidFill>
                          <a:latin typeface="Aptos"/>
                        </a:defRPr>
                      </a:pPr>
                      <a:r>
                        <a:t>1.11</a:t>
                      </a:r>
                    </a:p>
                  </a:txBody>
                  <a:tcPr marL="18288" marR="18288" marT="9144" marB="9144">
                    <a:solidFill>
                      <a:srgbClr val="FFFFFC"/>
                    </a:solidFill>
                  </a:tcPr>
                </a:tc>
                <a:tc>
                  <a:txBody>
                    <a:bodyPr/>
                    <a:lstStyle/>
                    <a:p>
                      <a:pPr algn="ctr">
                        <a:defRPr sz="1050" b="0">
                          <a:solidFill>
                            <a:srgbClr val="232624"/>
                          </a:solidFill>
                          <a:latin typeface="Aptos"/>
                        </a:defRPr>
                      </a:pPr>
                      <a:r>
                        <a:t>2.00</a:t>
                      </a:r>
                    </a:p>
                  </a:txBody>
                  <a:tcPr marL="18288" marR="18288" marT="9144" marB="9144">
                    <a:solidFill>
                      <a:srgbClr val="FFFFFC"/>
                    </a:solidFill>
                  </a:tcPr>
                </a:tc>
              </a:tr>
              <a:tr h="159105">
                <a:tc>
                  <a:txBody>
                    <a:bodyPr/>
                    <a:lstStyle/>
                    <a:p>
                      <a:pPr algn="l">
                        <a:defRPr sz="1050" b="1">
                          <a:solidFill>
                            <a:srgbClr val="232624"/>
                          </a:solidFill>
                          <a:latin typeface="Aptos"/>
                        </a:defRPr>
                      </a:pPr>
                      <a:r>
                        <a:t>B-query</a:t>
                      </a:r>
                    </a:p>
                  </a:txBody>
                  <a:tcPr marL="18288" marR="18288" marT="9144" marB="9144">
                    <a:solidFill>
                      <a:srgbClr val="FFFFFC"/>
                    </a:solidFill>
                  </a:tcPr>
                </a:tc>
                <a:tc>
                  <a:txBody>
                    <a:bodyPr/>
                    <a:lstStyle/>
                    <a:p>
                      <a:pPr algn="ctr">
                        <a:defRPr sz="1050" b="0">
                          <a:solidFill>
                            <a:srgbClr val="232624"/>
                          </a:solidFill>
                          <a:latin typeface="Aptos"/>
                        </a:defRPr>
                      </a:pPr>
                      <a:r>
                        <a:t>0.78</a:t>
                      </a:r>
                    </a:p>
                  </a:txBody>
                  <a:tcPr marL="18288" marR="18288" marT="9144" marB="9144">
                    <a:solidFill>
                      <a:srgbClr val="FFFFFC"/>
                    </a:solidFill>
                  </a:tcPr>
                </a:tc>
                <a:tc>
                  <a:txBody>
                    <a:bodyPr/>
                    <a:lstStyle/>
                    <a:p>
                      <a:pPr algn="ctr">
                        <a:defRPr sz="1050" b="1">
                          <a:solidFill>
                            <a:srgbClr val="232624"/>
                          </a:solidFill>
                          <a:latin typeface="Aptos"/>
                        </a:defRPr>
                      </a:pPr>
                      <a:r>
                        <a:t>1.17</a:t>
                      </a:r>
                    </a:p>
                  </a:txBody>
                  <a:tcPr marL="18288" marR="18288" marT="9144" marB="9144">
                    <a:solidFill>
                      <a:srgbClr val="DEEFB1"/>
                    </a:solidFill>
                  </a:tcPr>
                </a:tc>
                <a:tc>
                  <a:txBody>
                    <a:bodyPr/>
                    <a:lstStyle/>
                    <a:p>
                      <a:pPr algn="ctr">
                        <a:defRPr sz="1050" b="0">
                          <a:solidFill>
                            <a:srgbClr val="232624"/>
                          </a:solidFill>
                          <a:latin typeface="Aptos"/>
                        </a:defRPr>
                      </a:pPr>
                      <a:r>
                        <a:t>1.11</a:t>
                      </a:r>
                    </a:p>
                  </a:txBody>
                  <a:tcPr marL="18288" marR="18288" marT="9144" marB="9144">
                    <a:solidFill>
                      <a:srgbClr val="FFFFFC"/>
                    </a:solidFill>
                  </a:tcPr>
                </a:tc>
                <a:tc>
                  <a:txBody>
                    <a:bodyPr/>
                    <a:lstStyle/>
                    <a:p>
                      <a:pPr algn="ctr">
                        <a:defRPr sz="1050" b="0">
                          <a:solidFill>
                            <a:srgbClr val="232624"/>
                          </a:solidFill>
                          <a:latin typeface="Aptos"/>
                        </a:defRPr>
                      </a:pPr>
                      <a:r>
                        <a:t>1.67</a:t>
                      </a:r>
                    </a:p>
                  </a:txBody>
                  <a:tcPr marL="18288" marR="18288" marT="9144" marB="9144">
                    <a:solidFill>
                      <a:srgbClr val="FFFFFC"/>
                    </a:solidFill>
                  </a:tcPr>
                </a:tc>
              </a:tr>
              <a:tr h="159105">
                <a:tc>
                  <a:txBody>
                    <a:bodyPr/>
                    <a:lstStyle/>
                    <a:p>
                      <a:pPr algn="l">
                        <a:defRPr sz="1050" b="1">
                          <a:solidFill>
                            <a:srgbClr val="232624"/>
                          </a:solidFill>
                          <a:latin typeface="Aptos"/>
                        </a:defRPr>
                      </a:pPr>
                      <a:r>
                        <a:t>B-resolved</a:t>
                      </a:r>
                    </a:p>
                  </a:txBody>
                  <a:tcPr marL="18288" marR="18288" marT="9144" marB="9144">
                    <a:solidFill>
                      <a:srgbClr val="FFFFFC"/>
                    </a:solidFill>
                  </a:tcPr>
                </a:tc>
                <a:tc>
                  <a:txBody>
                    <a:bodyPr/>
                    <a:lstStyle/>
                    <a:p>
                      <a:pPr algn="ctr">
                        <a:defRPr sz="1050" b="0">
                          <a:solidFill>
                            <a:srgbClr val="232624"/>
                          </a:solidFill>
                          <a:latin typeface="Aptos"/>
                        </a:defRPr>
                      </a:pPr>
                      <a:r>
                        <a:t>0.89</a:t>
                      </a:r>
                    </a:p>
                  </a:txBody>
                  <a:tcPr marL="18288" marR="18288" marT="9144" marB="9144">
                    <a:solidFill>
                      <a:srgbClr val="FFFFFC"/>
                    </a:solidFill>
                  </a:tcPr>
                </a:tc>
                <a:tc>
                  <a:txBody>
                    <a:bodyPr/>
                    <a:lstStyle/>
                    <a:p>
                      <a:pPr algn="ctr">
                        <a:defRPr sz="1050" b="0">
                          <a:solidFill>
                            <a:srgbClr val="232624"/>
                          </a:solidFill>
                          <a:latin typeface="Aptos"/>
                        </a:defRPr>
                      </a:pPr>
                      <a:r>
                        <a:t>1.11</a:t>
                      </a:r>
                    </a:p>
                  </a:txBody>
                  <a:tcPr marL="18288" marR="18288" marT="9144" marB="9144">
                    <a:solidFill>
                      <a:srgbClr val="FFFFFC"/>
                    </a:solidFill>
                  </a:tcPr>
                </a:tc>
                <a:tc>
                  <a:txBody>
                    <a:bodyPr/>
                    <a:lstStyle/>
                    <a:p>
                      <a:pPr algn="ctr">
                        <a:defRPr sz="1050" b="0">
                          <a:solidFill>
                            <a:srgbClr val="232624"/>
                          </a:solidFill>
                          <a:latin typeface="Aptos"/>
                        </a:defRPr>
                      </a:pPr>
                      <a:r>
                        <a:t>1.11</a:t>
                      </a:r>
                    </a:p>
                  </a:txBody>
                  <a:tcPr marL="18288" marR="18288" marT="9144" marB="9144">
                    <a:solidFill>
                      <a:srgbClr val="FFFFFC"/>
                    </a:solidFill>
                  </a:tcPr>
                </a:tc>
                <a:tc>
                  <a:txBody>
                    <a:bodyPr/>
                    <a:lstStyle/>
                    <a:p>
                      <a:pPr algn="ctr">
                        <a:defRPr sz="1050" b="0">
                          <a:solidFill>
                            <a:srgbClr val="232624"/>
                          </a:solidFill>
                          <a:latin typeface="Aptos"/>
                        </a:defRPr>
                      </a:pPr>
                      <a:r>
                        <a:t>1.67</a:t>
                      </a:r>
                    </a:p>
                  </a:txBody>
                  <a:tcPr marL="18288" marR="18288" marT="9144" marB="9144">
                    <a:solidFill>
                      <a:srgbClr val="FFFFFC"/>
                    </a:solidFill>
                  </a:tcPr>
                </a:tc>
              </a:tr>
              <a:tr h="159108">
                <a:tc>
                  <a:txBody>
                    <a:bodyPr/>
                    <a:lstStyle/>
                    <a:p>
                      <a:pPr algn="l">
                        <a:defRPr sz="1050" b="1">
                          <a:solidFill>
                            <a:srgbClr val="232624"/>
                          </a:solidFill>
                          <a:latin typeface="Aptos"/>
                        </a:defRPr>
                      </a:pPr>
                      <a:r>
                        <a:t>C</a:t>
                      </a:r>
                    </a:p>
                  </a:txBody>
                  <a:tcPr marL="18288" marR="18288" marT="9144" marB="9144">
                    <a:solidFill>
                      <a:srgbClr val="FFFFFC"/>
                    </a:solidFill>
                  </a:tcPr>
                </a:tc>
                <a:tc>
                  <a:txBody>
                    <a:bodyPr/>
                    <a:lstStyle/>
                    <a:p>
                      <a:pPr algn="ctr">
                        <a:defRPr sz="1050" b="1">
                          <a:solidFill>
                            <a:srgbClr val="232624"/>
                          </a:solidFill>
                          <a:latin typeface="Aptos"/>
                        </a:defRPr>
                      </a:pPr>
                      <a:r>
                        <a:t>2.11</a:t>
                      </a:r>
                    </a:p>
                  </a:txBody>
                  <a:tcPr marL="18288" marR="18288" marT="9144" marB="9144">
                    <a:solidFill>
                      <a:srgbClr val="DEEFB1"/>
                    </a:solidFill>
                  </a:tcPr>
                </a:tc>
                <a:tc>
                  <a:txBody>
                    <a:bodyPr/>
                    <a:lstStyle/>
                    <a:p>
                      <a:pPr algn="ctr">
                        <a:defRPr sz="1050" b="0">
                          <a:solidFill>
                            <a:srgbClr val="232624"/>
                          </a:solidFill>
                          <a:latin typeface="Aptos"/>
                        </a:defRPr>
                      </a:pPr>
                      <a:r>
                        <a:t>1.06</a:t>
                      </a:r>
                    </a:p>
                  </a:txBody>
                  <a:tcPr marL="18288" marR="18288" marT="9144" marB="9144">
                    <a:solidFill>
                      <a:srgbClr val="FFFFFC"/>
                    </a:solidFill>
                  </a:tcPr>
                </a:tc>
                <a:tc>
                  <a:txBody>
                    <a:bodyPr/>
                    <a:lstStyle/>
                    <a:p>
                      <a:pPr algn="ctr">
                        <a:defRPr sz="1050" b="1">
                          <a:solidFill>
                            <a:srgbClr val="232624"/>
                          </a:solidFill>
                          <a:latin typeface="Aptos"/>
                        </a:defRPr>
                      </a:pPr>
                      <a:r>
                        <a:t>3.22</a:t>
                      </a:r>
                    </a:p>
                  </a:txBody>
                  <a:tcPr marL="18288" marR="18288" marT="9144" marB="9144">
                    <a:solidFill>
                      <a:srgbClr val="DEEFB1"/>
                    </a:solidFill>
                  </a:tcPr>
                </a:tc>
                <a:tc>
                  <a:txBody>
                    <a:bodyPr/>
                    <a:lstStyle/>
                    <a:p>
                      <a:pPr algn="ctr">
                        <a:defRPr sz="1050" b="1">
                          <a:solidFill>
                            <a:srgbClr val="232624"/>
                          </a:solidFill>
                          <a:latin typeface="Aptos"/>
                        </a:defRPr>
                      </a:pPr>
                      <a:r>
                        <a:t>3.56</a:t>
                      </a:r>
                    </a:p>
                  </a:txBody>
                  <a:tcPr marL="18288" marR="18288" marT="9144" marB="9144">
                    <a:solidFill>
                      <a:srgbClr val="DEEFB1"/>
                    </a:solidFill>
                  </a:tcPr>
                </a:tc>
              </a:tr>
            </a:tbl>
          </a:graphicData>
        </a:graphic>
      </p:graphicFrame>
      <p:sp>
        <p:nvSpPr>
          <p:cNvPr id="10" name="TextBox 9"/>
          <p:cNvSpPr txBox="1"/>
          <p:nvPr/>
        </p:nvSpPr>
        <p:spPr>
          <a:xfrm>
            <a:off x="594360" y="4251960"/>
            <a:ext cx="11018520" cy="201168"/>
          </a:xfrm>
          <a:prstGeom prst="rect">
            <a:avLst/>
          </a:prstGeom>
          <a:noFill/>
        </p:spPr>
        <p:txBody>
          <a:bodyPr wrap="none">
            <a:spAutoFit/>
          </a:bodyPr>
          <a:lstStyle/>
          <a:p>
            <a:pPr>
              <a:defRPr sz="1150" b="1">
                <a:solidFill>
                  <a:srgbClr val="184E4B"/>
                </a:solidFill>
                <a:latin typeface="Aptos"/>
              </a:defRPr>
            </a:pPr>
            <a:r>
              <a:t>qwen3-32B non-reasoning</a:t>
            </a:r>
          </a:p>
        </p:txBody>
      </p:sp>
      <p:graphicFrame>
        <p:nvGraphicFramePr>
          <p:cNvPr id="11" name="Table 10"/>
          <p:cNvGraphicFramePr>
            <a:graphicFrameLocks noGrp="1"/>
          </p:cNvGraphicFramePr>
          <p:nvPr/>
        </p:nvGraphicFramePr>
        <p:xfrm>
          <a:off x="594360" y="4480560"/>
          <a:ext cx="11018520" cy="795528"/>
        </p:xfrm>
        <a:graphic>
          <a:graphicData uri="http://schemas.openxmlformats.org/drawingml/2006/table">
            <a:tbl>
              <a:tblPr firstRow="1" bandRow="1">
                <a:tableStyleId>{5C22544A-7EE6-4342-B048-85BDC9FD1C3A}</a:tableStyleId>
              </a:tblPr>
              <a:tblGrid>
                <a:gridCol w="2203704"/>
                <a:gridCol w="2203704"/>
                <a:gridCol w="2203704"/>
                <a:gridCol w="2203704"/>
                <a:gridCol w="2203704"/>
              </a:tblGrid>
              <a:tr h="159105">
                <a:tc>
                  <a:txBody>
                    <a:bodyPr/>
                    <a:lstStyle/>
                    <a:p>
                      <a:pPr algn="ctr">
                        <a:defRPr sz="1050" b="1">
                          <a:solidFill>
                            <a:srgbClr val="FFFFFF"/>
                          </a:solidFill>
                          <a:latin typeface="Aptos"/>
                        </a:defRPr>
                      </a:pPr>
                      <a:r>
                        <a:t>Setup</a:t>
                      </a:r>
                    </a:p>
                  </a:txBody>
                  <a:tcPr>
                    <a:solidFill>
                      <a:srgbClr val="25484C"/>
                    </a:solidFill>
                  </a:tcPr>
                </a:tc>
                <a:tc>
                  <a:txBody>
                    <a:bodyPr/>
                    <a:lstStyle/>
                    <a:p>
                      <a:pPr algn="ctr">
                        <a:defRPr sz="1050" b="1">
                          <a:solidFill>
                            <a:srgbClr val="FFFFFF"/>
                          </a:solidFill>
                          <a:latin typeface="Aptos"/>
                        </a:defRPr>
                      </a:pPr>
                      <a:r>
                        <a:t>E1</a:t>
                      </a:r>
                    </a:p>
                  </a:txBody>
                  <a:tcPr>
                    <a:solidFill>
                      <a:srgbClr val="25484C"/>
                    </a:solidFill>
                  </a:tcPr>
                </a:tc>
                <a:tc>
                  <a:txBody>
                    <a:bodyPr/>
                    <a:lstStyle/>
                    <a:p>
                      <a:pPr algn="ctr">
                        <a:defRPr sz="1050" b="1">
                          <a:solidFill>
                            <a:srgbClr val="FFFFFF"/>
                          </a:solidFill>
                          <a:latin typeface="Aptos"/>
                        </a:defRPr>
                      </a:pPr>
                      <a:r>
                        <a:t>E2</a:t>
                      </a:r>
                    </a:p>
                  </a:txBody>
                  <a:tcPr>
                    <a:solidFill>
                      <a:srgbClr val="25484C"/>
                    </a:solidFill>
                  </a:tcPr>
                </a:tc>
                <a:tc>
                  <a:txBody>
                    <a:bodyPr/>
                    <a:lstStyle/>
                    <a:p>
                      <a:pPr algn="ctr">
                        <a:defRPr sz="1050" b="1">
                          <a:solidFill>
                            <a:srgbClr val="FFFFFF"/>
                          </a:solidFill>
                          <a:latin typeface="Aptos"/>
                        </a:defRPr>
                      </a:pPr>
                      <a:r>
                        <a:t>E3-M</a:t>
                      </a:r>
                    </a:p>
                  </a:txBody>
                  <a:tcPr>
                    <a:solidFill>
                      <a:srgbClr val="25484C"/>
                    </a:solidFill>
                  </a:tcPr>
                </a:tc>
                <a:tc>
                  <a:txBody>
                    <a:bodyPr/>
                    <a:lstStyle/>
                    <a:p>
                      <a:pPr algn="ctr">
                        <a:defRPr sz="1050" b="1">
                          <a:solidFill>
                            <a:srgbClr val="FFFFFF"/>
                          </a:solidFill>
                          <a:latin typeface="Aptos"/>
                        </a:defRPr>
                      </a:pPr>
                      <a:r>
                        <a:t>E3-T</a:t>
                      </a:r>
                    </a:p>
                  </a:txBody>
                  <a:tcPr>
                    <a:solidFill>
                      <a:srgbClr val="25484C"/>
                    </a:solidFill>
                  </a:tcPr>
                </a:tc>
              </a:tr>
              <a:tr h="159105">
                <a:tc>
                  <a:txBody>
                    <a:bodyPr/>
                    <a:lstStyle/>
                    <a:p>
                      <a:pPr algn="l">
                        <a:defRPr sz="1050" b="1">
                          <a:solidFill>
                            <a:srgbClr val="232624"/>
                          </a:solidFill>
                          <a:latin typeface="Aptos"/>
                        </a:defRPr>
                      </a:pPr>
                      <a:r>
                        <a:t>A</a:t>
                      </a:r>
                    </a:p>
                  </a:txBody>
                  <a:tcPr marL="18288" marR="18288" marT="9144" marB="9144">
                    <a:solidFill>
                      <a:srgbClr val="FFFFFC"/>
                    </a:solidFill>
                  </a:tcPr>
                </a:tc>
                <a:tc>
                  <a:txBody>
                    <a:bodyPr/>
                    <a:lstStyle/>
                    <a:p>
                      <a:pPr algn="ctr">
                        <a:defRPr sz="1050" b="0">
                          <a:solidFill>
                            <a:srgbClr val="232624"/>
                          </a:solidFill>
                          <a:latin typeface="Aptos"/>
                        </a:defRPr>
                      </a:pPr>
                      <a:r>
                        <a:t>1.04</a:t>
                      </a:r>
                    </a:p>
                  </a:txBody>
                  <a:tcPr marL="18288" marR="18288" marT="9144" marB="9144">
                    <a:solidFill>
                      <a:srgbClr val="FFFFFC"/>
                    </a:solidFill>
                  </a:tcPr>
                </a:tc>
                <a:tc>
                  <a:txBody>
                    <a:bodyPr/>
                    <a:lstStyle/>
                    <a:p>
                      <a:pPr algn="ctr">
                        <a:defRPr sz="1050" b="0">
                          <a:solidFill>
                            <a:srgbClr val="232624"/>
                          </a:solidFill>
                          <a:latin typeface="Aptos"/>
                        </a:defRPr>
                      </a:pPr>
                      <a:r>
                        <a:t>0.72</a:t>
                      </a:r>
                    </a:p>
                  </a:txBody>
                  <a:tcPr marL="18288" marR="18288" marT="9144" marB="9144">
                    <a:solidFill>
                      <a:srgbClr val="FFFFFC"/>
                    </a:solidFill>
                  </a:tcPr>
                </a:tc>
                <a:tc>
                  <a:txBody>
                    <a:bodyPr/>
                    <a:lstStyle/>
                    <a:p>
                      <a:pPr algn="ctr">
                        <a:defRPr sz="1050" b="1">
                          <a:solidFill>
                            <a:srgbClr val="232624"/>
                          </a:solidFill>
                          <a:latin typeface="Aptos"/>
                        </a:defRPr>
                      </a:pPr>
                      <a:r>
                        <a:t>3.11</a:t>
                      </a:r>
                    </a:p>
                  </a:txBody>
                  <a:tcPr marL="18288" marR="18288" marT="9144" marB="9144">
                    <a:solidFill>
                      <a:srgbClr val="DEEFB1"/>
                    </a:solidFill>
                  </a:tcPr>
                </a:tc>
                <a:tc>
                  <a:txBody>
                    <a:bodyPr/>
                    <a:lstStyle/>
                    <a:p>
                      <a:pPr algn="ctr">
                        <a:defRPr sz="1050" b="1">
                          <a:solidFill>
                            <a:srgbClr val="232624"/>
                          </a:solidFill>
                          <a:latin typeface="Aptos"/>
                        </a:defRPr>
                      </a:pPr>
                      <a:r>
                        <a:t>3.78</a:t>
                      </a:r>
                    </a:p>
                  </a:txBody>
                  <a:tcPr marL="18288" marR="18288" marT="9144" marB="9144">
                    <a:solidFill>
                      <a:srgbClr val="DEEFB1"/>
                    </a:solidFill>
                  </a:tcPr>
                </a:tc>
              </a:tr>
              <a:tr h="159105">
                <a:tc>
                  <a:txBody>
                    <a:bodyPr/>
                    <a:lstStyle/>
                    <a:p>
                      <a:pPr algn="l">
                        <a:defRPr sz="1050" b="1">
                          <a:solidFill>
                            <a:srgbClr val="232624"/>
                          </a:solidFill>
                          <a:latin typeface="Aptos"/>
                        </a:defRPr>
                      </a:pPr>
                      <a:r>
                        <a:t>B-query</a:t>
                      </a:r>
                    </a:p>
                  </a:txBody>
                  <a:tcPr marL="18288" marR="18288" marT="9144" marB="9144">
                    <a:solidFill>
                      <a:srgbClr val="FFFFFC"/>
                    </a:solidFill>
                  </a:tcPr>
                </a:tc>
                <a:tc>
                  <a:txBody>
                    <a:bodyPr/>
                    <a:lstStyle/>
                    <a:p>
                      <a:pPr algn="ctr">
                        <a:defRPr sz="1050" b="0">
                          <a:solidFill>
                            <a:srgbClr val="232624"/>
                          </a:solidFill>
                          <a:latin typeface="Aptos"/>
                        </a:defRPr>
                      </a:pPr>
                      <a:r>
                        <a:t>0.85</a:t>
                      </a:r>
                    </a:p>
                  </a:txBody>
                  <a:tcPr marL="18288" marR="18288" marT="9144" marB="9144">
                    <a:solidFill>
                      <a:srgbClr val="FFFFFC"/>
                    </a:solidFill>
                  </a:tcPr>
                </a:tc>
                <a:tc>
                  <a:txBody>
                    <a:bodyPr/>
                    <a:lstStyle/>
                    <a:p>
                      <a:pPr algn="ctr">
                        <a:defRPr sz="1050" b="0">
                          <a:solidFill>
                            <a:srgbClr val="232624"/>
                          </a:solidFill>
                          <a:latin typeface="Aptos"/>
                        </a:defRPr>
                      </a:pPr>
                      <a:r>
                        <a:t>1.00</a:t>
                      </a:r>
                    </a:p>
                  </a:txBody>
                  <a:tcPr marL="18288" marR="18288" marT="9144" marB="9144">
                    <a:solidFill>
                      <a:srgbClr val="FFFFFC"/>
                    </a:solidFill>
                  </a:tcPr>
                </a:tc>
                <a:tc>
                  <a:txBody>
                    <a:bodyPr/>
                    <a:lstStyle/>
                    <a:p>
                      <a:pPr algn="ctr">
                        <a:defRPr sz="1050" b="0">
                          <a:solidFill>
                            <a:srgbClr val="232624"/>
                          </a:solidFill>
                          <a:latin typeface="Aptos"/>
                        </a:defRPr>
                      </a:pPr>
                      <a:r>
                        <a:t>1.89</a:t>
                      </a:r>
                    </a:p>
                  </a:txBody>
                  <a:tcPr marL="18288" marR="18288" marT="9144" marB="9144">
                    <a:solidFill>
                      <a:srgbClr val="FFFFFC"/>
                    </a:solidFill>
                  </a:tcPr>
                </a:tc>
                <a:tc>
                  <a:txBody>
                    <a:bodyPr/>
                    <a:lstStyle/>
                    <a:p>
                      <a:pPr algn="ctr">
                        <a:defRPr sz="1050" b="0">
                          <a:solidFill>
                            <a:srgbClr val="232624"/>
                          </a:solidFill>
                          <a:latin typeface="Aptos"/>
                        </a:defRPr>
                      </a:pPr>
                      <a:r>
                        <a:t>2.67</a:t>
                      </a:r>
                    </a:p>
                  </a:txBody>
                  <a:tcPr marL="18288" marR="18288" marT="9144" marB="9144">
                    <a:solidFill>
                      <a:srgbClr val="FFFFFC"/>
                    </a:solidFill>
                  </a:tcPr>
                </a:tc>
              </a:tr>
              <a:tr h="159105">
                <a:tc>
                  <a:txBody>
                    <a:bodyPr/>
                    <a:lstStyle/>
                    <a:p>
                      <a:pPr algn="l">
                        <a:defRPr sz="1050" b="1">
                          <a:solidFill>
                            <a:srgbClr val="232624"/>
                          </a:solidFill>
                          <a:latin typeface="Aptos"/>
                        </a:defRPr>
                      </a:pPr>
                      <a:r>
                        <a:t>B-resolved</a:t>
                      </a:r>
                    </a:p>
                  </a:txBody>
                  <a:tcPr marL="18288" marR="18288" marT="9144" marB="9144">
                    <a:solidFill>
                      <a:srgbClr val="FFFFFC"/>
                    </a:solidFill>
                  </a:tcPr>
                </a:tc>
                <a:tc>
                  <a:txBody>
                    <a:bodyPr/>
                    <a:lstStyle/>
                    <a:p>
                      <a:pPr algn="ctr">
                        <a:defRPr sz="1050" b="0">
                          <a:solidFill>
                            <a:srgbClr val="232624"/>
                          </a:solidFill>
                          <a:latin typeface="Aptos"/>
                        </a:defRPr>
                      </a:pPr>
                      <a:r>
                        <a:t>1.00</a:t>
                      </a:r>
                    </a:p>
                  </a:txBody>
                  <a:tcPr marL="18288" marR="18288" marT="9144" marB="9144">
                    <a:solidFill>
                      <a:srgbClr val="FFFFFC"/>
                    </a:solidFill>
                  </a:tcPr>
                </a:tc>
                <a:tc>
                  <a:txBody>
                    <a:bodyPr/>
                    <a:lstStyle/>
                    <a:p>
                      <a:pPr algn="ctr">
                        <a:defRPr sz="1050" b="1">
                          <a:solidFill>
                            <a:srgbClr val="232624"/>
                          </a:solidFill>
                          <a:latin typeface="Aptos"/>
                        </a:defRPr>
                      </a:pPr>
                      <a:r>
                        <a:t>1.17</a:t>
                      </a:r>
                    </a:p>
                  </a:txBody>
                  <a:tcPr marL="18288" marR="18288" marT="9144" marB="9144">
                    <a:solidFill>
                      <a:srgbClr val="DEEFB1"/>
                    </a:solidFill>
                  </a:tcPr>
                </a:tc>
                <a:tc>
                  <a:txBody>
                    <a:bodyPr/>
                    <a:lstStyle/>
                    <a:p>
                      <a:pPr algn="ctr">
                        <a:defRPr sz="1050" b="0">
                          <a:solidFill>
                            <a:srgbClr val="232624"/>
                          </a:solidFill>
                          <a:latin typeface="Aptos"/>
                        </a:defRPr>
                      </a:pPr>
                      <a:r>
                        <a:t>2.11</a:t>
                      </a:r>
                    </a:p>
                  </a:txBody>
                  <a:tcPr marL="18288" marR="18288" marT="9144" marB="9144">
                    <a:solidFill>
                      <a:srgbClr val="FFFFFC"/>
                    </a:solidFill>
                  </a:tcPr>
                </a:tc>
                <a:tc>
                  <a:txBody>
                    <a:bodyPr/>
                    <a:lstStyle/>
                    <a:p>
                      <a:pPr algn="ctr">
                        <a:defRPr sz="1050" b="0">
                          <a:solidFill>
                            <a:srgbClr val="232624"/>
                          </a:solidFill>
                          <a:latin typeface="Aptos"/>
                        </a:defRPr>
                      </a:pPr>
                      <a:r>
                        <a:t>3.11</a:t>
                      </a:r>
                    </a:p>
                  </a:txBody>
                  <a:tcPr marL="18288" marR="18288" marT="9144" marB="9144">
                    <a:solidFill>
                      <a:srgbClr val="FFFFFC"/>
                    </a:solidFill>
                  </a:tcPr>
                </a:tc>
              </a:tr>
              <a:tr h="159108">
                <a:tc>
                  <a:txBody>
                    <a:bodyPr/>
                    <a:lstStyle/>
                    <a:p>
                      <a:pPr algn="l">
                        <a:defRPr sz="1050" b="1">
                          <a:solidFill>
                            <a:srgbClr val="232624"/>
                          </a:solidFill>
                          <a:latin typeface="Aptos"/>
                        </a:defRPr>
                      </a:pPr>
                      <a:r>
                        <a:t>C</a:t>
                      </a:r>
                    </a:p>
                  </a:txBody>
                  <a:tcPr marL="18288" marR="18288" marT="9144" marB="9144">
                    <a:solidFill>
                      <a:srgbClr val="FFFFFC"/>
                    </a:solidFill>
                  </a:tcPr>
                </a:tc>
                <a:tc>
                  <a:txBody>
                    <a:bodyPr/>
                    <a:lstStyle/>
                    <a:p>
                      <a:pPr algn="ctr">
                        <a:defRPr sz="1050" b="1">
                          <a:solidFill>
                            <a:srgbClr val="232624"/>
                          </a:solidFill>
                          <a:latin typeface="Aptos"/>
                        </a:defRPr>
                      </a:pPr>
                      <a:r>
                        <a:t>2.15</a:t>
                      </a:r>
                    </a:p>
                  </a:txBody>
                  <a:tcPr marL="18288" marR="18288" marT="9144" marB="9144">
                    <a:solidFill>
                      <a:srgbClr val="DEEFB1"/>
                    </a:solidFill>
                  </a:tcPr>
                </a:tc>
                <a:tc>
                  <a:txBody>
                    <a:bodyPr/>
                    <a:lstStyle/>
                    <a:p>
                      <a:pPr algn="ctr">
                        <a:defRPr sz="1050" b="0">
                          <a:solidFill>
                            <a:srgbClr val="232624"/>
                          </a:solidFill>
                          <a:latin typeface="Aptos"/>
                        </a:defRPr>
                      </a:pPr>
                      <a:r>
                        <a:t>0.40</a:t>
                      </a:r>
                    </a:p>
                  </a:txBody>
                  <a:tcPr marL="18288" marR="18288" marT="9144" marB="9144">
                    <a:solidFill>
                      <a:srgbClr val="FFFFFC"/>
                    </a:solidFill>
                  </a:tcPr>
                </a:tc>
                <a:tc>
                  <a:txBody>
                    <a:bodyPr/>
                    <a:lstStyle/>
                    <a:p>
                      <a:pPr algn="ctr">
                        <a:defRPr sz="1050" b="0">
                          <a:solidFill>
                            <a:srgbClr val="232624"/>
                          </a:solidFill>
                          <a:latin typeface="Aptos"/>
                        </a:defRPr>
                      </a:pPr>
                      <a:r>
                        <a:t>2.33</a:t>
                      </a:r>
                    </a:p>
                  </a:txBody>
                  <a:tcPr marL="18288" marR="18288" marT="9144" marB="9144">
                    <a:solidFill>
                      <a:srgbClr val="FFFFFC"/>
                    </a:solidFill>
                  </a:tcPr>
                </a:tc>
                <a:tc>
                  <a:txBody>
                    <a:bodyPr/>
                    <a:lstStyle/>
                    <a:p>
                      <a:pPr algn="ctr">
                        <a:defRPr sz="1050" b="0">
                          <a:solidFill>
                            <a:srgbClr val="232624"/>
                          </a:solidFill>
                          <a:latin typeface="Aptos"/>
                        </a:defRPr>
                      </a:pPr>
                      <a:r>
                        <a:t>3.11</a:t>
                      </a:r>
                    </a:p>
                  </a:txBody>
                  <a:tcPr marL="18288" marR="18288" marT="9144" marB="9144">
                    <a:solidFill>
                      <a:srgbClr val="FFFFFC"/>
                    </a:solidFill>
                  </a:tcPr>
                </a:tc>
              </a:tr>
            </a:tbl>
          </a:graphicData>
        </a:graphic>
      </p:graphicFrame>
      <p:sp>
        <p:nvSpPr>
          <p:cNvPr id="12" name="TextBox 11"/>
          <p:cNvSpPr txBox="1"/>
          <p:nvPr/>
        </p:nvSpPr>
        <p:spPr>
          <a:xfrm>
            <a:off x="594360" y="5349240"/>
            <a:ext cx="11018520" cy="201168"/>
          </a:xfrm>
          <a:prstGeom prst="rect">
            <a:avLst/>
          </a:prstGeom>
          <a:noFill/>
        </p:spPr>
        <p:txBody>
          <a:bodyPr wrap="none">
            <a:spAutoFit/>
          </a:bodyPr>
          <a:lstStyle/>
          <a:p>
            <a:pPr>
              <a:defRPr sz="1150" b="1">
                <a:solidFill>
                  <a:srgbClr val="184E4B"/>
                </a:solidFill>
                <a:latin typeface="Aptos"/>
              </a:defRPr>
            </a:pPr>
            <a:r>
              <a:t>llama3-70B</a:t>
            </a:r>
          </a:p>
        </p:txBody>
      </p:sp>
      <p:graphicFrame>
        <p:nvGraphicFramePr>
          <p:cNvPr id="13" name="Table 12"/>
          <p:cNvGraphicFramePr>
            <a:graphicFrameLocks noGrp="1"/>
          </p:cNvGraphicFramePr>
          <p:nvPr/>
        </p:nvGraphicFramePr>
        <p:xfrm>
          <a:off x="594360" y="5577840"/>
          <a:ext cx="11018520" cy="795528"/>
        </p:xfrm>
        <a:graphic>
          <a:graphicData uri="http://schemas.openxmlformats.org/drawingml/2006/table">
            <a:tbl>
              <a:tblPr firstRow="1" bandRow="1">
                <a:tableStyleId>{5C22544A-7EE6-4342-B048-85BDC9FD1C3A}</a:tableStyleId>
              </a:tblPr>
              <a:tblGrid>
                <a:gridCol w="2203704"/>
                <a:gridCol w="2203704"/>
                <a:gridCol w="2203704"/>
                <a:gridCol w="2203704"/>
                <a:gridCol w="2203704"/>
              </a:tblGrid>
              <a:tr h="159105">
                <a:tc>
                  <a:txBody>
                    <a:bodyPr/>
                    <a:lstStyle/>
                    <a:p>
                      <a:pPr algn="ctr">
                        <a:defRPr sz="1050" b="1">
                          <a:solidFill>
                            <a:srgbClr val="FFFFFF"/>
                          </a:solidFill>
                          <a:latin typeface="Aptos"/>
                        </a:defRPr>
                      </a:pPr>
                      <a:r>
                        <a:t>Setup</a:t>
                      </a:r>
                    </a:p>
                  </a:txBody>
                  <a:tcPr>
                    <a:solidFill>
                      <a:srgbClr val="25484C"/>
                    </a:solidFill>
                  </a:tcPr>
                </a:tc>
                <a:tc>
                  <a:txBody>
                    <a:bodyPr/>
                    <a:lstStyle/>
                    <a:p>
                      <a:pPr algn="ctr">
                        <a:defRPr sz="1050" b="1">
                          <a:solidFill>
                            <a:srgbClr val="FFFFFF"/>
                          </a:solidFill>
                          <a:latin typeface="Aptos"/>
                        </a:defRPr>
                      </a:pPr>
                      <a:r>
                        <a:t>E1</a:t>
                      </a:r>
                    </a:p>
                  </a:txBody>
                  <a:tcPr>
                    <a:solidFill>
                      <a:srgbClr val="25484C"/>
                    </a:solidFill>
                  </a:tcPr>
                </a:tc>
                <a:tc>
                  <a:txBody>
                    <a:bodyPr/>
                    <a:lstStyle/>
                    <a:p>
                      <a:pPr algn="ctr">
                        <a:defRPr sz="1050" b="1">
                          <a:solidFill>
                            <a:srgbClr val="FFFFFF"/>
                          </a:solidFill>
                          <a:latin typeface="Aptos"/>
                        </a:defRPr>
                      </a:pPr>
                      <a:r>
                        <a:t>E2</a:t>
                      </a:r>
                    </a:p>
                  </a:txBody>
                  <a:tcPr>
                    <a:solidFill>
                      <a:srgbClr val="25484C"/>
                    </a:solidFill>
                  </a:tcPr>
                </a:tc>
                <a:tc>
                  <a:txBody>
                    <a:bodyPr/>
                    <a:lstStyle/>
                    <a:p>
                      <a:pPr algn="ctr">
                        <a:defRPr sz="1050" b="1">
                          <a:solidFill>
                            <a:srgbClr val="FFFFFF"/>
                          </a:solidFill>
                          <a:latin typeface="Aptos"/>
                        </a:defRPr>
                      </a:pPr>
                      <a:r>
                        <a:t>E3-M</a:t>
                      </a:r>
                    </a:p>
                  </a:txBody>
                  <a:tcPr>
                    <a:solidFill>
                      <a:srgbClr val="25484C"/>
                    </a:solidFill>
                  </a:tcPr>
                </a:tc>
                <a:tc>
                  <a:txBody>
                    <a:bodyPr/>
                    <a:lstStyle/>
                    <a:p>
                      <a:pPr algn="ctr">
                        <a:defRPr sz="1050" b="1">
                          <a:solidFill>
                            <a:srgbClr val="FFFFFF"/>
                          </a:solidFill>
                          <a:latin typeface="Aptos"/>
                        </a:defRPr>
                      </a:pPr>
                      <a:r>
                        <a:t>E3-T</a:t>
                      </a:r>
                    </a:p>
                  </a:txBody>
                  <a:tcPr>
                    <a:solidFill>
                      <a:srgbClr val="25484C"/>
                    </a:solidFill>
                  </a:tcPr>
                </a:tc>
              </a:tr>
              <a:tr h="159105">
                <a:tc>
                  <a:txBody>
                    <a:bodyPr/>
                    <a:lstStyle/>
                    <a:p>
                      <a:pPr algn="l">
                        <a:defRPr sz="1050" b="1">
                          <a:solidFill>
                            <a:srgbClr val="232624"/>
                          </a:solidFill>
                          <a:latin typeface="Aptos"/>
                        </a:defRPr>
                      </a:pPr>
                      <a:r>
                        <a:t>A</a:t>
                      </a:r>
                    </a:p>
                  </a:txBody>
                  <a:tcPr marL="18288" marR="18288" marT="9144" marB="9144">
                    <a:solidFill>
                      <a:srgbClr val="FFFFFC"/>
                    </a:solidFill>
                  </a:tcPr>
                </a:tc>
                <a:tc>
                  <a:txBody>
                    <a:bodyPr/>
                    <a:lstStyle/>
                    <a:p>
                      <a:pPr algn="ctr">
                        <a:defRPr sz="1050" b="0">
                          <a:solidFill>
                            <a:srgbClr val="232624"/>
                          </a:solidFill>
                          <a:latin typeface="Aptos"/>
                        </a:defRPr>
                      </a:pPr>
                      <a:r>
                        <a:t>1.48</a:t>
                      </a:r>
                    </a:p>
                  </a:txBody>
                  <a:tcPr marL="18288" marR="18288" marT="9144" marB="9144">
                    <a:solidFill>
                      <a:srgbClr val="FFFFFC"/>
                    </a:solidFill>
                  </a:tcPr>
                </a:tc>
                <a:tc>
                  <a:txBody>
                    <a:bodyPr/>
                    <a:lstStyle/>
                    <a:p>
                      <a:pPr algn="ctr">
                        <a:defRPr sz="1050" b="1">
                          <a:solidFill>
                            <a:srgbClr val="232624"/>
                          </a:solidFill>
                          <a:latin typeface="Aptos"/>
                        </a:defRPr>
                      </a:pPr>
                      <a:r>
                        <a:t>1.17</a:t>
                      </a:r>
                    </a:p>
                  </a:txBody>
                  <a:tcPr marL="18288" marR="18288" marT="9144" marB="9144">
                    <a:solidFill>
                      <a:srgbClr val="DEEFB1"/>
                    </a:solidFill>
                  </a:tcPr>
                </a:tc>
                <a:tc>
                  <a:txBody>
                    <a:bodyPr/>
                    <a:lstStyle/>
                    <a:p>
                      <a:pPr algn="ctr">
                        <a:defRPr sz="1050" b="1">
                          <a:solidFill>
                            <a:srgbClr val="232624"/>
                          </a:solidFill>
                          <a:latin typeface="Aptos"/>
                        </a:defRPr>
                      </a:pPr>
                      <a:r>
                        <a:t>2.67</a:t>
                      </a:r>
                    </a:p>
                  </a:txBody>
                  <a:tcPr marL="18288" marR="18288" marT="9144" marB="9144">
                    <a:solidFill>
                      <a:srgbClr val="DEEFB1"/>
                    </a:solidFill>
                  </a:tcPr>
                </a:tc>
                <a:tc>
                  <a:txBody>
                    <a:bodyPr/>
                    <a:lstStyle/>
                    <a:p>
                      <a:pPr algn="ctr">
                        <a:defRPr sz="1050" b="1">
                          <a:solidFill>
                            <a:srgbClr val="232624"/>
                          </a:solidFill>
                          <a:latin typeface="Aptos"/>
                        </a:defRPr>
                      </a:pPr>
                      <a:r>
                        <a:t>3.56</a:t>
                      </a:r>
                    </a:p>
                  </a:txBody>
                  <a:tcPr marL="18288" marR="18288" marT="9144" marB="9144">
                    <a:solidFill>
                      <a:srgbClr val="DEEFB1"/>
                    </a:solidFill>
                  </a:tcPr>
                </a:tc>
              </a:tr>
              <a:tr h="159105">
                <a:tc>
                  <a:txBody>
                    <a:bodyPr/>
                    <a:lstStyle/>
                    <a:p>
                      <a:pPr algn="l">
                        <a:defRPr sz="1050" b="1">
                          <a:solidFill>
                            <a:srgbClr val="232624"/>
                          </a:solidFill>
                          <a:latin typeface="Aptos"/>
                        </a:defRPr>
                      </a:pPr>
                      <a:r>
                        <a:t>B-query</a:t>
                      </a:r>
                    </a:p>
                  </a:txBody>
                  <a:tcPr marL="18288" marR="18288" marT="9144" marB="9144">
                    <a:solidFill>
                      <a:srgbClr val="FFFFFC"/>
                    </a:solidFill>
                  </a:tcPr>
                </a:tc>
                <a:tc>
                  <a:txBody>
                    <a:bodyPr/>
                    <a:lstStyle/>
                    <a:p>
                      <a:pPr algn="ctr">
                        <a:defRPr sz="1050" b="0">
                          <a:solidFill>
                            <a:srgbClr val="232624"/>
                          </a:solidFill>
                          <a:latin typeface="Aptos"/>
                        </a:defRPr>
                      </a:pPr>
                      <a:r>
                        <a:t>1.04</a:t>
                      </a:r>
                    </a:p>
                  </a:txBody>
                  <a:tcPr marL="18288" marR="18288" marT="9144" marB="9144">
                    <a:solidFill>
                      <a:srgbClr val="FFFFFC"/>
                    </a:solidFill>
                  </a:tcPr>
                </a:tc>
                <a:tc>
                  <a:txBody>
                    <a:bodyPr/>
                    <a:lstStyle/>
                    <a:p>
                      <a:pPr algn="ctr">
                        <a:defRPr sz="1050" b="0">
                          <a:solidFill>
                            <a:srgbClr val="232624"/>
                          </a:solidFill>
                          <a:latin typeface="Aptos"/>
                        </a:defRPr>
                      </a:pPr>
                      <a:r>
                        <a:t>0.61</a:t>
                      </a:r>
                    </a:p>
                  </a:txBody>
                  <a:tcPr marL="18288" marR="18288" marT="9144" marB="9144">
                    <a:solidFill>
                      <a:srgbClr val="FFFFFC"/>
                    </a:solidFill>
                  </a:tcPr>
                </a:tc>
                <a:tc>
                  <a:txBody>
                    <a:bodyPr/>
                    <a:lstStyle/>
                    <a:p>
                      <a:pPr algn="ctr">
                        <a:defRPr sz="1050" b="0">
                          <a:solidFill>
                            <a:srgbClr val="232624"/>
                          </a:solidFill>
                          <a:latin typeface="Aptos"/>
                        </a:defRPr>
                      </a:pPr>
                      <a:r>
                        <a:t>1.00</a:t>
                      </a:r>
                    </a:p>
                  </a:txBody>
                  <a:tcPr marL="18288" marR="18288" marT="9144" marB="9144">
                    <a:solidFill>
                      <a:srgbClr val="FFFFFC"/>
                    </a:solidFill>
                  </a:tcPr>
                </a:tc>
                <a:tc>
                  <a:txBody>
                    <a:bodyPr/>
                    <a:lstStyle/>
                    <a:p>
                      <a:pPr algn="ctr">
                        <a:defRPr sz="1050" b="0">
                          <a:solidFill>
                            <a:srgbClr val="232624"/>
                          </a:solidFill>
                          <a:latin typeface="Aptos"/>
                        </a:defRPr>
                      </a:pPr>
                      <a:r>
                        <a:t>1.22</a:t>
                      </a:r>
                    </a:p>
                  </a:txBody>
                  <a:tcPr marL="18288" marR="18288" marT="9144" marB="9144">
                    <a:solidFill>
                      <a:srgbClr val="FFFFFC"/>
                    </a:solidFill>
                  </a:tcPr>
                </a:tc>
              </a:tr>
              <a:tr h="159105">
                <a:tc>
                  <a:txBody>
                    <a:bodyPr/>
                    <a:lstStyle/>
                    <a:p>
                      <a:pPr algn="l">
                        <a:defRPr sz="1050" b="1">
                          <a:solidFill>
                            <a:srgbClr val="232624"/>
                          </a:solidFill>
                          <a:latin typeface="Aptos"/>
                        </a:defRPr>
                      </a:pPr>
                      <a:r>
                        <a:t>B-resolved</a:t>
                      </a:r>
                    </a:p>
                  </a:txBody>
                  <a:tcPr marL="18288" marR="18288" marT="9144" marB="9144">
                    <a:solidFill>
                      <a:srgbClr val="FFFFFC"/>
                    </a:solidFill>
                  </a:tcPr>
                </a:tc>
                <a:tc>
                  <a:txBody>
                    <a:bodyPr/>
                    <a:lstStyle/>
                    <a:p>
                      <a:pPr algn="ctr">
                        <a:defRPr sz="1050" b="0">
                          <a:solidFill>
                            <a:srgbClr val="232624"/>
                          </a:solidFill>
                          <a:latin typeface="Aptos"/>
                        </a:defRPr>
                      </a:pPr>
                      <a:r>
                        <a:t>0.89</a:t>
                      </a:r>
                    </a:p>
                  </a:txBody>
                  <a:tcPr marL="18288" marR="18288" marT="9144" marB="9144">
                    <a:solidFill>
                      <a:srgbClr val="FFFFFC"/>
                    </a:solidFill>
                  </a:tcPr>
                </a:tc>
                <a:tc>
                  <a:txBody>
                    <a:bodyPr/>
                    <a:lstStyle/>
                    <a:p>
                      <a:pPr algn="ctr">
                        <a:defRPr sz="1050" b="0">
                          <a:solidFill>
                            <a:srgbClr val="232624"/>
                          </a:solidFill>
                          <a:latin typeface="Aptos"/>
                        </a:defRPr>
                      </a:pPr>
                      <a:r>
                        <a:t>0.44</a:t>
                      </a:r>
                    </a:p>
                  </a:txBody>
                  <a:tcPr marL="18288" marR="18288" marT="9144" marB="9144">
                    <a:solidFill>
                      <a:srgbClr val="FFFFFC"/>
                    </a:solidFill>
                  </a:tcPr>
                </a:tc>
                <a:tc>
                  <a:txBody>
                    <a:bodyPr/>
                    <a:lstStyle/>
                    <a:p>
                      <a:pPr algn="ctr">
                        <a:defRPr sz="1050" b="0">
                          <a:solidFill>
                            <a:srgbClr val="232624"/>
                          </a:solidFill>
                          <a:latin typeface="Aptos"/>
                        </a:defRPr>
                      </a:pPr>
                      <a:r>
                        <a:t>2.33</a:t>
                      </a:r>
                    </a:p>
                  </a:txBody>
                  <a:tcPr marL="18288" marR="18288" marT="9144" marB="9144">
                    <a:solidFill>
                      <a:srgbClr val="FFFFFC"/>
                    </a:solidFill>
                  </a:tcPr>
                </a:tc>
                <a:tc>
                  <a:txBody>
                    <a:bodyPr/>
                    <a:lstStyle/>
                    <a:p>
                      <a:pPr algn="ctr">
                        <a:defRPr sz="1050" b="0">
                          <a:solidFill>
                            <a:srgbClr val="232624"/>
                          </a:solidFill>
                          <a:latin typeface="Aptos"/>
                        </a:defRPr>
                      </a:pPr>
                      <a:r>
                        <a:t>2.67</a:t>
                      </a:r>
                    </a:p>
                  </a:txBody>
                  <a:tcPr marL="18288" marR="18288" marT="9144" marB="9144">
                    <a:solidFill>
                      <a:srgbClr val="FFFFFC"/>
                    </a:solidFill>
                  </a:tcPr>
                </a:tc>
              </a:tr>
              <a:tr h="159108">
                <a:tc>
                  <a:txBody>
                    <a:bodyPr/>
                    <a:lstStyle/>
                    <a:p>
                      <a:pPr algn="l">
                        <a:defRPr sz="1050" b="1">
                          <a:solidFill>
                            <a:srgbClr val="232624"/>
                          </a:solidFill>
                          <a:latin typeface="Aptos"/>
                        </a:defRPr>
                      </a:pPr>
                      <a:r>
                        <a:t>C</a:t>
                      </a:r>
                    </a:p>
                  </a:txBody>
                  <a:tcPr marL="18288" marR="18288" marT="9144" marB="9144">
                    <a:solidFill>
                      <a:srgbClr val="FFFFFC"/>
                    </a:solidFill>
                  </a:tcPr>
                </a:tc>
                <a:tc>
                  <a:txBody>
                    <a:bodyPr/>
                    <a:lstStyle/>
                    <a:p>
                      <a:pPr algn="ctr">
                        <a:defRPr sz="1050" b="1">
                          <a:solidFill>
                            <a:srgbClr val="232624"/>
                          </a:solidFill>
                          <a:latin typeface="Aptos"/>
                        </a:defRPr>
                      </a:pPr>
                      <a:r>
                        <a:t>2.11</a:t>
                      </a:r>
                    </a:p>
                  </a:txBody>
                  <a:tcPr marL="18288" marR="18288" marT="9144" marB="9144">
                    <a:solidFill>
                      <a:srgbClr val="DEEFB1"/>
                    </a:solidFill>
                  </a:tcPr>
                </a:tc>
                <a:tc>
                  <a:txBody>
                    <a:bodyPr/>
                    <a:lstStyle/>
                    <a:p>
                      <a:pPr algn="ctr">
                        <a:defRPr sz="1050" b="0">
                          <a:solidFill>
                            <a:srgbClr val="232624"/>
                          </a:solidFill>
                          <a:latin typeface="Aptos"/>
                        </a:defRPr>
                      </a:pPr>
                      <a:r>
                        <a:t>0.56</a:t>
                      </a:r>
                    </a:p>
                  </a:txBody>
                  <a:tcPr marL="18288" marR="18288" marT="9144" marB="9144">
                    <a:solidFill>
                      <a:srgbClr val="FFFFFC"/>
                    </a:solidFill>
                  </a:tcPr>
                </a:tc>
                <a:tc>
                  <a:txBody>
                    <a:bodyPr/>
                    <a:lstStyle/>
                    <a:p>
                      <a:pPr algn="ctr">
                        <a:defRPr sz="1050" b="0">
                          <a:solidFill>
                            <a:srgbClr val="232624"/>
                          </a:solidFill>
                          <a:latin typeface="Aptos"/>
                        </a:defRPr>
                      </a:pPr>
                      <a:r>
                        <a:t>1.67</a:t>
                      </a:r>
                    </a:p>
                  </a:txBody>
                  <a:tcPr marL="18288" marR="18288" marT="9144" marB="9144">
                    <a:solidFill>
                      <a:srgbClr val="FFFFFC"/>
                    </a:solidFill>
                  </a:tcPr>
                </a:tc>
                <a:tc>
                  <a:txBody>
                    <a:bodyPr/>
                    <a:lstStyle/>
                    <a:p>
                      <a:pPr algn="ctr">
                        <a:defRPr sz="1050" b="0">
                          <a:solidFill>
                            <a:srgbClr val="232624"/>
                          </a:solidFill>
                          <a:latin typeface="Aptos"/>
                        </a:defRPr>
                      </a:pPr>
                      <a:r>
                        <a:t>2.44</a:t>
                      </a:r>
                    </a:p>
                  </a:txBody>
                  <a:tcPr marL="18288" marR="18288" marT="9144" marB="9144">
                    <a:solidFill>
                      <a:srgbClr val="FFFFFC"/>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Macro Average Results</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Robustness means; highlighted cells are setup winners within each model and experiment.</a:t>
            </a:r>
          </a:p>
        </p:txBody>
      </p:sp>
      <p:sp>
        <p:nvSpPr>
          <p:cNvPr id="4" name="TextBox 3"/>
          <p:cNvSpPr txBox="1"/>
          <p:nvPr/>
        </p:nvSpPr>
        <p:spPr>
          <a:xfrm>
            <a:off x="594360" y="960120"/>
            <a:ext cx="11018520" cy="201168"/>
          </a:xfrm>
          <a:prstGeom prst="rect">
            <a:avLst/>
          </a:prstGeom>
          <a:noFill/>
        </p:spPr>
        <p:txBody>
          <a:bodyPr wrap="none">
            <a:spAutoFit/>
          </a:bodyPr>
          <a:lstStyle/>
          <a:p>
            <a:pPr>
              <a:defRPr sz="1150" b="1">
                <a:solidFill>
                  <a:srgbClr val="184E4B"/>
                </a:solidFill>
                <a:latin typeface="Aptos"/>
              </a:defRPr>
            </a:pPr>
            <a:r>
              <a:t>gpt-4.1</a:t>
            </a:r>
          </a:p>
        </p:txBody>
      </p:sp>
      <p:graphicFrame>
        <p:nvGraphicFramePr>
          <p:cNvPr id="5" name="Table 4"/>
          <p:cNvGraphicFramePr>
            <a:graphicFrameLocks noGrp="1"/>
          </p:cNvGraphicFramePr>
          <p:nvPr/>
        </p:nvGraphicFramePr>
        <p:xfrm>
          <a:off x="594360" y="1188720"/>
          <a:ext cx="11018520" cy="795528"/>
        </p:xfrm>
        <a:graphic>
          <a:graphicData uri="http://schemas.openxmlformats.org/drawingml/2006/table">
            <a:tbl>
              <a:tblPr firstRow="1" bandRow="1">
                <a:tableStyleId>{5C22544A-7EE6-4342-B048-85BDC9FD1C3A}</a:tableStyleId>
              </a:tblPr>
              <a:tblGrid>
                <a:gridCol w="2203704"/>
                <a:gridCol w="2203704"/>
                <a:gridCol w="2203704"/>
                <a:gridCol w="2203704"/>
                <a:gridCol w="2203704"/>
              </a:tblGrid>
              <a:tr h="159105">
                <a:tc>
                  <a:txBody>
                    <a:bodyPr/>
                    <a:lstStyle/>
                    <a:p>
                      <a:pPr algn="ctr">
                        <a:defRPr sz="1050" b="1">
                          <a:solidFill>
                            <a:srgbClr val="FFFFFF"/>
                          </a:solidFill>
                          <a:latin typeface="Aptos"/>
                        </a:defRPr>
                      </a:pPr>
                      <a:r>
                        <a:t>Setup</a:t>
                      </a:r>
                    </a:p>
                  </a:txBody>
                  <a:tcPr>
                    <a:solidFill>
                      <a:srgbClr val="25484C"/>
                    </a:solidFill>
                  </a:tcPr>
                </a:tc>
                <a:tc>
                  <a:txBody>
                    <a:bodyPr/>
                    <a:lstStyle/>
                    <a:p>
                      <a:pPr algn="ctr">
                        <a:defRPr sz="1050" b="1">
                          <a:solidFill>
                            <a:srgbClr val="FFFFFF"/>
                          </a:solidFill>
                          <a:latin typeface="Aptos"/>
                        </a:defRPr>
                      </a:pPr>
                      <a:r>
                        <a:t>E1</a:t>
                      </a:r>
                    </a:p>
                  </a:txBody>
                  <a:tcPr>
                    <a:solidFill>
                      <a:srgbClr val="25484C"/>
                    </a:solidFill>
                  </a:tcPr>
                </a:tc>
                <a:tc>
                  <a:txBody>
                    <a:bodyPr/>
                    <a:lstStyle/>
                    <a:p>
                      <a:pPr algn="ctr">
                        <a:defRPr sz="1050" b="1">
                          <a:solidFill>
                            <a:srgbClr val="FFFFFF"/>
                          </a:solidFill>
                          <a:latin typeface="Aptos"/>
                        </a:defRPr>
                      </a:pPr>
                      <a:r>
                        <a:t>E2</a:t>
                      </a:r>
                    </a:p>
                  </a:txBody>
                  <a:tcPr>
                    <a:solidFill>
                      <a:srgbClr val="25484C"/>
                    </a:solidFill>
                  </a:tcPr>
                </a:tc>
                <a:tc>
                  <a:txBody>
                    <a:bodyPr/>
                    <a:lstStyle/>
                    <a:p>
                      <a:pPr algn="ctr">
                        <a:defRPr sz="1050" b="1">
                          <a:solidFill>
                            <a:srgbClr val="FFFFFF"/>
                          </a:solidFill>
                          <a:latin typeface="Aptos"/>
                        </a:defRPr>
                      </a:pPr>
                      <a:r>
                        <a:t>E3-M</a:t>
                      </a:r>
                    </a:p>
                  </a:txBody>
                  <a:tcPr>
                    <a:solidFill>
                      <a:srgbClr val="25484C"/>
                    </a:solidFill>
                  </a:tcPr>
                </a:tc>
                <a:tc>
                  <a:txBody>
                    <a:bodyPr/>
                    <a:lstStyle/>
                    <a:p>
                      <a:pPr algn="ctr">
                        <a:defRPr sz="1050" b="1">
                          <a:solidFill>
                            <a:srgbClr val="FFFFFF"/>
                          </a:solidFill>
                          <a:latin typeface="Aptos"/>
                        </a:defRPr>
                      </a:pPr>
                      <a:r>
                        <a:t>E3-T</a:t>
                      </a:r>
                    </a:p>
                  </a:txBody>
                  <a:tcPr>
                    <a:solidFill>
                      <a:srgbClr val="25484C"/>
                    </a:solidFill>
                  </a:tcPr>
                </a:tc>
              </a:tr>
              <a:tr h="159105">
                <a:tc>
                  <a:txBody>
                    <a:bodyPr/>
                    <a:lstStyle/>
                    <a:p>
                      <a:pPr algn="l">
                        <a:defRPr sz="1050" b="1">
                          <a:solidFill>
                            <a:srgbClr val="232624"/>
                          </a:solidFill>
                          <a:latin typeface="Aptos"/>
                        </a:defRPr>
                      </a:pPr>
                      <a:r>
                        <a:t>A</a:t>
                      </a:r>
                    </a:p>
                  </a:txBody>
                  <a:tcPr marL="18288" marR="18288" marT="9144" marB="9144">
                    <a:solidFill>
                      <a:srgbClr val="FFFFFC"/>
                    </a:solidFill>
                  </a:tcPr>
                </a:tc>
                <a:tc>
                  <a:txBody>
                    <a:bodyPr/>
                    <a:lstStyle/>
                    <a:p>
                      <a:pPr algn="ctr">
                        <a:defRPr sz="1050" b="0">
                          <a:solidFill>
                            <a:srgbClr val="232624"/>
                          </a:solidFill>
                          <a:latin typeface="Aptos"/>
                        </a:defRPr>
                      </a:pPr>
                      <a:r>
                        <a:t>2.78</a:t>
                      </a:r>
                    </a:p>
                  </a:txBody>
                  <a:tcPr marL="18288" marR="18288" marT="9144" marB="9144">
                    <a:solidFill>
                      <a:srgbClr val="FFFFFC"/>
                    </a:solidFill>
                  </a:tcPr>
                </a:tc>
                <a:tc>
                  <a:txBody>
                    <a:bodyPr/>
                    <a:lstStyle/>
                    <a:p>
                      <a:pPr algn="ctr">
                        <a:defRPr sz="1050" b="0">
                          <a:solidFill>
                            <a:srgbClr val="232624"/>
                          </a:solidFill>
                          <a:latin typeface="Aptos"/>
                        </a:defRPr>
                      </a:pPr>
                      <a:r>
                        <a:t>2.33</a:t>
                      </a:r>
                    </a:p>
                  </a:txBody>
                  <a:tcPr marL="18288" marR="18288" marT="9144" marB="9144">
                    <a:solidFill>
                      <a:srgbClr val="FFFFFC"/>
                    </a:solidFill>
                  </a:tcPr>
                </a:tc>
                <a:tc>
                  <a:txBody>
                    <a:bodyPr/>
                    <a:lstStyle/>
                    <a:p>
                      <a:pPr algn="ctr">
                        <a:defRPr sz="1050" b="0">
                          <a:solidFill>
                            <a:srgbClr val="232624"/>
                          </a:solidFill>
                          <a:latin typeface="Aptos"/>
                        </a:defRPr>
                      </a:pPr>
                      <a:r>
                        <a:t>3.00</a:t>
                      </a:r>
                    </a:p>
                  </a:txBody>
                  <a:tcPr marL="18288" marR="18288" marT="9144" marB="9144">
                    <a:solidFill>
                      <a:srgbClr val="FFFFFC"/>
                    </a:solidFill>
                  </a:tcPr>
                </a:tc>
                <a:tc>
                  <a:txBody>
                    <a:bodyPr/>
                    <a:lstStyle/>
                    <a:p>
                      <a:pPr algn="ctr">
                        <a:defRPr sz="1050" b="0">
                          <a:solidFill>
                            <a:srgbClr val="232624"/>
                          </a:solidFill>
                          <a:latin typeface="Aptos"/>
                        </a:defRPr>
                      </a:pPr>
                      <a:r>
                        <a:t>3.83</a:t>
                      </a:r>
                    </a:p>
                  </a:txBody>
                  <a:tcPr marL="18288" marR="18288" marT="9144" marB="9144">
                    <a:solidFill>
                      <a:srgbClr val="FFFFFC"/>
                    </a:solidFill>
                  </a:tcPr>
                </a:tc>
              </a:tr>
              <a:tr h="159105">
                <a:tc>
                  <a:txBody>
                    <a:bodyPr/>
                    <a:lstStyle/>
                    <a:p>
                      <a:pPr algn="l">
                        <a:defRPr sz="1050" b="1">
                          <a:solidFill>
                            <a:srgbClr val="232624"/>
                          </a:solidFill>
                          <a:latin typeface="Aptos"/>
                        </a:defRPr>
                      </a:pPr>
                      <a:r>
                        <a:t>B-query</a:t>
                      </a:r>
                    </a:p>
                  </a:txBody>
                  <a:tcPr marL="18288" marR="18288" marT="9144" marB="9144">
                    <a:solidFill>
                      <a:srgbClr val="FFFFFC"/>
                    </a:solidFill>
                  </a:tcPr>
                </a:tc>
                <a:tc>
                  <a:txBody>
                    <a:bodyPr/>
                    <a:lstStyle/>
                    <a:p>
                      <a:pPr algn="ctr">
                        <a:defRPr sz="1050" b="0">
                          <a:solidFill>
                            <a:srgbClr val="232624"/>
                          </a:solidFill>
                          <a:latin typeface="Aptos"/>
                        </a:defRPr>
                      </a:pPr>
                      <a:r>
                        <a:t>2.80</a:t>
                      </a:r>
                    </a:p>
                  </a:txBody>
                  <a:tcPr marL="18288" marR="18288" marT="9144" marB="9144">
                    <a:solidFill>
                      <a:srgbClr val="FFFFFC"/>
                    </a:solidFill>
                  </a:tcPr>
                </a:tc>
                <a:tc>
                  <a:txBody>
                    <a:bodyPr/>
                    <a:lstStyle/>
                    <a:p>
                      <a:pPr algn="ctr">
                        <a:defRPr sz="1050" b="0">
                          <a:solidFill>
                            <a:srgbClr val="232624"/>
                          </a:solidFill>
                          <a:latin typeface="Aptos"/>
                        </a:defRPr>
                      </a:pPr>
                      <a:r>
                        <a:t>2.33</a:t>
                      </a:r>
                    </a:p>
                  </a:txBody>
                  <a:tcPr marL="18288" marR="18288" marT="9144" marB="9144">
                    <a:solidFill>
                      <a:srgbClr val="FFFFFC"/>
                    </a:solidFill>
                  </a:tcPr>
                </a:tc>
                <a:tc>
                  <a:txBody>
                    <a:bodyPr/>
                    <a:lstStyle/>
                    <a:p>
                      <a:pPr algn="ctr">
                        <a:defRPr sz="1050" b="0">
                          <a:solidFill>
                            <a:srgbClr val="232624"/>
                          </a:solidFill>
                          <a:latin typeface="Aptos"/>
                        </a:defRPr>
                      </a:pPr>
                      <a:r>
                        <a:t>1.89</a:t>
                      </a:r>
                    </a:p>
                  </a:txBody>
                  <a:tcPr marL="18288" marR="18288" marT="9144" marB="9144">
                    <a:solidFill>
                      <a:srgbClr val="FFFFFC"/>
                    </a:solidFill>
                  </a:tcPr>
                </a:tc>
                <a:tc>
                  <a:txBody>
                    <a:bodyPr/>
                    <a:lstStyle/>
                    <a:p>
                      <a:pPr algn="ctr">
                        <a:defRPr sz="1050" b="0">
                          <a:solidFill>
                            <a:srgbClr val="232624"/>
                          </a:solidFill>
                          <a:latin typeface="Aptos"/>
                        </a:defRPr>
                      </a:pPr>
                      <a:r>
                        <a:t>2.67</a:t>
                      </a:r>
                    </a:p>
                  </a:txBody>
                  <a:tcPr marL="18288" marR="18288" marT="9144" marB="9144">
                    <a:solidFill>
                      <a:srgbClr val="FFFFFC"/>
                    </a:solidFill>
                  </a:tcPr>
                </a:tc>
              </a:tr>
              <a:tr h="159105">
                <a:tc>
                  <a:txBody>
                    <a:bodyPr/>
                    <a:lstStyle/>
                    <a:p>
                      <a:pPr algn="l">
                        <a:defRPr sz="1050" b="1">
                          <a:solidFill>
                            <a:srgbClr val="232624"/>
                          </a:solidFill>
                          <a:latin typeface="Aptos"/>
                        </a:defRPr>
                      </a:pPr>
                      <a:r>
                        <a:t>B-resolved</a:t>
                      </a:r>
                    </a:p>
                  </a:txBody>
                  <a:tcPr marL="18288" marR="18288" marT="9144" marB="9144">
                    <a:solidFill>
                      <a:srgbClr val="FFFFFC"/>
                    </a:solidFill>
                  </a:tcPr>
                </a:tc>
                <a:tc>
                  <a:txBody>
                    <a:bodyPr/>
                    <a:lstStyle/>
                    <a:p>
                      <a:pPr algn="ctr">
                        <a:defRPr sz="1050" b="0">
                          <a:solidFill>
                            <a:srgbClr val="232624"/>
                          </a:solidFill>
                          <a:latin typeface="Aptos"/>
                        </a:defRPr>
                      </a:pPr>
                      <a:r>
                        <a:t>2.70</a:t>
                      </a:r>
                    </a:p>
                  </a:txBody>
                  <a:tcPr marL="18288" marR="18288" marT="9144" marB="9144">
                    <a:solidFill>
                      <a:srgbClr val="FFFFFC"/>
                    </a:solidFill>
                  </a:tcPr>
                </a:tc>
                <a:tc>
                  <a:txBody>
                    <a:bodyPr/>
                    <a:lstStyle/>
                    <a:p>
                      <a:pPr algn="ctr">
                        <a:defRPr sz="1050" b="0">
                          <a:solidFill>
                            <a:srgbClr val="232624"/>
                          </a:solidFill>
                          <a:latin typeface="Aptos"/>
                        </a:defRPr>
                      </a:pPr>
                      <a:r>
                        <a:t>2.42</a:t>
                      </a:r>
                    </a:p>
                  </a:txBody>
                  <a:tcPr marL="18288" marR="18288" marT="9144" marB="9144">
                    <a:solidFill>
                      <a:srgbClr val="FFFFFC"/>
                    </a:solidFill>
                  </a:tcPr>
                </a:tc>
                <a:tc>
                  <a:txBody>
                    <a:bodyPr/>
                    <a:lstStyle/>
                    <a:p>
                      <a:pPr algn="ctr">
                        <a:defRPr sz="1050" b="0">
                          <a:solidFill>
                            <a:srgbClr val="232624"/>
                          </a:solidFill>
                          <a:latin typeface="Aptos"/>
                        </a:defRPr>
                      </a:pPr>
                      <a:r>
                        <a:t>2.72</a:t>
                      </a:r>
                    </a:p>
                  </a:txBody>
                  <a:tcPr marL="18288" marR="18288" marT="9144" marB="9144">
                    <a:solidFill>
                      <a:srgbClr val="FFFFFC"/>
                    </a:solidFill>
                  </a:tcPr>
                </a:tc>
                <a:tc>
                  <a:txBody>
                    <a:bodyPr/>
                    <a:lstStyle/>
                    <a:p>
                      <a:pPr algn="ctr">
                        <a:defRPr sz="1050" b="0">
                          <a:solidFill>
                            <a:srgbClr val="232624"/>
                          </a:solidFill>
                          <a:latin typeface="Aptos"/>
                        </a:defRPr>
                      </a:pPr>
                      <a:r>
                        <a:t>3.39</a:t>
                      </a:r>
                    </a:p>
                  </a:txBody>
                  <a:tcPr marL="18288" marR="18288" marT="9144" marB="9144">
                    <a:solidFill>
                      <a:srgbClr val="FFFFFC"/>
                    </a:solidFill>
                  </a:tcPr>
                </a:tc>
              </a:tr>
              <a:tr h="159108">
                <a:tc>
                  <a:txBody>
                    <a:bodyPr/>
                    <a:lstStyle/>
                    <a:p>
                      <a:pPr algn="l">
                        <a:defRPr sz="1050" b="1">
                          <a:solidFill>
                            <a:srgbClr val="232624"/>
                          </a:solidFill>
                          <a:latin typeface="Aptos"/>
                        </a:defRPr>
                      </a:pPr>
                      <a:r>
                        <a:t>C</a:t>
                      </a:r>
                    </a:p>
                  </a:txBody>
                  <a:tcPr marL="18288" marR="18288" marT="9144" marB="9144">
                    <a:solidFill>
                      <a:srgbClr val="FFFFFC"/>
                    </a:solidFill>
                  </a:tcPr>
                </a:tc>
                <a:tc>
                  <a:txBody>
                    <a:bodyPr/>
                    <a:lstStyle/>
                    <a:p>
                      <a:pPr algn="ctr">
                        <a:defRPr sz="1050" b="1">
                          <a:solidFill>
                            <a:srgbClr val="232624"/>
                          </a:solidFill>
                          <a:latin typeface="Aptos"/>
                        </a:defRPr>
                      </a:pPr>
                      <a:r>
                        <a:t>3.07</a:t>
                      </a:r>
                    </a:p>
                  </a:txBody>
                  <a:tcPr marL="18288" marR="18288" marT="9144" marB="9144">
                    <a:solidFill>
                      <a:srgbClr val="DEEFB1"/>
                    </a:solidFill>
                  </a:tcPr>
                </a:tc>
                <a:tc>
                  <a:txBody>
                    <a:bodyPr/>
                    <a:lstStyle/>
                    <a:p>
                      <a:pPr algn="ctr">
                        <a:defRPr sz="1050" b="1">
                          <a:solidFill>
                            <a:srgbClr val="232624"/>
                          </a:solidFill>
                          <a:latin typeface="Aptos"/>
                        </a:defRPr>
                      </a:pPr>
                      <a:r>
                        <a:t>2.78</a:t>
                      </a:r>
                    </a:p>
                  </a:txBody>
                  <a:tcPr marL="18288" marR="18288" marT="9144" marB="9144">
                    <a:solidFill>
                      <a:srgbClr val="DEEFB1"/>
                    </a:solidFill>
                  </a:tcPr>
                </a:tc>
                <a:tc>
                  <a:txBody>
                    <a:bodyPr/>
                    <a:lstStyle/>
                    <a:p>
                      <a:pPr algn="ctr">
                        <a:defRPr sz="1050" b="1">
                          <a:solidFill>
                            <a:srgbClr val="232624"/>
                          </a:solidFill>
                          <a:latin typeface="Aptos"/>
                        </a:defRPr>
                      </a:pPr>
                      <a:r>
                        <a:t>3.17</a:t>
                      </a:r>
                    </a:p>
                  </a:txBody>
                  <a:tcPr marL="18288" marR="18288" marT="9144" marB="9144">
                    <a:solidFill>
                      <a:srgbClr val="DEEFB1"/>
                    </a:solidFill>
                  </a:tcPr>
                </a:tc>
                <a:tc>
                  <a:txBody>
                    <a:bodyPr/>
                    <a:lstStyle/>
                    <a:p>
                      <a:pPr algn="ctr">
                        <a:defRPr sz="1050" b="1">
                          <a:solidFill>
                            <a:srgbClr val="232624"/>
                          </a:solidFill>
                          <a:latin typeface="Aptos"/>
                        </a:defRPr>
                      </a:pPr>
                      <a:r>
                        <a:t>3.89</a:t>
                      </a:r>
                    </a:p>
                  </a:txBody>
                  <a:tcPr marL="18288" marR="18288" marT="9144" marB="9144">
                    <a:solidFill>
                      <a:srgbClr val="DEEFB1"/>
                    </a:solidFill>
                  </a:tcPr>
                </a:tc>
              </a:tr>
            </a:tbl>
          </a:graphicData>
        </a:graphic>
      </p:graphicFrame>
      <p:sp>
        <p:nvSpPr>
          <p:cNvPr id="6" name="TextBox 5"/>
          <p:cNvSpPr txBox="1"/>
          <p:nvPr/>
        </p:nvSpPr>
        <p:spPr>
          <a:xfrm>
            <a:off x="594360" y="2057400"/>
            <a:ext cx="11018520" cy="201168"/>
          </a:xfrm>
          <a:prstGeom prst="rect">
            <a:avLst/>
          </a:prstGeom>
          <a:noFill/>
        </p:spPr>
        <p:txBody>
          <a:bodyPr wrap="none">
            <a:spAutoFit/>
          </a:bodyPr>
          <a:lstStyle/>
          <a:p>
            <a:pPr>
              <a:defRPr sz="1150" b="1">
                <a:solidFill>
                  <a:srgbClr val="184E4B"/>
                </a:solidFill>
                <a:latin typeface="Aptos"/>
              </a:defRPr>
            </a:pPr>
            <a:r>
              <a:t>gpt-oss-high</a:t>
            </a:r>
          </a:p>
        </p:txBody>
      </p:sp>
      <p:graphicFrame>
        <p:nvGraphicFramePr>
          <p:cNvPr id="7" name="Table 6"/>
          <p:cNvGraphicFramePr>
            <a:graphicFrameLocks noGrp="1"/>
          </p:cNvGraphicFramePr>
          <p:nvPr/>
        </p:nvGraphicFramePr>
        <p:xfrm>
          <a:off x="594360" y="2286000"/>
          <a:ext cx="11018520" cy="795528"/>
        </p:xfrm>
        <a:graphic>
          <a:graphicData uri="http://schemas.openxmlformats.org/drawingml/2006/table">
            <a:tbl>
              <a:tblPr firstRow="1" bandRow="1">
                <a:tableStyleId>{5C22544A-7EE6-4342-B048-85BDC9FD1C3A}</a:tableStyleId>
              </a:tblPr>
              <a:tblGrid>
                <a:gridCol w="2203704"/>
                <a:gridCol w="2203704"/>
                <a:gridCol w="2203704"/>
                <a:gridCol w="2203704"/>
                <a:gridCol w="2203704"/>
              </a:tblGrid>
              <a:tr h="159105">
                <a:tc>
                  <a:txBody>
                    <a:bodyPr/>
                    <a:lstStyle/>
                    <a:p>
                      <a:pPr algn="ctr">
                        <a:defRPr sz="1050" b="1">
                          <a:solidFill>
                            <a:srgbClr val="FFFFFF"/>
                          </a:solidFill>
                          <a:latin typeface="Aptos"/>
                        </a:defRPr>
                      </a:pPr>
                      <a:r>
                        <a:t>Setup</a:t>
                      </a:r>
                    </a:p>
                  </a:txBody>
                  <a:tcPr>
                    <a:solidFill>
                      <a:srgbClr val="25484C"/>
                    </a:solidFill>
                  </a:tcPr>
                </a:tc>
                <a:tc>
                  <a:txBody>
                    <a:bodyPr/>
                    <a:lstStyle/>
                    <a:p>
                      <a:pPr algn="ctr">
                        <a:defRPr sz="1050" b="1">
                          <a:solidFill>
                            <a:srgbClr val="FFFFFF"/>
                          </a:solidFill>
                          <a:latin typeface="Aptos"/>
                        </a:defRPr>
                      </a:pPr>
                      <a:r>
                        <a:t>E1</a:t>
                      </a:r>
                    </a:p>
                  </a:txBody>
                  <a:tcPr>
                    <a:solidFill>
                      <a:srgbClr val="25484C"/>
                    </a:solidFill>
                  </a:tcPr>
                </a:tc>
                <a:tc>
                  <a:txBody>
                    <a:bodyPr/>
                    <a:lstStyle/>
                    <a:p>
                      <a:pPr algn="ctr">
                        <a:defRPr sz="1050" b="1">
                          <a:solidFill>
                            <a:srgbClr val="FFFFFF"/>
                          </a:solidFill>
                          <a:latin typeface="Aptos"/>
                        </a:defRPr>
                      </a:pPr>
                      <a:r>
                        <a:t>E2</a:t>
                      </a:r>
                    </a:p>
                  </a:txBody>
                  <a:tcPr>
                    <a:solidFill>
                      <a:srgbClr val="25484C"/>
                    </a:solidFill>
                  </a:tcPr>
                </a:tc>
                <a:tc>
                  <a:txBody>
                    <a:bodyPr/>
                    <a:lstStyle/>
                    <a:p>
                      <a:pPr algn="ctr">
                        <a:defRPr sz="1050" b="1">
                          <a:solidFill>
                            <a:srgbClr val="FFFFFF"/>
                          </a:solidFill>
                          <a:latin typeface="Aptos"/>
                        </a:defRPr>
                      </a:pPr>
                      <a:r>
                        <a:t>E3-M</a:t>
                      </a:r>
                    </a:p>
                  </a:txBody>
                  <a:tcPr>
                    <a:solidFill>
                      <a:srgbClr val="25484C"/>
                    </a:solidFill>
                  </a:tcPr>
                </a:tc>
                <a:tc>
                  <a:txBody>
                    <a:bodyPr/>
                    <a:lstStyle/>
                    <a:p>
                      <a:pPr algn="ctr">
                        <a:defRPr sz="1050" b="1">
                          <a:solidFill>
                            <a:srgbClr val="FFFFFF"/>
                          </a:solidFill>
                          <a:latin typeface="Aptos"/>
                        </a:defRPr>
                      </a:pPr>
                      <a:r>
                        <a:t>E3-T</a:t>
                      </a:r>
                    </a:p>
                  </a:txBody>
                  <a:tcPr>
                    <a:solidFill>
                      <a:srgbClr val="25484C"/>
                    </a:solidFill>
                  </a:tcPr>
                </a:tc>
              </a:tr>
              <a:tr h="159105">
                <a:tc>
                  <a:txBody>
                    <a:bodyPr/>
                    <a:lstStyle/>
                    <a:p>
                      <a:pPr algn="l">
                        <a:defRPr sz="1050" b="1">
                          <a:solidFill>
                            <a:srgbClr val="232624"/>
                          </a:solidFill>
                          <a:latin typeface="Aptos"/>
                        </a:defRPr>
                      </a:pPr>
                      <a:r>
                        <a:t>A</a:t>
                      </a:r>
                    </a:p>
                  </a:txBody>
                  <a:tcPr marL="18288" marR="18288" marT="9144" marB="9144">
                    <a:solidFill>
                      <a:srgbClr val="FFFFFC"/>
                    </a:solidFill>
                  </a:tcPr>
                </a:tc>
                <a:tc>
                  <a:txBody>
                    <a:bodyPr/>
                    <a:lstStyle/>
                    <a:p>
                      <a:pPr algn="ctr">
                        <a:defRPr sz="1050" b="0">
                          <a:solidFill>
                            <a:srgbClr val="232624"/>
                          </a:solidFill>
                          <a:latin typeface="Aptos"/>
                        </a:defRPr>
                      </a:pPr>
                      <a:r>
                        <a:t>2.17</a:t>
                      </a:r>
                    </a:p>
                  </a:txBody>
                  <a:tcPr marL="18288" marR="18288" marT="9144" marB="9144">
                    <a:solidFill>
                      <a:srgbClr val="FFFFFC"/>
                    </a:solidFill>
                  </a:tcPr>
                </a:tc>
                <a:tc>
                  <a:txBody>
                    <a:bodyPr/>
                    <a:lstStyle/>
                    <a:p>
                      <a:pPr algn="ctr">
                        <a:defRPr sz="1050" b="0">
                          <a:solidFill>
                            <a:srgbClr val="232624"/>
                          </a:solidFill>
                          <a:latin typeface="Aptos"/>
                        </a:defRPr>
                      </a:pPr>
                      <a:r>
                        <a:t>1.97</a:t>
                      </a:r>
                    </a:p>
                  </a:txBody>
                  <a:tcPr marL="18288" marR="18288" marT="9144" marB="9144">
                    <a:solidFill>
                      <a:srgbClr val="FFFFFC"/>
                    </a:solidFill>
                  </a:tcPr>
                </a:tc>
                <a:tc>
                  <a:txBody>
                    <a:bodyPr/>
                    <a:lstStyle/>
                    <a:p>
                      <a:pPr algn="ctr">
                        <a:defRPr sz="1050" b="0">
                          <a:solidFill>
                            <a:srgbClr val="232624"/>
                          </a:solidFill>
                          <a:latin typeface="Aptos"/>
                        </a:defRPr>
                      </a:pPr>
                      <a:r>
                        <a:t>2.39</a:t>
                      </a:r>
                    </a:p>
                  </a:txBody>
                  <a:tcPr marL="18288" marR="18288" marT="9144" marB="9144">
                    <a:solidFill>
                      <a:srgbClr val="FFFFFC"/>
                    </a:solidFill>
                  </a:tcPr>
                </a:tc>
                <a:tc>
                  <a:txBody>
                    <a:bodyPr/>
                    <a:lstStyle/>
                    <a:p>
                      <a:pPr algn="ctr">
                        <a:defRPr sz="1050" b="0">
                          <a:solidFill>
                            <a:srgbClr val="232624"/>
                          </a:solidFill>
                          <a:latin typeface="Aptos"/>
                        </a:defRPr>
                      </a:pPr>
                      <a:r>
                        <a:t>2.61</a:t>
                      </a:r>
                    </a:p>
                  </a:txBody>
                  <a:tcPr marL="18288" marR="18288" marT="9144" marB="9144">
                    <a:solidFill>
                      <a:srgbClr val="FFFFFC"/>
                    </a:solidFill>
                  </a:tcPr>
                </a:tc>
              </a:tr>
              <a:tr h="159105">
                <a:tc>
                  <a:txBody>
                    <a:bodyPr/>
                    <a:lstStyle/>
                    <a:p>
                      <a:pPr algn="l">
                        <a:defRPr sz="1050" b="1">
                          <a:solidFill>
                            <a:srgbClr val="232624"/>
                          </a:solidFill>
                          <a:latin typeface="Aptos"/>
                        </a:defRPr>
                      </a:pPr>
                      <a:r>
                        <a:t>B-query</a:t>
                      </a:r>
                    </a:p>
                  </a:txBody>
                  <a:tcPr marL="18288" marR="18288" marT="9144" marB="9144">
                    <a:solidFill>
                      <a:srgbClr val="FFFFFC"/>
                    </a:solidFill>
                  </a:tcPr>
                </a:tc>
                <a:tc>
                  <a:txBody>
                    <a:bodyPr/>
                    <a:lstStyle/>
                    <a:p>
                      <a:pPr algn="ctr">
                        <a:defRPr sz="1050" b="0">
                          <a:solidFill>
                            <a:srgbClr val="232624"/>
                          </a:solidFill>
                          <a:latin typeface="Aptos"/>
                        </a:defRPr>
                      </a:pPr>
                      <a:r>
                        <a:t>2.17</a:t>
                      </a:r>
                    </a:p>
                  </a:txBody>
                  <a:tcPr marL="18288" marR="18288" marT="9144" marB="9144">
                    <a:solidFill>
                      <a:srgbClr val="FFFFFC"/>
                    </a:solidFill>
                  </a:tcPr>
                </a:tc>
                <a:tc>
                  <a:txBody>
                    <a:bodyPr/>
                    <a:lstStyle/>
                    <a:p>
                      <a:pPr algn="ctr">
                        <a:defRPr sz="1050" b="1">
                          <a:solidFill>
                            <a:srgbClr val="232624"/>
                          </a:solidFill>
                          <a:latin typeface="Aptos"/>
                        </a:defRPr>
                      </a:pPr>
                      <a:r>
                        <a:t>2.03</a:t>
                      </a:r>
                    </a:p>
                  </a:txBody>
                  <a:tcPr marL="18288" marR="18288" marT="9144" marB="9144">
                    <a:solidFill>
                      <a:srgbClr val="DEEFB1"/>
                    </a:solidFill>
                  </a:tcPr>
                </a:tc>
                <a:tc>
                  <a:txBody>
                    <a:bodyPr/>
                    <a:lstStyle/>
                    <a:p>
                      <a:pPr algn="ctr">
                        <a:defRPr sz="1050" b="0">
                          <a:solidFill>
                            <a:srgbClr val="232624"/>
                          </a:solidFill>
                          <a:latin typeface="Aptos"/>
                        </a:defRPr>
                      </a:pPr>
                      <a:r>
                        <a:t>2.44</a:t>
                      </a:r>
                    </a:p>
                  </a:txBody>
                  <a:tcPr marL="18288" marR="18288" marT="9144" marB="9144">
                    <a:solidFill>
                      <a:srgbClr val="FFFFFC"/>
                    </a:solidFill>
                  </a:tcPr>
                </a:tc>
                <a:tc>
                  <a:txBody>
                    <a:bodyPr/>
                    <a:lstStyle/>
                    <a:p>
                      <a:pPr algn="ctr">
                        <a:defRPr sz="1050" b="0">
                          <a:solidFill>
                            <a:srgbClr val="232624"/>
                          </a:solidFill>
                          <a:latin typeface="Aptos"/>
                        </a:defRPr>
                      </a:pPr>
                      <a:r>
                        <a:t>2.83</a:t>
                      </a:r>
                    </a:p>
                  </a:txBody>
                  <a:tcPr marL="18288" marR="18288" marT="9144" marB="9144">
                    <a:solidFill>
                      <a:srgbClr val="FFFFFC"/>
                    </a:solidFill>
                  </a:tcPr>
                </a:tc>
              </a:tr>
              <a:tr h="159105">
                <a:tc>
                  <a:txBody>
                    <a:bodyPr/>
                    <a:lstStyle/>
                    <a:p>
                      <a:pPr algn="l">
                        <a:defRPr sz="1050" b="1">
                          <a:solidFill>
                            <a:srgbClr val="232624"/>
                          </a:solidFill>
                          <a:latin typeface="Aptos"/>
                        </a:defRPr>
                      </a:pPr>
                      <a:r>
                        <a:t>B-resolved</a:t>
                      </a:r>
                    </a:p>
                  </a:txBody>
                  <a:tcPr marL="18288" marR="18288" marT="9144" marB="9144">
                    <a:solidFill>
                      <a:srgbClr val="FFFFFC"/>
                    </a:solidFill>
                  </a:tcPr>
                </a:tc>
                <a:tc>
                  <a:txBody>
                    <a:bodyPr/>
                    <a:lstStyle/>
                    <a:p>
                      <a:pPr algn="ctr">
                        <a:defRPr sz="1050" b="0">
                          <a:solidFill>
                            <a:srgbClr val="232624"/>
                          </a:solidFill>
                          <a:latin typeface="Aptos"/>
                        </a:defRPr>
                      </a:pPr>
                      <a:r>
                        <a:t>2.33</a:t>
                      </a:r>
                    </a:p>
                  </a:txBody>
                  <a:tcPr marL="18288" marR="18288" marT="9144" marB="9144">
                    <a:solidFill>
                      <a:srgbClr val="FFFFFC"/>
                    </a:solidFill>
                  </a:tcPr>
                </a:tc>
                <a:tc>
                  <a:txBody>
                    <a:bodyPr/>
                    <a:lstStyle/>
                    <a:p>
                      <a:pPr algn="ctr">
                        <a:defRPr sz="1050" b="0">
                          <a:solidFill>
                            <a:srgbClr val="232624"/>
                          </a:solidFill>
                          <a:latin typeface="Aptos"/>
                        </a:defRPr>
                      </a:pPr>
                      <a:r>
                        <a:t>1.92</a:t>
                      </a:r>
                    </a:p>
                  </a:txBody>
                  <a:tcPr marL="18288" marR="18288" marT="9144" marB="9144">
                    <a:solidFill>
                      <a:srgbClr val="FFFFFC"/>
                    </a:solidFill>
                  </a:tcPr>
                </a:tc>
                <a:tc>
                  <a:txBody>
                    <a:bodyPr/>
                    <a:lstStyle/>
                    <a:p>
                      <a:pPr algn="ctr">
                        <a:defRPr sz="1050" b="0">
                          <a:solidFill>
                            <a:srgbClr val="232624"/>
                          </a:solidFill>
                          <a:latin typeface="Aptos"/>
                        </a:defRPr>
                      </a:pPr>
                      <a:r>
                        <a:t>2.50</a:t>
                      </a:r>
                    </a:p>
                  </a:txBody>
                  <a:tcPr marL="18288" marR="18288" marT="9144" marB="9144">
                    <a:solidFill>
                      <a:srgbClr val="FFFFFC"/>
                    </a:solidFill>
                  </a:tcPr>
                </a:tc>
                <a:tc>
                  <a:txBody>
                    <a:bodyPr/>
                    <a:lstStyle/>
                    <a:p>
                      <a:pPr algn="ctr">
                        <a:defRPr sz="1050" b="0">
                          <a:solidFill>
                            <a:srgbClr val="232624"/>
                          </a:solidFill>
                          <a:latin typeface="Aptos"/>
                        </a:defRPr>
                      </a:pPr>
                      <a:r>
                        <a:t>2.61</a:t>
                      </a:r>
                    </a:p>
                  </a:txBody>
                  <a:tcPr marL="18288" marR="18288" marT="9144" marB="9144">
                    <a:solidFill>
                      <a:srgbClr val="FFFFFC"/>
                    </a:solidFill>
                  </a:tcPr>
                </a:tc>
              </a:tr>
              <a:tr h="159108">
                <a:tc>
                  <a:txBody>
                    <a:bodyPr/>
                    <a:lstStyle/>
                    <a:p>
                      <a:pPr algn="l">
                        <a:defRPr sz="1050" b="1">
                          <a:solidFill>
                            <a:srgbClr val="232624"/>
                          </a:solidFill>
                          <a:latin typeface="Aptos"/>
                        </a:defRPr>
                      </a:pPr>
                      <a:r>
                        <a:t>C</a:t>
                      </a:r>
                    </a:p>
                  </a:txBody>
                  <a:tcPr marL="18288" marR="18288" marT="9144" marB="9144">
                    <a:solidFill>
                      <a:srgbClr val="FFFFFC"/>
                    </a:solidFill>
                  </a:tcPr>
                </a:tc>
                <a:tc>
                  <a:txBody>
                    <a:bodyPr/>
                    <a:lstStyle/>
                    <a:p>
                      <a:pPr algn="ctr">
                        <a:defRPr sz="1050" b="1">
                          <a:solidFill>
                            <a:srgbClr val="232624"/>
                          </a:solidFill>
                          <a:latin typeface="Aptos"/>
                        </a:defRPr>
                      </a:pPr>
                      <a:r>
                        <a:t>2.93</a:t>
                      </a:r>
                    </a:p>
                  </a:txBody>
                  <a:tcPr marL="18288" marR="18288" marT="9144" marB="9144">
                    <a:solidFill>
                      <a:srgbClr val="DEEFB1"/>
                    </a:solidFill>
                  </a:tcPr>
                </a:tc>
                <a:tc>
                  <a:txBody>
                    <a:bodyPr/>
                    <a:lstStyle/>
                    <a:p>
                      <a:pPr algn="ctr">
                        <a:defRPr sz="1050" b="0">
                          <a:solidFill>
                            <a:srgbClr val="232624"/>
                          </a:solidFill>
                          <a:latin typeface="Aptos"/>
                        </a:defRPr>
                      </a:pPr>
                      <a:r>
                        <a:t>1.92</a:t>
                      </a:r>
                    </a:p>
                  </a:txBody>
                  <a:tcPr marL="18288" marR="18288" marT="9144" marB="9144">
                    <a:solidFill>
                      <a:srgbClr val="FFFFFC"/>
                    </a:solidFill>
                  </a:tcPr>
                </a:tc>
                <a:tc>
                  <a:txBody>
                    <a:bodyPr/>
                    <a:lstStyle/>
                    <a:p>
                      <a:pPr algn="ctr">
                        <a:defRPr sz="1050" b="1">
                          <a:solidFill>
                            <a:srgbClr val="232624"/>
                          </a:solidFill>
                          <a:latin typeface="Aptos"/>
                        </a:defRPr>
                      </a:pPr>
                      <a:r>
                        <a:t>2.94</a:t>
                      </a:r>
                    </a:p>
                  </a:txBody>
                  <a:tcPr marL="18288" marR="18288" marT="9144" marB="9144">
                    <a:solidFill>
                      <a:srgbClr val="DEEFB1"/>
                    </a:solidFill>
                  </a:tcPr>
                </a:tc>
                <a:tc>
                  <a:txBody>
                    <a:bodyPr/>
                    <a:lstStyle/>
                    <a:p>
                      <a:pPr algn="ctr">
                        <a:defRPr sz="1050" b="1">
                          <a:solidFill>
                            <a:srgbClr val="232624"/>
                          </a:solidFill>
                          <a:latin typeface="Aptos"/>
                        </a:defRPr>
                      </a:pPr>
                      <a:r>
                        <a:t>3.44</a:t>
                      </a:r>
                    </a:p>
                  </a:txBody>
                  <a:tcPr marL="18288" marR="18288" marT="9144" marB="9144">
                    <a:solidFill>
                      <a:srgbClr val="DEEFB1"/>
                    </a:solidFill>
                  </a:tcPr>
                </a:tc>
              </a:tr>
            </a:tbl>
          </a:graphicData>
        </a:graphic>
      </p:graphicFrame>
      <p:sp>
        <p:nvSpPr>
          <p:cNvPr id="8" name="TextBox 7"/>
          <p:cNvSpPr txBox="1"/>
          <p:nvPr/>
        </p:nvSpPr>
        <p:spPr>
          <a:xfrm>
            <a:off x="594360" y="3154680"/>
            <a:ext cx="11018520" cy="201168"/>
          </a:xfrm>
          <a:prstGeom prst="rect">
            <a:avLst/>
          </a:prstGeom>
          <a:noFill/>
        </p:spPr>
        <p:txBody>
          <a:bodyPr wrap="none">
            <a:spAutoFit/>
          </a:bodyPr>
          <a:lstStyle/>
          <a:p>
            <a:pPr>
              <a:defRPr sz="1150" b="1">
                <a:solidFill>
                  <a:srgbClr val="184E4B"/>
                </a:solidFill>
                <a:latin typeface="Aptos"/>
              </a:defRPr>
            </a:pPr>
            <a:r>
              <a:t>gpt-oss-medium</a:t>
            </a:r>
          </a:p>
        </p:txBody>
      </p:sp>
      <p:graphicFrame>
        <p:nvGraphicFramePr>
          <p:cNvPr id="9" name="Table 8"/>
          <p:cNvGraphicFramePr>
            <a:graphicFrameLocks noGrp="1"/>
          </p:cNvGraphicFramePr>
          <p:nvPr/>
        </p:nvGraphicFramePr>
        <p:xfrm>
          <a:off x="594360" y="3383280"/>
          <a:ext cx="11018520" cy="795528"/>
        </p:xfrm>
        <a:graphic>
          <a:graphicData uri="http://schemas.openxmlformats.org/drawingml/2006/table">
            <a:tbl>
              <a:tblPr firstRow="1" bandRow="1">
                <a:tableStyleId>{5C22544A-7EE6-4342-B048-85BDC9FD1C3A}</a:tableStyleId>
              </a:tblPr>
              <a:tblGrid>
                <a:gridCol w="2203704"/>
                <a:gridCol w="2203704"/>
                <a:gridCol w="2203704"/>
                <a:gridCol w="2203704"/>
                <a:gridCol w="2203704"/>
              </a:tblGrid>
              <a:tr h="159105">
                <a:tc>
                  <a:txBody>
                    <a:bodyPr/>
                    <a:lstStyle/>
                    <a:p>
                      <a:pPr algn="ctr">
                        <a:defRPr sz="1050" b="1">
                          <a:solidFill>
                            <a:srgbClr val="FFFFFF"/>
                          </a:solidFill>
                          <a:latin typeface="Aptos"/>
                        </a:defRPr>
                      </a:pPr>
                      <a:r>
                        <a:t>Setup</a:t>
                      </a:r>
                    </a:p>
                  </a:txBody>
                  <a:tcPr>
                    <a:solidFill>
                      <a:srgbClr val="25484C"/>
                    </a:solidFill>
                  </a:tcPr>
                </a:tc>
                <a:tc>
                  <a:txBody>
                    <a:bodyPr/>
                    <a:lstStyle/>
                    <a:p>
                      <a:pPr algn="ctr">
                        <a:defRPr sz="1050" b="1">
                          <a:solidFill>
                            <a:srgbClr val="FFFFFF"/>
                          </a:solidFill>
                          <a:latin typeface="Aptos"/>
                        </a:defRPr>
                      </a:pPr>
                      <a:r>
                        <a:t>E1</a:t>
                      </a:r>
                    </a:p>
                  </a:txBody>
                  <a:tcPr>
                    <a:solidFill>
                      <a:srgbClr val="25484C"/>
                    </a:solidFill>
                  </a:tcPr>
                </a:tc>
                <a:tc>
                  <a:txBody>
                    <a:bodyPr/>
                    <a:lstStyle/>
                    <a:p>
                      <a:pPr algn="ctr">
                        <a:defRPr sz="1050" b="1">
                          <a:solidFill>
                            <a:srgbClr val="FFFFFF"/>
                          </a:solidFill>
                          <a:latin typeface="Aptos"/>
                        </a:defRPr>
                      </a:pPr>
                      <a:r>
                        <a:t>E2</a:t>
                      </a:r>
                    </a:p>
                  </a:txBody>
                  <a:tcPr>
                    <a:solidFill>
                      <a:srgbClr val="25484C"/>
                    </a:solidFill>
                  </a:tcPr>
                </a:tc>
                <a:tc>
                  <a:txBody>
                    <a:bodyPr/>
                    <a:lstStyle/>
                    <a:p>
                      <a:pPr algn="ctr">
                        <a:defRPr sz="1050" b="1">
                          <a:solidFill>
                            <a:srgbClr val="FFFFFF"/>
                          </a:solidFill>
                          <a:latin typeface="Aptos"/>
                        </a:defRPr>
                      </a:pPr>
                      <a:r>
                        <a:t>E3-M</a:t>
                      </a:r>
                    </a:p>
                  </a:txBody>
                  <a:tcPr>
                    <a:solidFill>
                      <a:srgbClr val="25484C"/>
                    </a:solidFill>
                  </a:tcPr>
                </a:tc>
                <a:tc>
                  <a:txBody>
                    <a:bodyPr/>
                    <a:lstStyle/>
                    <a:p>
                      <a:pPr algn="ctr">
                        <a:defRPr sz="1050" b="1">
                          <a:solidFill>
                            <a:srgbClr val="FFFFFF"/>
                          </a:solidFill>
                          <a:latin typeface="Aptos"/>
                        </a:defRPr>
                      </a:pPr>
                      <a:r>
                        <a:t>E3-T</a:t>
                      </a:r>
                    </a:p>
                  </a:txBody>
                  <a:tcPr>
                    <a:solidFill>
                      <a:srgbClr val="25484C"/>
                    </a:solidFill>
                  </a:tcPr>
                </a:tc>
              </a:tr>
              <a:tr h="159105">
                <a:tc>
                  <a:txBody>
                    <a:bodyPr/>
                    <a:lstStyle/>
                    <a:p>
                      <a:pPr algn="l">
                        <a:defRPr sz="1050" b="1">
                          <a:solidFill>
                            <a:srgbClr val="232624"/>
                          </a:solidFill>
                          <a:latin typeface="Aptos"/>
                        </a:defRPr>
                      </a:pPr>
                      <a:r>
                        <a:t>A</a:t>
                      </a:r>
                    </a:p>
                  </a:txBody>
                  <a:tcPr marL="18288" marR="18288" marT="9144" marB="9144">
                    <a:solidFill>
                      <a:srgbClr val="FFFFFC"/>
                    </a:solidFill>
                  </a:tcPr>
                </a:tc>
                <a:tc>
                  <a:txBody>
                    <a:bodyPr/>
                    <a:lstStyle/>
                    <a:p>
                      <a:pPr algn="ctr">
                        <a:defRPr sz="1050" b="0">
                          <a:solidFill>
                            <a:srgbClr val="232624"/>
                          </a:solidFill>
                          <a:latin typeface="Aptos"/>
                        </a:defRPr>
                      </a:pPr>
                      <a:r>
                        <a:t>2.10</a:t>
                      </a:r>
                    </a:p>
                  </a:txBody>
                  <a:tcPr marL="18288" marR="18288" marT="9144" marB="9144">
                    <a:solidFill>
                      <a:srgbClr val="FFFFFC"/>
                    </a:solidFill>
                  </a:tcPr>
                </a:tc>
                <a:tc>
                  <a:txBody>
                    <a:bodyPr/>
                    <a:lstStyle/>
                    <a:p>
                      <a:pPr algn="ctr">
                        <a:defRPr sz="1050" b="0">
                          <a:solidFill>
                            <a:srgbClr val="232624"/>
                          </a:solidFill>
                          <a:latin typeface="Aptos"/>
                        </a:defRPr>
                      </a:pPr>
                      <a:r>
                        <a:t>1.83</a:t>
                      </a:r>
                    </a:p>
                  </a:txBody>
                  <a:tcPr marL="18288" marR="18288" marT="9144" marB="9144">
                    <a:solidFill>
                      <a:srgbClr val="FFFFFC"/>
                    </a:solidFill>
                  </a:tcPr>
                </a:tc>
                <a:tc>
                  <a:txBody>
                    <a:bodyPr/>
                    <a:lstStyle/>
                    <a:p>
                      <a:pPr algn="ctr">
                        <a:defRPr sz="1050" b="0">
                          <a:solidFill>
                            <a:srgbClr val="232624"/>
                          </a:solidFill>
                          <a:latin typeface="Aptos"/>
                        </a:defRPr>
                      </a:pPr>
                      <a:r>
                        <a:t>1.78</a:t>
                      </a:r>
                    </a:p>
                  </a:txBody>
                  <a:tcPr marL="18288" marR="18288" marT="9144" marB="9144">
                    <a:solidFill>
                      <a:srgbClr val="FFFFFC"/>
                    </a:solidFill>
                  </a:tcPr>
                </a:tc>
                <a:tc>
                  <a:txBody>
                    <a:bodyPr/>
                    <a:lstStyle/>
                    <a:p>
                      <a:pPr algn="ctr">
                        <a:defRPr sz="1050" b="0">
                          <a:solidFill>
                            <a:srgbClr val="232624"/>
                          </a:solidFill>
                          <a:latin typeface="Aptos"/>
                        </a:defRPr>
                      </a:pPr>
                      <a:r>
                        <a:t>2.22</a:t>
                      </a:r>
                    </a:p>
                  </a:txBody>
                  <a:tcPr marL="18288" marR="18288" marT="9144" marB="9144">
                    <a:solidFill>
                      <a:srgbClr val="FFFFFC"/>
                    </a:solidFill>
                  </a:tcPr>
                </a:tc>
              </a:tr>
              <a:tr h="159105">
                <a:tc>
                  <a:txBody>
                    <a:bodyPr/>
                    <a:lstStyle/>
                    <a:p>
                      <a:pPr algn="l">
                        <a:defRPr sz="1050" b="1">
                          <a:solidFill>
                            <a:srgbClr val="232624"/>
                          </a:solidFill>
                          <a:latin typeface="Aptos"/>
                        </a:defRPr>
                      </a:pPr>
                      <a:r>
                        <a:t>B-query</a:t>
                      </a:r>
                    </a:p>
                  </a:txBody>
                  <a:tcPr marL="18288" marR="18288" marT="9144" marB="9144">
                    <a:solidFill>
                      <a:srgbClr val="FFFFFC"/>
                    </a:solidFill>
                  </a:tcPr>
                </a:tc>
                <a:tc>
                  <a:txBody>
                    <a:bodyPr/>
                    <a:lstStyle/>
                    <a:p>
                      <a:pPr algn="ctr">
                        <a:defRPr sz="1050" b="0">
                          <a:solidFill>
                            <a:srgbClr val="232624"/>
                          </a:solidFill>
                          <a:latin typeface="Aptos"/>
                        </a:defRPr>
                      </a:pPr>
                      <a:r>
                        <a:t>1.74</a:t>
                      </a:r>
                    </a:p>
                  </a:txBody>
                  <a:tcPr marL="18288" marR="18288" marT="9144" marB="9144">
                    <a:solidFill>
                      <a:srgbClr val="FFFFFC"/>
                    </a:solidFill>
                  </a:tcPr>
                </a:tc>
                <a:tc>
                  <a:txBody>
                    <a:bodyPr/>
                    <a:lstStyle/>
                    <a:p>
                      <a:pPr algn="ctr">
                        <a:defRPr sz="1050" b="0">
                          <a:solidFill>
                            <a:srgbClr val="232624"/>
                          </a:solidFill>
                          <a:latin typeface="Aptos"/>
                        </a:defRPr>
                      </a:pPr>
                      <a:r>
                        <a:t>2.08</a:t>
                      </a:r>
                    </a:p>
                  </a:txBody>
                  <a:tcPr marL="18288" marR="18288" marT="9144" marB="9144">
                    <a:solidFill>
                      <a:srgbClr val="FFFFFC"/>
                    </a:solidFill>
                  </a:tcPr>
                </a:tc>
                <a:tc>
                  <a:txBody>
                    <a:bodyPr/>
                    <a:lstStyle/>
                    <a:p>
                      <a:pPr algn="ctr">
                        <a:defRPr sz="1050" b="0">
                          <a:solidFill>
                            <a:srgbClr val="232624"/>
                          </a:solidFill>
                          <a:latin typeface="Aptos"/>
                        </a:defRPr>
                      </a:pPr>
                      <a:r>
                        <a:t>1.22</a:t>
                      </a:r>
                    </a:p>
                  </a:txBody>
                  <a:tcPr marL="18288" marR="18288" marT="9144" marB="9144">
                    <a:solidFill>
                      <a:srgbClr val="FFFFFC"/>
                    </a:solidFill>
                  </a:tcPr>
                </a:tc>
                <a:tc>
                  <a:txBody>
                    <a:bodyPr/>
                    <a:lstStyle/>
                    <a:p>
                      <a:pPr algn="ctr">
                        <a:defRPr sz="1050" b="0">
                          <a:solidFill>
                            <a:srgbClr val="232624"/>
                          </a:solidFill>
                          <a:latin typeface="Aptos"/>
                        </a:defRPr>
                      </a:pPr>
                      <a:r>
                        <a:t>1.78</a:t>
                      </a:r>
                    </a:p>
                  </a:txBody>
                  <a:tcPr marL="18288" marR="18288" marT="9144" marB="9144">
                    <a:solidFill>
                      <a:srgbClr val="FFFFFC"/>
                    </a:solidFill>
                  </a:tcPr>
                </a:tc>
              </a:tr>
              <a:tr h="159105">
                <a:tc>
                  <a:txBody>
                    <a:bodyPr/>
                    <a:lstStyle/>
                    <a:p>
                      <a:pPr algn="l">
                        <a:defRPr sz="1050" b="1">
                          <a:solidFill>
                            <a:srgbClr val="232624"/>
                          </a:solidFill>
                          <a:latin typeface="Aptos"/>
                        </a:defRPr>
                      </a:pPr>
                      <a:r>
                        <a:t>B-resolved</a:t>
                      </a:r>
                    </a:p>
                  </a:txBody>
                  <a:tcPr marL="18288" marR="18288" marT="9144" marB="9144">
                    <a:solidFill>
                      <a:srgbClr val="FFFFFC"/>
                    </a:solidFill>
                  </a:tcPr>
                </a:tc>
                <a:tc>
                  <a:txBody>
                    <a:bodyPr/>
                    <a:lstStyle/>
                    <a:p>
                      <a:pPr algn="ctr">
                        <a:defRPr sz="1050" b="0">
                          <a:solidFill>
                            <a:srgbClr val="232624"/>
                          </a:solidFill>
                          <a:latin typeface="Aptos"/>
                        </a:defRPr>
                      </a:pPr>
                      <a:r>
                        <a:t>1.91</a:t>
                      </a:r>
                    </a:p>
                  </a:txBody>
                  <a:tcPr marL="18288" marR="18288" marT="9144" marB="9144">
                    <a:solidFill>
                      <a:srgbClr val="FFFFFC"/>
                    </a:solidFill>
                  </a:tcPr>
                </a:tc>
                <a:tc>
                  <a:txBody>
                    <a:bodyPr/>
                    <a:lstStyle/>
                    <a:p>
                      <a:pPr algn="ctr">
                        <a:defRPr sz="1050" b="1">
                          <a:solidFill>
                            <a:srgbClr val="232624"/>
                          </a:solidFill>
                          <a:latin typeface="Aptos"/>
                        </a:defRPr>
                      </a:pPr>
                      <a:r>
                        <a:t>2.11</a:t>
                      </a:r>
                    </a:p>
                  </a:txBody>
                  <a:tcPr marL="18288" marR="18288" marT="9144" marB="9144">
                    <a:solidFill>
                      <a:srgbClr val="DEEFB1"/>
                    </a:solidFill>
                  </a:tcPr>
                </a:tc>
                <a:tc>
                  <a:txBody>
                    <a:bodyPr/>
                    <a:lstStyle/>
                    <a:p>
                      <a:pPr algn="ctr">
                        <a:defRPr sz="1050" b="0">
                          <a:solidFill>
                            <a:srgbClr val="232624"/>
                          </a:solidFill>
                          <a:latin typeface="Aptos"/>
                        </a:defRPr>
                      </a:pPr>
                      <a:r>
                        <a:t>1.33</a:t>
                      </a:r>
                    </a:p>
                  </a:txBody>
                  <a:tcPr marL="18288" marR="18288" marT="9144" marB="9144">
                    <a:solidFill>
                      <a:srgbClr val="FFFFFC"/>
                    </a:solidFill>
                  </a:tcPr>
                </a:tc>
                <a:tc>
                  <a:txBody>
                    <a:bodyPr/>
                    <a:lstStyle/>
                    <a:p>
                      <a:pPr algn="ctr">
                        <a:defRPr sz="1050" b="0">
                          <a:solidFill>
                            <a:srgbClr val="232624"/>
                          </a:solidFill>
                          <a:latin typeface="Aptos"/>
                        </a:defRPr>
                      </a:pPr>
                      <a:r>
                        <a:t>1.83</a:t>
                      </a:r>
                    </a:p>
                  </a:txBody>
                  <a:tcPr marL="18288" marR="18288" marT="9144" marB="9144">
                    <a:solidFill>
                      <a:srgbClr val="FFFFFC"/>
                    </a:solidFill>
                  </a:tcPr>
                </a:tc>
              </a:tr>
              <a:tr h="159108">
                <a:tc>
                  <a:txBody>
                    <a:bodyPr/>
                    <a:lstStyle/>
                    <a:p>
                      <a:pPr algn="l">
                        <a:defRPr sz="1050" b="1">
                          <a:solidFill>
                            <a:srgbClr val="232624"/>
                          </a:solidFill>
                          <a:latin typeface="Aptos"/>
                        </a:defRPr>
                      </a:pPr>
                      <a:r>
                        <a:t>C</a:t>
                      </a:r>
                    </a:p>
                  </a:txBody>
                  <a:tcPr marL="18288" marR="18288" marT="9144" marB="9144">
                    <a:solidFill>
                      <a:srgbClr val="FFFFFC"/>
                    </a:solidFill>
                  </a:tcPr>
                </a:tc>
                <a:tc>
                  <a:txBody>
                    <a:bodyPr/>
                    <a:lstStyle/>
                    <a:p>
                      <a:pPr algn="ctr">
                        <a:defRPr sz="1050" b="1">
                          <a:solidFill>
                            <a:srgbClr val="232624"/>
                          </a:solidFill>
                          <a:latin typeface="Aptos"/>
                        </a:defRPr>
                      </a:pPr>
                      <a:r>
                        <a:t>2.61</a:t>
                      </a:r>
                    </a:p>
                  </a:txBody>
                  <a:tcPr marL="18288" marR="18288" marT="9144" marB="9144">
                    <a:solidFill>
                      <a:srgbClr val="DEEFB1"/>
                    </a:solidFill>
                  </a:tcPr>
                </a:tc>
                <a:tc>
                  <a:txBody>
                    <a:bodyPr/>
                    <a:lstStyle/>
                    <a:p>
                      <a:pPr algn="ctr">
                        <a:defRPr sz="1050" b="0">
                          <a:solidFill>
                            <a:srgbClr val="232624"/>
                          </a:solidFill>
                          <a:latin typeface="Aptos"/>
                        </a:defRPr>
                      </a:pPr>
                      <a:r>
                        <a:t>1.75</a:t>
                      </a:r>
                    </a:p>
                  </a:txBody>
                  <a:tcPr marL="18288" marR="18288" marT="9144" marB="9144">
                    <a:solidFill>
                      <a:srgbClr val="FFFFFC"/>
                    </a:solidFill>
                  </a:tcPr>
                </a:tc>
                <a:tc>
                  <a:txBody>
                    <a:bodyPr/>
                    <a:lstStyle/>
                    <a:p>
                      <a:pPr algn="ctr">
                        <a:defRPr sz="1050" b="1">
                          <a:solidFill>
                            <a:srgbClr val="232624"/>
                          </a:solidFill>
                          <a:latin typeface="Aptos"/>
                        </a:defRPr>
                      </a:pPr>
                      <a:r>
                        <a:t>3.11</a:t>
                      </a:r>
                    </a:p>
                  </a:txBody>
                  <a:tcPr marL="18288" marR="18288" marT="9144" marB="9144">
                    <a:solidFill>
                      <a:srgbClr val="DEEFB1"/>
                    </a:solidFill>
                  </a:tcPr>
                </a:tc>
                <a:tc>
                  <a:txBody>
                    <a:bodyPr/>
                    <a:lstStyle/>
                    <a:p>
                      <a:pPr algn="ctr">
                        <a:defRPr sz="1050" b="1">
                          <a:solidFill>
                            <a:srgbClr val="232624"/>
                          </a:solidFill>
                          <a:latin typeface="Aptos"/>
                        </a:defRPr>
                      </a:pPr>
                      <a:r>
                        <a:t>3.50</a:t>
                      </a:r>
                    </a:p>
                  </a:txBody>
                  <a:tcPr marL="18288" marR="18288" marT="9144" marB="9144">
                    <a:solidFill>
                      <a:srgbClr val="DEEFB1"/>
                    </a:solidFill>
                  </a:tcPr>
                </a:tc>
              </a:tr>
            </a:tbl>
          </a:graphicData>
        </a:graphic>
      </p:graphicFrame>
      <p:sp>
        <p:nvSpPr>
          <p:cNvPr id="10" name="TextBox 9"/>
          <p:cNvSpPr txBox="1"/>
          <p:nvPr/>
        </p:nvSpPr>
        <p:spPr>
          <a:xfrm>
            <a:off x="594360" y="4251960"/>
            <a:ext cx="11018520" cy="201168"/>
          </a:xfrm>
          <a:prstGeom prst="rect">
            <a:avLst/>
          </a:prstGeom>
          <a:noFill/>
        </p:spPr>
        <p:txBody>
          <a:bodyPr wrap="none">
            <a:spAutoFit/>
          </a:bodyPr>
          <a:lstStyle/>
          <a:p>
            <a:pPr>
              <a:defRPr sz="1150" b="1">
                <a:solidFill>
                  <a:srgbClr val="184E4B"/>
                </a:solidFill>
                <a:latin typeface="Aptos"/>
              </a:defRPr>
            </a:pPr>
            <a:r>
              <a:t>qwen3-32B non-reasoning</a:t>
            </a:r>
          </a:p>
        </p:txBody>
      </p:sp>
      <p:graphicFrame>
        <p:nvGraphicFramePr>
          <p:cNvPr id="11" name="Table 10"/>
          <p:cNvGraphicFramePr>
            <a:graphicFrameLocks noGrp="1"/>
          </p:cNvGraphicFramePr>
          <p:nvPr/>
        </p:nvGraphicFramePr>
        <p:xfrm>
          <a:off x="594360" y="4480560"/>
          <a:ext cx="11018520" cy="795528"/>
        </p:xfrm>
        <a:graphic>
          <a:graphicData uri="http://schemas.openxmlformats.org/drawingml/2006/table">
            <a:tbl>
              <a:tblPr firstRow="1" bandRow="1">
                <a:tableStyleId>{5C22544A-7EE6-4342-B048-85BDC9FD1C3A}</a:tableStyleId>
              </a:tblPr>
              <a:tblGrid>
                <a:gridCol w="2203704"/>
                <a:gridCol w="2203704"/>
                <a:gridCol w="2203704"/>
                <a:gridCol w="2203704"/>
                <a:gridCol w="2203704"/>
              </a:tblGrid>
              <a:tr h="159105">
                <a:tc>
                  <a:txBody>
                    <a:bodyPr/>
                    <a:lstStyle/>
                    <a:p>
                      <a:pPr algn="ctr">
                        <a:defRPr sz="1050" b="1">
                          <a:solidFill>
                            <a:srgbClr val="FFFFFF"/>
                          </a:solidFill>
                          <a:latin typeface="Aptos"/>
                        </a:defRPr>
                      </a:pPr>
                      <a:r>
                        <a:t>Setup</a:t>
                      </a:r>
                    </a:p>
                  </a:txBody>
                  <a:tcPr>
                    <a:solidFill>
                      <a:srgbClr val="25484C"/>
                    </a:solidFill>
                  </a:tcPr>
                </a:tc>
                <a:tc>
                  <a:txBody>
                    <a:bodyPr/>
                    <a:lstStyle/>
                    <a:p>
                      <a:pPr algn="ctr">
                        <a:defRPr sz="1050" b="1">
                          <a:solidFill>
                            <a:srgbClr val="FFFFFF"/>
                          </a:solidFill>
                          <a:latin typeface="Aptos"/>
                        </a:defRPr>
                      </a:pPr>
                      <a:r>
                        <a:t>E1</a:t>
                      </a:r>
                    </a:p>
                  </a:txBody>
                  <a:tcPr>
                    <a:solidFill>
                      <a:srgbClr val="25484C"/>
                    </a:solidFill>
                  </a:tcPr>
                </a:tc>
                <a:tc>
                  <a:txBody>
                    <a:bodyPr/>
                    <a:lstStyle/>
                    <a:p>
                      <a:pPr algn="ctr">
                        <a:defRPr sz="1050" b="1">
                          <a:solidFill>
                            <a:srgbClr val="FFFFFF"/>
                          </a:solidFill>
                          <a:latin typeface="Aptos"/>
                        </a:defRPr>
                      </a:pPr>
                      <a:r>
                        <a:t>E2</a:t>
                      </a:r>
                    </a:p>
                  </a:txBody>
                  <a:tcPr>
                    <a:solidFill>
                      <a:srgbClr val="25484C"/>
                    </a:solidFill>
                  </a:tcPr>
                </a:tc>
                <a:tc>
                  <a:txBody>
                    <a:bodyPr/>
                    <a:lstStyle/>
                    <a:p>
                      <a:pPr algn="ctr">
                        <a:defRPr sz="1050" b="1">
                          <a:solidFill>
                            <a:srgbClr val="FFFFFF"/>
                          </a:solidFill>
                          <a:latin typeface="Aptos"/>
                        </a:defRPr>
                      </a:pPr>
                      <a:r>
                        <a:t>E3-M</a:t>
                      </a:r>
                    </a:p>
                  </a:txBody>
                  <a:tcPr>
                    <a:solidFill>
                      <a:srgbClr val="25484C"/>
                    </a:solidFill>
                  </a:tcPr>
                </a:tc>
                <a:tc>
                  <a:txBody>
                    <a:bodyPr/>
                    <a:lstStyle/>
                    <a:p>
                      <a:pPr algn="ctr">
                        <a:defRPr sz="1050" b="1">
                          <a:solidFill>
                            <a:srgbClr val="FFFFFF"/>
                          </a:solidFill>
                          <a:latin typeface="Aptos"/>
                        </a:defRPr>
                      </a:pPr>
                      <a:r>
                        <a:t>E3-T</a:t>
                      </a:r>
                    </a:p>
                  </a:txBody>
                  <a:tcPr>
                    <a:solidFill>
                      <a:srgbClr val="25484C"/>
                    </a:solidFill>
                  </a:tcPr>
                </a:tc>
              </a:tr>
              <a:tr h="159105">
                <a:tc>
                  <a:txBody>
                    <a:bodyPr/>
                    <a:lstStyle/>
                    <a:p>
                      <a:pPr algn="l">
                        <a:defRPr sz="1050" b="1">
                          <a:solidFill>
                            <a:srgbClr val="232624"/>
                          </a:solidFill>
                          <a:latin typeface="Aptos"/>
                        </a:defRPr>
                      </a:pPr>
                      <a:r>
                        <a:t>A</a:t>
                      </a:r>
                    </a:p>
                  </a:txBody>
                  <a:tcPr marL="18288" marR="18288" marT="9144" marB="9144">
                    <a:solidFill>
                      <a:srgbClr val="FFFFFC"/>
                    </a:solidFill>
                  </a:tcPr>
                </a:tc>
                <a:tc>
                  <a:txBody>
                    <a:bodyPr/>
                    <a:lstStyle/>
                    <a:p>
                      <a:pPr algn="ctr">
                        <a:defRPr sz="1050" b="0">
                          <a:solidFill>
                            <a:srgbClr val="232624"/>
                          </a:solidFill>
                          <a:latin typeface="Aptos"/>
                        </a:defRPr>
                      </a:pPr>
                      <a:r>
                        <a:t>1.52</a:t>
                      </a:r>
                    </a:p>
                  </a:txBody>
                  <a:tcPr marL="18288" marR="18288" marT="9144" marB="9144">
                    <a:solidFill>
                      <a:srgbClr val="FFFFFC"/>
                    </a:solidFill>
                  </a:tcPr>
                </a:tc>
                <a:tc>
                  <a:txBody>
                    <a:bodyPr/>
                    <a:lstStyle/>
                    <a:p>
                      <a:pPr algn="ctr">
                        <a:defRPr sz="1050" b="0">
                          <a:solidFill>
                            <a:srgbClr val="232624"/>
                          </a:solidFill>
                          <a:latin typeface="Aptos"/>
                        </a:defRPr>
                      </a:pPr>
                      <a:r>
                        <a:t>1.44</a:t>
                      </a:r>
                    </a:p>
                  </a:txBody>
                  <a:tcPr marL="18288" marR="18288" marT="9144" marB="9144">
                    <a:solidFill>
                      <a:srgbClr val="FFFFFC"/>
                    </a:solidFill>
                  </a:tcPr>
                </a:tc>
                <a:tc>
                  <a:txBody>
                    <a:bodyPr/>
                    <a:lstStyle/>
                    <a:p>
                      <a:pPr algn="ctr">
                        <a:defRPr sz="1050" b="1">
                          <a:solidFill>
                            <a:srgbClr val="232624"/>
                          </a:solidFill>
                          <a:latin typeface="Aptos"/>
                        </a:defRPr>
                      </a:pPr>
                      <a:r>
                        <a:t>2.89</a:t>
                      </a:r>
                    </a:p>
                  </a:txBody>
                  <a:tcPr marL="18288" marR="18288" marT="9144" marB="9144">
                    <a:solidFill>
                      <a:srgbClr val="DEEFB1"/>
                    </a:solidFill>
                  </a:tcPr>
                </a:tc>
                <a:tc>
                  <a:txBody>
                    <a:bodyPr/>
                    <a:lstStyle/>
                    <a:p>
                      <a:pPr algn="ctr">
                        <a:defRPr sz="1050" b="1">
                          <a:solidFill>
                            <a:srgbClr val="232624"/>
                          </a:solidFill>
                          <a:latin typeface="Aptos"/>
                        </a:defRPr>
                      </a:pPr>
                      <a:r>
                        <a:t>3.61</a:t>
                      </a:r>
                    </a:p>
                  </a:txBody>
                  <a:tcPr marL="18288" marR="18288" marT="9144" marB="9144">
                    <a:solidFill>
                      <a:srgbClr val="DEEFB1"/>
                    </a:solidFill>
                  </a:tcPr>
                </a:tc>
              </a:tr>
              <a:tr h="159105">
                <a:tc>
                  <a:txBody>
                    <a:bodyPr/>
                    <a:lstStyle/>
                    <a:p>
                      <a:pPr algn="l">
                        <a:defRPr sz="1050" b="1">
                          <a:solidFill>
                            <a:srgbClr val="232624"/>
                          </a:solidFill>
                          <a:latin typeface="Aptos"/>
                        </a:defRPr>
                      </a:pPr>
                      <a:r>
                        <a:t>B-query</a:t>
                      </a:r>
                    </a:p>
                  </a:txBody>
                  <a:tcPr marL="18288" marR="18288" marT="9144" marB="9144">
                    <a:solidFill>
                      <a:srgbClr val="FFFFFC"/>
                    </a:solidFill>
                  </a:tcPr>
                </a:tc>
                <a:tc>
                  <a:txBody>
                    <a:bodyPr/>
                    <a:lstStyle/>
                    <a:p>
                      <a:pPr algn="ctr">
                        <a:defRPr sz="1050" b="0">
                          <a:solidFill>
                            <a:srgbClr val="232624"/>
                          </a:solidFill>
                          <a:latin typeface="Aptos"/>
                        </a:defRPr>
                      </a:pPr>
                      <a:r>
                        <a:t>1.69</a:t>
                      </a:r>
                    </a:p>
                  </a:txBody>
                  <a:tcPr marL="18288" marR="18288" marT="9144" marB="9144">
                    <a:solidFill>
                      <a:srgbClr val="FFFFFC"/>
                    </a:solidFill>
                  </a:tcPr>
                </a:tc>
                <a:tc>
                  <a:txBody>
                    <a:bodyPr/>
                    <a:lstStyle/>
                    <a:p>
                      <a:pPr algn="ctr">
                        <a:defRPr sz="1050" b="0">
                          <a:solidFill>
                            <a:srgbClr val="232624"/>
                          </a:solidFill>
                          <a:latin typeface="Aptos"/>
                        </a:defRPr>
                      </a:pPr>
                      <a:r>
                        <a:t>0.89</a:t>
                      </a:r>
                    </a:p>
                  </a:txBody>
                  <a:tcPr marL="18288" marR="18288" marT="9144" marB="9144">
                    <a:solidFill>
                      <a:srgbClr val="FFFFFC"/>
                    </a:solidFill>
                  </a:tcPr>
                </a:tc>
                <a:tc>
                  <a:txBody>
                    <a:bodyPr/>
                    <a:lstStyle/>
                    <a:p>
                      <a:pPr algn="ctr">
                        <a:defRPr sz="1050" b="0">
                          <a:solidFill>
                            <a:srgbClr val="232624"/>
                          </a:solidFill>
                          <a:latin typeface="Aptos"/>
                        </a:defRPr>
                      </a:pPr>
                      <a:r>
                        <a:t>1.56</a:t>
                      </a:r>
                    </a:p>
                  </a:txBody>
                  <a:tcPr marL="18288" marR="18288" marT="9144" marB="9144">
                    <a:solidFill>
                      <a:srgbClr val="FFFFFC"/>
                    </a:solidFill>
                  </a:tcPr>
                </a:tc>
                <a:tc>
                  <a:txBody>
                    <a:bodyPr/>
                    <a:lstStyle/>
                    <a:p>
                      <a:pPr algn="ctr">
                        <a:defRPr sz="1050" b="0">
                          <a:solidFill>
                            <a:srgbClr val="232624"/>
                          </a:solidFill>
                          <a:latin typeface="Aptos"/>
                        </a:defRPr>
                      </a:pPr>
                      <a:r>
                        <a:t>2.06</a:t>
                      </a:r>
                    </a:p>
                  </a:txBody>
                  <a:tcPr marL="18288" marR="18288" marT="9144" marB="9144">
                    <a:solidFill>
                      <a:srgbClr val="FFFFFC"/>
                    </a:solidFill>
                  </a:tcPr>
                </a:tc>
              </a:tr>
              <a:tr h="159105">
                <a:tc>
                  <a:txBody>
                    <a:bodyPr/>
                    <a:lstStyle/>
                    <a:p>
                      <a:pPr algn="l">
                        <a:defRPr sz="1050" b="1">
                          <a:solidFill>
                            <a:srgbClr val="232624"/>
                          </a:solidFill>
                          <a:latin typeface="Aptos"/>
                        </a:defRPr>
                      </a:pPr>
                      <a:r>
                        <a:t>B-resolved</a:t>
                      </a:r>
                    </a:p>
                  </a:txBody>
                  <a:tcPr marL="18288" marR="18288" marT="9144" marB="9144">
                    <a:solidFill>
                      <a:srgbClr val="FFFFFC"/>
                    </a:solidFill>
                  </a:tcPr>
                </a:tc>
                <a:tc>
                  <a:txBody>
                    <a:bodyPr/>
                    <a:lstStyle/>
                    <a:p>
                      <a:pPr algn="ctr">
                        <a:defRPr sz="1050" b="0">
                          <a:solidFill>
                            <a:srgbClr val="232624"/>
                          </a:solidFill>
                          <a:latin typeface="Aptos"/>
                        </a:defRPr>
                      </a:pPr>
                      <a:r>
                        <a:t>1.39</a:t>
                      </a:r>
                    </a:p>
                  </a:txBody>
                  <a:tcPr marL="18288" marR="18288" marT="9144" marB="9144">
                    <a:solidFill>
                      <a:srgbClr val="FFFFFC"/>
                    </a:solidFill>
                  </a:tcPr>
                </a:tc>
                <a:tc>
                  <a:txBody>
                    <a:bodyPr/>
                    <a:lstStyle/>
                    <a:p>
                      <a:pPr algn="ctr">
                        <a:defRPr sz="1050" b="1">
                          <a:solidFill>
                            <a:srgbClr val="232624"/>
                          </a:solidFill>
                          <a:latin typeface="Aptos"/>
                        </a:defRPr>
                      </a:pPr>
                      <a:r>
                        <a:t>1.50</a:t>
                      </a:r>
                    </a:p>
                  </a:txBody>
                  <a:tcPr marL="18288" marR="18288" marT="9144" marB="9144">
                    <a:solidFill>
                      <a:srgbClr val="DEEFB1"/>
                    </a:solidFill>
                  </a:tcPr>
                </a:tc>
                <a:tc>
                  <a:txBody>
                    <a:bodyPr/>
                    <a:lstStyle/>
                    <a:p>
                      <a:pPr algn="ctr">
                        <a:defRPr sz="1050" b="0">
                          <a:solidFill>
                            <a:srgbClr val="232624"/>
                          </a:solidFill>
                          <a:latin typeface="Aptos"/>
                        </a:defRPr>
                      </a:pPr>
                      <a:r>
                        <a:t>2.06</a:t>
                      </a:r>
                    </a:p>
                  </a:txBody>
                  <a:tcPr marL="18288" marR="18288" marT="9144" marB="9144">
                    <a:solidFill>
                      <a:srgbClr val="FFFFFC"/>
                    </a:solidFill>
                  </a:tcPr>
                </a:tc>
                <a:tc>
                  <a:txBody>
                    <a:bodyPr/>
                    <a:lstStyle/>
                    <a:p>
                      <a:pPr algn="ctr">
                        <a:defRPr sz="1050" b="0">
                          <a:solidFill>
                            <a:srgbClr val="232624"/>
                          </a:solidFill>
                          <a:latin typeface="Aptos"/>
                        </a:defRPr>
                      </a:pPr>
                      <a:r>
                        <a:t>3.00</a:t>
                      </a:r>
                    </a:p>
                  </a:txBody>
                  <a:tcPr marL="18288" marR="18288" marT="9144" marB="9144">
                    <a:solidFill>
                      <a:srgbClr val="FFFFFC"/>
                    </a:solidFill>
                  </a:tcPr>
                </a:tc>
              </a:tr>
              <a:tr h="159108">
                <a:tc>
                  <a:txBody>
                    <a:bodyPr/>
                    <a:lstStyle/>
                    <a:p>
                      <a:pPr algn="l">
                        <a:defRPr sz="1050" b="1">
                          <a:solidFill>
                            <a:srgbClr val="232624"/>
                          </a:solidFill>
                          <a:latin typeface="Aptos"/>
                        </a:defRPr>
                      </a:pPr>
                      <a:r>
                        <a:t>C</a:t>
                      </a:r>
                    </a:p>
                  </a:txBody>
                  <a:tcPr marL="18288" marR="18288" marT="9144" marB="9144">
                    <a:solidFill>
                      <a:srgbClr val="FFFFFC"/>
                    </a:solidFill>
                  </a:tcPr>
                </a:tc>
                <a:tc>
                  <a:txBody>
                    <a:bodyPr/>
                    <a:lstStyle/>
                    <a:p>
                      <a:pPr algn="ctr">
                        <a:defRPr sz="1050" b="1">
                          <a:solidFill>
                            <a:srgbClr val="232624"/>
                          </a:solidFill>
                          <a:latin typeface="Aptos"/>
                        </a:defRPr>
                      </a:pPr>
                      <a:r>
                        <a:t>2.48</a:t>
                      </a:r>
                    </a:p>
                  </a:txBody>
                  <a:tcPr marL="18288" marR="18288" marT="9144" marB="9144">
                    <a:solidFill>
                      <a:srgbClr val="DEEFB1"/>
                    </a:solidFill>
                  </a:tcPr>
                </a:tc>
                <a:tc>
                  <a:txBody>
                    <a:bodyPr/>
                    <a:lstStyle/>
                    <a:p>
                      <a:pPr algn="ctr">
                        <a:defRPr sz="1050" b="0">
                          <a:solidFill>
                            <a:srgbClr val="232624"/>
                          </a:solidFill>
                          <a:latin typeface="Aptos"/>
                        </a:defRPr>
                      </a:pPr>
                      <a:r>
                        <a:t>1.20</a:t>
                      </a:r>
                    </a:p>
                  </a:txBody>
                  <a:tcPr marL="18288" marR="18288" marT="9144" marB="9144">
                    <a:solidFill>
                      <a:srgbClr val="FFFFFC"/>
                    </a:solidFill>
                  </a:tcPr>
                </a:tc>
                <a:tc>
                  <a:txBody>
                    <a:bodyPr/>
                    <a:lstStyle/>
                    <a:p>
                      <a:pPr algn="ctr">
                        <a:defRPr sz="1050" b="0">
                          <a:solidFill>
                            <a:srgbClr val="232624"/>
                          </a:solidFill>
                          <a:latin typeface="Aptos"/>
                        </a:defRPr>
                      </a:pPr>
                      <a:r>
                        <a:t>2.39</a:t>
                      </a:r>
                    </a:p>
                  </a:txBody>
                  <a:tcPr marL="18288" marR="18288" marT="9144" marB="9144">
                    <a:solidFill>
                      <a:srgbClr val="FFFFFC"/>
                    </a:solidFill>
                  </a:tcPr>
                </a:tc>
                <a:tc>
                  <a:txBody>
                    <a:bodyPr/>
                    <a:lstStyle/>
                    <a:p>
                      <a:pPr algn="ctr">
                        <a:defRPr sz="1050" b="0">
                          <a:solidFill>
                            <a:srgbClr val="232624"/>
                          </a:solidFill>
                          <a:latin typeface="Aptos"/>
                        </a:defRPr>
                      </a:pPr>
                      <a:r>
                        <a:t>3.17</a:t>
                      </a:r>
                    </a:p>
                  </a:txBody>
                  <a:tcPr marL="18288" marR="18288" marT="9144" marB="9144">
                    <a:solidFill>
                      <a:srgbClr val="FFFFFC"/>
                    </a:solidFill>
                  </a:tcPr>
                </a:tc>
              </a:tr>
            </a:tbl>
          </a:graphicData>
        </a:graphic>
      </p:graphicFrame>
      <p:sp>
        <p:nvSpPr>
          <p:cNvPr id="12" name="TextBox 11"/>
          <p:cNvSpPr txBox="1"/>
          <p:nvPr/>
        </p:nvSpPr>
        <p:spPr>
          <a:xfrm>
            <a:off x="594360" y="5349240"/>
            <a:ext cx="11018520" cy="201168"/>
          </a:xfrm>
          <a:prstGeom prst="rect">
            <a:avLst/>
          </a:prstGeom>
          <a:noFill/>
        </p:spPr>
        <p:txBody>
          <a:bodyPr wrap="none">
            <a:spAutoFit/>
          </a:bodyPr>
          <a:lstStyle/>
          <a:p>
            <a:pPr>
              <a:defRPr sz="1150" b="1">
                <a:solidFill>
                  <a:srgbClr val="184E4B"/>
                </a:solidFill>
                <a:latin typeface="Aptos"/>
              </a:defRPr>
            </a:pPr>
            <a:r>
              <a:t>llama3-70B</a:t>
            </a:r>
          </a:p>
        </p:txBody>
      </p:sp>
      <p:graphicFrame>
        <p:nvGraphicFramePr>
          <p:cNvPr id="13" name="Table 12"/>
          <p:cNvGraphicFramePr>
            <a:graphicFrameLocks noGrp="1"/>
          </p:cNvGraphicFramePr>
          <p:nvPr/>
        </p:nvGraphicFramePr>
        <p:xfrm>
          <a:off x="594360" y="5577840"/>
          <a:ext cx="11018520" cy="795528"/>
        </p:xfrm>
        <a:graphic>
          <a:graphicData uri="http://schemas.openxmlformats.org/drawingml/2006/table">
            <a:tbl>
              <a:tblPr firstRow="1" bandRow="1">
                <a:tableStyleId>{5C22544A-7EE6-4342-B048-85BDC9FD1C3A}</a:tableStyleId>
              </a:tblPr>
              <a:tblGrid>
                <a:gridCol w="2203704"/>
                <a:gridCol w="2203704"/>
                <a:gridCol w="2203704"/>
                <a:gridCol w="2203704"/>
                <a:gridCol w="2203704"/>
              </a:tblGrid>
              <a:tr h="159105">
                <a:tc>
                  <a:txBody>
                    <a:bodyPr/>
                    <a:lstStyle/>
                    <a:p>
                      <a:pPr algn="ctr">
                        <a:defRPr sz="1050" b="1">
                          <a:solidFill>
                            <a:srgbClr val="FFFFFF"/>
                          </a:solidFill>
                          <a:latin typeface="Aptos"/>
                        </a:defRPr>
                      </a:pPr>
                      <a:r>
                        <a:t>Setup</a:t>
                      </a:r>
                    </a:p>
                  </a:txBody>
                  <a:tcPr>
                    <a:solidFill>
                      <a:srgbClr val="25484C"/>
                    </a:solidFill>
                  </a:tcPr>
                </a:tc>
                <a:tc>
                  <a:txBody>
                    <a:bodyPr/>
                    <a:lstStyle/>
                    <a:p>
                      <a:pPr algn="ctr">
                        <a:defRPr sz="1050" b="1">
                          <a:solidFill>
                            <a:srgbClr val="FFFFFF"/>
                          </a:solidFill>
                          <a:latin typeface="Aptos"/>
                        </a:defRPr>
                      </a:pPr>
                      <a:r>
                        <a:t>E1</a:t>
                      </a:r>
                    </a:p>
                  </a:txBody>
                  <a:tcPr>
                    <a:solidFill>
                      <a:srgbClr val="25484C"/>
                    </a:solidFill>
                  </a:tcPr>
                </a:tc>
                <a:tc>
                  <a:txBody>
                    <a:bodyPr/>
                    <a:lstStyle/>
                    <a:p>
                      <a:pPr algn="ctr">
                        <a:defRPr sz="1050" b="1">
                          <a:solidFill>
                            <a:srgbClr val="FFFFFF"/>
                          </a:solidFill>
                          <a:latin typeface="Aptos"/>
                        </a:defRPr>
                      </a:pPr>
                      <a:r>
                        <a:t>E2</a:t>
                      </a:r>
                    </a:p>
                  </a:txBody>
                  <a:tcPr>
                    <a:solidFill>
                      <a:srgbClr val="25484C"/>
                    </a:solidFill>
                  </a:tcPr>
                </a:tc>
                <a:tc>
                  <a:txBody>
                    <a:bodyPr/>
                    <a:lstStyle/>
                    <a:p>
                      <a:pPr algn="ctr">
                        <a:defRPr sz="1050" b="1">
                          <a:solidFill>
                            <a:srgbClr val="FFFFFF"/>
                          </a:solidFill>
                          <a:latin typeface="Aptos"/>
                        </a:defRPr>
                      </a:pPr>
                      <a:r>
                        <a:t>E3-M</a:t>
                      </a:r>
                    </a:p>
                  </a:txBody>
                  <a:tcPr>
                    <a:solidFill>
                      <a:srgbClr val="25484C"/>
                    </a:solidFill>
                  </a:tcPr>
                </a:tc>
                <a:tc>
                  <a:txBody>
                    <a:bodyPr/>
                    <a:lstStyle/>
                    <a:p>
                      <a:pPr algn="ctr">
                        <a:defRPr sz="1050" b="1">
                          <a:solidFill>
                            <a:srgbClr val="FFFFFF"/>
                          </a:solidFill>
                          <a:latin typeface="Aptos"/>
                        </a:defRPr>
                      </a:pPr>
                      <a:r>
                        <a:t>E3-T</a:t>
                      </a:r>
                    </a:p>
                  </a:txBody>
                  <a:tcPr>
                    <a:solidFill>
                      <a:srgbClr val="25484C"/>
                    </a:solidFill>
                  </a:tcPr>
                </a:tc>
              </a:tr>
              <a:tr h="159105">
                <a:tc>
                  <a:txBody>
                    <a:bodyPr/>
                    <a:lstStyle/>
                    <a:p>
                      <a:pPr algn="l">
                        <a:defRPr sz="1050" b="1">
                          <a:solidFill>
                            <a:srgbClr val="232624"/>
                          </a:solidFill>
                          <a:latin typeface="Aptos"/>
                        </a:defRPr>
                      </a:pPr>
                      <a:r>
                        <a:t>A</a:t>
                      </a:r>
                    </a:p>
                  </a:txBody>
                  <a:tcPr marL="18288" marR="18288" marT="9144" marB="9144">
                    <a:solidFill>
                      <a:srgbClr val="FFFFFC"/>
                    </a:solidFill>
                  </a:tcPr>
                </a:tc>
                <a:tc>
                  <a:txBody>
                    <a:bodyPr/>
                    <a:lstStyle/>
                    <a:p>
                      <a:pPr algn="ctr">
                        <a:defRPr sz="1050" b="0">
                          <a:solidFill>
                            <a:srgbClr val="232624"/>
                          </a:solidFill>
                          <a:latin typeface="Aptos"/>
                        </a:defRPr>
                      </a:pPr>
                      <a:r>
                        <a:t>1.54</a:t>
                      </a:r>
                    </a:p>
                  </a:txBody>
                  <a:tcPr marL="18288" marR="18288" marT="9144" marB="9144">
                    <a:solidFill>
                      <a:srgbClr val="FFFFFC"/>
                    </a:solidFill>
                  </a:tcPr>
                </a:tc>
                <a:tc>
                  <a:txBody>
                    <a:bodyPr/>
                    <a:lstStyle/>
                    <a:p>
                      <a:pPr algn="ctr">
                        <a:defRPr sz="1050" b="1">
                          <a:solidFill>
                            <a:srgbClr val="232624"/>
                          </a:solidFill>
                          <a:latin typeface="Aptos"/>
                        </a:defRPr>
                      </a:pPr>
                      <a:r>
                        <a:t>1.61</a:t>
                      </a:r>
                    </a:p>
                  </a:txBody>
                  <a:tcPr marL="18288" marR="18288" marT="9144" marB="9144">
                    <a:solidFill>
                      <a:srgbClr val="DEEFB1"/>
                    </a:solidFill>
                  </a:tcPr>
                </a:tc>
                <a:tc>
                  <a:txBody>
                    <a:bodyPr/>
                    <a:lstStyle/>
                    <a:p>
                      <a:pPr algn="ctr">
                        <a:defRPr sz="1050" b="1">
                          <a:solidFill>
                            <a:srgbClr val="232624"/>
                          </a:solidFill>
                          <a:latin typeface="Aptos"/>
                        </a:defRPr>
                      </a:pPr>
                      <a:r>
                        <a:t>2.17</a:t>
                      </a:r>
                    </a:p>
                  </a:txBody>
                  <a:tcPr marL="18288" marR="18288" marT="9144" marB="9144">
                    <a:solidFill>
                      <a:srgbClr val="DEEFB1"/>
                    </a:solidFill>
                  </a:tcPr>
                </a:tc>
                <a:tc>
                  <a:txBody>
                    <a:bodyPr/>
                    <a:lstStyle/>
                    <a:p>
                      <a:pPr algn="ctr">
                        <a:defRPr sz="1050" b="1">
                          <a:solidFill>
                            <a:srgbClr val="232624"/>
                          </a:solidFill>
                          <a:latin typeface="Aptos"/>
                        </a:defRPr>
                      </a:pPr>
                      <a:r>
                        <a:t>3.22</a:t>
                      </a:r>
                    </a:p>
                  </a:txBody>
                  <a:tcPr marL="18288" marR="18288" marT="9144" marB="9144">
                    <a:solidFill>
                      <a:srgbClr val="DEEFB1"/>
                    </a:solidFill>
                  </a:tcPr>
                </a:tc>
              </a:tr>
              <a:tr h="159105">
                <a:tc>
                  <a:txBody>
                    <a:bodyPr/>
                    <a:lstStyle/>
                    <a:p>
                      <a:pPr algn="l">
                        <a:defRPr sz="1050" b="1">
                          <a:solidFill>
                            <a:srgbClr val="232624"/>
                          </a:solidFill>
                          <a:latin typeface="Aptos"/>
                        </a:defRPr>
                      </a:pPr>
                      <a:r>
                        <a:t>B-query</a:t>
                      </a:r>
                    </a:p>
                  </a:txBody>
                  <a:tcPr marL="18288" marR="18288" marT="9144" marB="9144">
                    <a:solidFill>
                      <a:srgbClr val="FFFFFC"/>
                    </a:solidFill>
                  </a:tcPr>
                </a:tc>
                <a:tc>
                  <a:txBody>
                    <a:bodyPr/>
                    <a:lstStyle/>
                    <a:p>
                      <a:pPr algn="ctr">
                        <a:defRPr sz="1050" b="0">
                          <a:solidFill>
                            <a:srgbClr val="232624"/>
                          </a:solidFill>
                          <a:latin typeface="Aptos"/>
                        </a:defRPr>
                      </a:pPr>
                      <a:r>
                        <a:t>1.15</a:t>
                      </a:r>
                    </a:p>
                  </a:txBody>
                  <a:tcPr marL="18288" marR="18288" marT="9144" marB="9144">
                    <a:solidFill>
                      <a:srgbClr val="FFFFFC"/>
                    </a:solidFill>
                  </a:tcPr>
                </a:tc>
                <a:tc>
                  <a:txBody>
                    <a:bodyPr/>
                    <a:lstStyle/>
                    <a:p>
                      <a:pPr algn="ctr">
                        <a:defRPr sz="1050" b="0">
                          <a:solidFill>
                            <a:srgbClr val="232624"/>
                          </a:solidFill>
                          <a:latin typeface="Aptos"/>
                        </a:defRPr>
                      </a:pPr>
                      <a:r>
                        <a:t>0.75</a:t>
                      </a:r>
                    </a:p>
                  </a:txBody>
                  <a:tcPr marL="18288" marR="18288" marT="9144" marB="9144">
                    <a:solidFill>
                      <a:srgbClr val="FFFFFC"/>
                    </a:solidFill>
                  </a:tcPr>
                </a:tc>
                <a:tc>
                  <a:txBody>
                    <a:bodyPr/>
                    <a:lstStyle/>
                    <a:p>
                      <a:pPr algn="ctr">
                        <a:defRPr sz="1050" b="0">
                          <a:solidFill>
                            <a:srgbClr val="232624"/>
                          </a:solidFill>
                          <a:latin typeface="Aptos"/>
                        </a:defRPr>
                      </a:pPr>
                      <a:r>
                        <a:t>1.06</a:t>
                      </a:r>
                    </a:p>
                  </a:txBody>
                  <a:tcPr marL="18288" marR="18288" marT="9144" marB="9144">
                    <a:solidFill>
                      <a:srgbClr val="FFFFFC"/>
                    </a:solidFill>
                  </a:tcPr>
                </a:tc>
                <a:tc>
                  <a:txBody>
                    <a:bodyPr/>
                    <a:lstStyle/>
                    <a:p>
                      <a:pPr algn="ctr">
                        <a:defRPr sz="1050" b="0">
                          <a:solidFill>
                            <a:srgbClr val="232624"/>
                          </a:solidFill>
                          <a:latin typeface="Aptos"/>
                        </a:defRPr>
                      </a:pPr>
                      <a:r>
                        <a:t>1.28</a:t>
                      </a:r>
                    </a:p>
                  </a:txBody>
                  <a:tcPr marL="18288" marR="18288" marT="9144" marB="9144">
                    <a:solidFill>
                      <a:srgbClr val="FFFFFC"/>
                    </a:solidFill>
                  </a:tcPr>
                </a:tc>
              </a:tr>
              <a:tr h="159105">
                <a:tc>
                  <a:txBody>
                    <a:bodyPr/>
                    <a:lstStyle/>
                    <a:p>
                      <a:pPr algn="l">
                        <a:defRPr sz="1050" b="1">
                          <a:solidFill>
                            <a:srgbClr val="232624"/>
                          </a:solidFill>
                          <a:latin typeface="Aptos"/>
                        </a:defRPr>
                      </a:pPr>
                      <a:r>
                        <a:t>B-resolved</a:t>
                      </a:r>
                    </a:p>
                  </a:txBody>
                  <a:tcPr marL="18288" marR="18288" marT="9144" marB="9144">
                    <a:solidFill>
                      <a:srgbClr val="FFFFFC"/>
                    </a:solidFill>
                  </a:tcPr>
                </a:tc>
                <a:tc>
                  <a:txBody>
                    <a:bodyPr/>
                    <a:lstStyle/>
                    <a:p>
                      <a:pPr algn="ctr">
                        <a:defRPr sz="1050" b="0">
                          <a:solidFill>
                            <a:srgbClr val="232624"/>
                          </a:solidFill>
                          <a:latin typeface="Aptos"/>
                        </a:defRPr>
                      </a:pPr>
                      <a:r>
                        <a:t>0.80</a:t>
                      </a:r>
                    </a:p>
                  </a:txBody>
                  <a:tcPr marL="18288" marR="18288" marT="9144" marB="9144">
                    <a:solidFill>
                      <a:srgbClr val="FFFFFC"/>
                    </a:solidFill>
                  </a:tcPr>
                </a:tc>
                <a:tc>
                  <a:txBody>
                    <a:bodyPr/>
                    <a:lstStyle/>
                    <a:p>
                      <a:pPr algn="ctr">
                        <a:defRPr sz="1050" b="0">
                          <a:solidFill>
                            <a:srgbClr val="232624"/>
                          </a:solidFill>
                          <a:latin typeface="Aptos"/>
                        </a:defRPr>
                      </a:pPr>
                      <a:r>
                        <a:t>0.36</a:t>
                      </a:r>
                    </a:p>
                  </a:txBody>
                  <a:tcPr marL="18288" marR="18288" marT="9144" marB="9144">
                    <a:solidFill>
                      <a:srgbClr val="FFFFFC"/>
                    </a:solidFill>
                  </a:tcPr>
                </a:tc>
                <a:tc>
                  <a:txBody>
                    <a:bodyPr/>
                    <a:lstStyle/>
                    <a:p>
                      <a:pPr algn="ctr">
                        <a:defRPr sz="1050" b="0">
                          <a:solidFill>
                            <a:srgbClr val="232624"/>
                          </a:solidFill>
                          <a:latin typeface="Aptos"/>
                        </a:defRPr>
                      </a:pPr>
                      <a:r>
                        <a:t>1.72</a:t>
                      </a:r>
                    </a:p>
                  </a:txBody>
                  <a:tcPr marL="18288" marR="18288" marT="9144" marB="9144">
                    <a:solidFill>
                      <a:srgbClr val="FFFFFC"/>
                    </a:solidFill>
                  </a:tcPr>
                </a:tc>
                <a:tc>
                  <a:txBody>
                    <a:bodyPr/>
                    <a:lstStyle/>
                    <a:p>
                      <a:pPr algn="ctr">
                        <a:defRPr sz="1050" b="0">
                          <a:solidFill>
                            <a:srgbClr val="232624"/>
                          </a:solidFill>
                          <a:latin typeface="Aptos"/>
                        </a:defRPr>
                      </a:pPr>
                      <a:r>
                        <a:t>2.06</a:t>
                      </a:r>
                    </a:p>
                  </a:txBody>
                  <a:tcPr marL="18288" marR="18288" marT="9144" marB="9144">
                    <a:solidFill>
                      <a:srgbClr val="FFFFFC"/>
                    </a:solidFill>
                  </a:tcPr>
                </a:tc>
              </a:tr>
              <a:tr h="159108">
                <a:tc>
                  <a:txBody>
                    <a:bodyPr/>
                    <a:lstStyle/>
                    <a:p>
                      <a:pPr algn="l">
                        <a:defRPr sz="1050" b="1">
                          <a:solidFill>
                            <a:srgbClr val="232624"/>
                          </a:solidFill>
                          <a:latin typeface="Aptos"/>
                        </a:defRPr>
                      </a:pPr>
                      <a:r>
                        <a:t>C</a:t>
                      </a:r>
                    </a:p>
                  </a:txBody>
                  <a:tcPr marL="18288" marR="18288" marT="9144" marB="9144">
                    <a:solidFill>
                      <a:srgbClr val="FFFFFC"/>
                    </a:solidFill>
                  </a:tcPr>
                </a:tc>
                <a:tc>
                  <a:txBody>
                    <a:bodyPr/>
                    <a:lstStyle/>
                    <a:p>
                      <a:pPr algn="ctr">
                        <a:defRPr sz="1050" b="1">
                          <a:solidFill>
                            <a:srgbClr val="232624"/>
                          </a:solidFill>
                          <a:latin typeface="Aptos"/>
                        </a:defRPr>
                      </a:pPr>
                      <a:r>
                        <a:t>2.63</a:t>
                      </a:r>
                    </a:p>
                  </a:txBody>
                  <a:tcPr marL="18288" marR="18288" marT="9144" marB="9144">
                    <a:solidFill>
                      <a:srgbClr val="DEEFB1"/>
                    </a:solidFill>
                  </a:tcPr>
                </a:tc>
                <a:tc>
                  <a:txBody>
                    <a:bodyPr/>
                    <a:lstStyle/>
                    <a:p>
                      <a:pPr algn="ctr">
                        <a:defRPr sz="1050" b="0">
                          <a:solidFill>
                            <a:srgbClr val="232624"/>
                          </a:solidFill>
                          <a:latin typeface="Aptos"/>
                        </a:defRPr>
                      </a:pPr>
                      <a:r>
                        <a:t>0.86</a:t>
                      </a:r>
                    </a:p>
                  </a:txBody>
                  <a:tcPr marL="18288" marR="18288" marT="9144" marB="9144">
                    <a:solidFill>
                      <a:srgbClr val="FFFFFC"/>
                    </a:solidFill>
                  </a:tcPr>
                </a:tc>
                <a:tc>
                  <a:txBody>
                    <a:bodyPr/>
                    <a:lstStyle/>
                    <a:p>
                      <a:pPr algn="ctr">
                        <a:defRPr sz="1050" b="0">
                          <a:solidFill>
                            <a:srgbClr val="232624"/>
                          </a:solidFill>
                          <a:latin typeface="Aptos"/>
                        </a:defRPr>
                      </a:pPr>
                      <a:r>
                        <a:t>1.78</a:t>
                      </a:r>
                    </a:p>
                  </a:txBody>
                  <a:tcPr marL="18288" marR="18288" marT="9144" marB="9144">
                    <a:solidFill>
                      <a:srgbClr val="FFFFFC"/>
                    </a:solidFill>
                  </a:tcPr>
                </a:tc>
                <a:tc>
                  <a:txBody>
                    <a:bodyPr/>
                    <a:lstStyle/>
                    <a:p>
                      <a:pPr algn="ctr">
                        <a:defRPr sz="1050" b="0">
                          <a:solidFill>
                            <a:srgbClr val="232624"/>
                          </a:solidFill>
                          <a:latin typeface="Aptos"/>
                        </a:defRPr>
                      </a:pPr>
                      <a:r>
                        <a:t>2.22</a:t>
                      </a:r>
                    </a:p>
                  </a:txBody>
                  <a:tcPr marL="18288" marR="18288" marT="9144" marB="9144">
                    <a:solidFill>
                      <a:srgbClr val="FFFFFC"/>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Judge Scoring Audit</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Rationales were not stored; score slides use gpt-4.1 examples for apples-to-apples comparison.</a:t>
            </a:r>
          </a:p>
        </p:txBody>
      </p:sp>
      <p:sp>
        <p:nvSpPr>
          <p:cNvPr id="4" name="TextBox 3"/>
          <p:cNvSpPr txBox="1"/>
          <p:nvPr/>
        </p:nvSpPr>
        <p:spPr>
          <a:xfrm>
            <a:off x="685800" y="1097280"/>
            <a:ext cx="10881360" cy="4389120"/>
          </a:xfrm>
          <a:prstGeom prst="rect">
            <a:avLst/>
          </a:prstGeom>
          <a:noFill/>
        </p:spPr>
        <p:txBody>
          <a:bodyPr wrap="square">
            <a:spAutoFit/>
          </a:bodyPr>
          <a:lstStyle/>
          <a:p>
            <a:pPr>
              <a:spcAft>
                <a:spcPts val="700"/>
              </a:spcAft>
              <a:defRPr sz="1400">
                <a:solidFill>
                  <a:srgbClr val="232624"/>
                </a:solidFill>
                <a:latin typeface="Aptos"/>
              </a:defRPr>
            </a:pPr>
            <a:r>
              <a:t>Score 0 is assigned before an LLM judge call when the predicted excerpt cannot be recovered or snapped to the report.</a:t>
            </a:r>
          </a:p>
          <a:p>
            <a:pPr>
              <a:spcAft>
                <a:spcPts val="700"/>
              </a:spcAft>
              <a:defRPr sz="1400">
                <a:solidFill>
                  <a:srgbClr val="232624"/>
                </a:solidFill>
                <a:latin typeface="Aptos"/>
              </a:defRPr>
            </a:pPr>
            <a:r>
              <a:t>Scores 1-5 are judge alignment scores: 1 unrelated, 3 partial, 5 clear and complete.</a:t>
            </a:r>
          </a:p>
          <a:p>
            <a:pPr>
              <a:spcAft>
                <a:spcPts val="700"/>
              </a:spcAft>
              <a:defRPr sz="1400">
                <a:solidFill>
                  <a:srgbClr val="232624"/>
                </a:solidFill>
                <a:latin typeface="Aptos"/>
              </a:defRPr>
            </a:pPr>
            <a:r>
              <a:t>Full reconstructed audit export: judge_score_audit.csv</a:t>
            </a:r>
          </a:p>
          <a:p>
            <a:pPr>
              <a:spcAft>
                <a:spcPts val="700"/>
              </a:spcAft>
              <a:defRPr sz="1400">
                <a:solidFill>
                  <a:srgbClr val="232624"/>
                </a:solidFill>
                <a:latin typeface="Aptos"/>
              </a:defRPr>
            </a:pPr>
            <a:r>
              <a:t>Retained robustness score counts, all models: 0: 380, 1: 555, 2: 484, 3: 599, 4: 315, 5: 130</a:t>
            </a:r>
          </a:p>
          <a:p>
            <a:pPr>
              <a:spcAft>
                <a:spcPts val="700"/>
              </a:spcAft>
              <a:defRPr sz="1400">
                <a:solidFill>
                  <a:srgbClr val="232624"/>
                </a:solidFill>
                <a:latin typeface="Aptos"/>
              </a:defRPr>
            </a:pPr>
            <a:r>
              <a:t>Displayed gpt-4.1 score counts: 0: 25, 1: 80, 2: 85, 3: 146, 4: 118, 5: 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Judge Score 5</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Clear and complete alignment | 50 gpt-4.1 audit rows in retained robustness evaluations</a:t>
            </a:r>
          </a:p>
        </p:txBody>
      </p:sp>
      <p:sp>
        <p:nvSpPr>
          <p:cNvPr id="4" name="Rectangle 3"/>
          <p:cNvSpPr/>
          <p:nvPr/>
        </p:nvSpPr>
        <p:spPr>
          <a:xfrm>
            <a:off x="502920" y="1051560"/>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200" b="1">
                <a:solidFill>
                  <a:srgbClr val="184E4B"/>
                </a:solidFill>
                <a:latin typeface="Aptos"/>
              </a:defRPr>
            </a:pPr>
            <a:r>
              <a:t>1. E1 | P1 | gpt-4.1 | C | score 5</a:t>
            </a:r>
          </a:p>
          <a:p>
            <a:pPr>
              <a:spcBef>
                <a:spcPts val="200"/>
              </a:spcBef>
              <a:defRPr sz="1050">
                <a:solidFill>
                  <a:srgbClr val="232624"/>
                </a:solidFill>
                <a:latin typeface="Aptos"/>
              </a:defRPr>
            </a:pPr>
            <a:r>
              <a:t>Prediction: Patenting activity in vehicle design and tire technologies also grew rapidly between 2000 and 2014 but has largely plateaued since then.</a:t>
            </a:r>
          </a:p>
          <a:p>
            <a:pPr>
              <a:spcBef>
                <a:spcPts val="200"/>
              </a:spcBef>
              <a:defRPr sz="1050">
                <a:solidFill>
                  <a:srgbClr val="232624"/>
                </a:solidFill>
                <a:latin typeface="Aptos"/>
              </a:defRPr>
            </a:pPr>
            <a:r>
              <a:t>Ground truth: Canonical M: Let e be an entity and let m be an attribute defined over time. Let v(e, m, t) denote the value or state of entity e with respect to attribute m at time t. A trajectory shift pattern holds when there exists a time or event τ such that the behavior of v(e, m, t) differs before and after τ. Let g_pre denote the trend...</a:t>
            </a:r>
          </a:p>
        </p:txBody>
      </p:sp>
      <p:sp>
        <p:nvSpPr>
          <p:cNvPr id="5" name="Rectangle 4"/>
          <p:cNvSpPr/>
          <p:nvPr/>
        </p:nvSpPr>
        <p:spPr>
          <a:xfrm>
            <a:off x="502920" y="2724911"/>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200" b="1">
                <a:solidFill>
                  <a:srgbClr val="184E4B"/>
                </a:solidFill>
                <a:latin typeface="Aptos"/>
              </a:defRPr>
            </a:pPr>
            <a:r>
              <a:t>2. E2 | P1 | gpt-4.1 | A | score 5</a:t>
            </a:r>
          </a:p>
          <a:p>
            <a:pPr>
              <a:spcBef>
                <a:spcPts val="200"/>
              </a:spcBef>
              <a:defRPr sz="1050">
                <a:solidFill>
                  <a:srgbClr val="232624"/>
                </a:solidFill>
                <a:latin typeface="Aptos"/>
              </a:defRPr>
            </a:pPr>
            <a:r>
              <a:t>Prediction: While the growth of GenAI patent families in the Republic of Korea has been very dynamic across all modes in recent years, Japan's GenAI patent families peaked in 2020/2021 and have been declining since then.</a:t>
            </a:r>
          </a:p>
          <a:p>
            <a:pPr>
              <a:spcBef>
                <a:spcPts val="200"/>
              </a:spcBef>
              <a:defRPr sz="1050">
                <a:solidFill>
                  <a:srgbClr val="232624"/>
                </a:solidFill>
                <a:latin typeface="Aptos"/>
              </a:defRPr>
            </a:pPr>
            <a:r>
              <a:t>Ground truth: Reference E.text: In both Japan and the Republic of Korea, speech/voice/music is a very important GenAI mode in terms of patent families. However, patent growth rates differ significantly between the two Asian countries. While the growth of GenAI patent families in the Republic of Korea has been very dynamic across all modes in...</a:t>
            </a:r>
          </a:p>
        </p:txBody>
      </p:sp>
      <p:sp>
        <p:nvSpPr>
          <p:cNvPr id="6" name="Rectangle 5"/>
          <p:cNvSpPr/>
          <p:nvPr/>
        </p:nvSpPr>
        <p:spPr>
          <a:xfrm>
            <a:off x="502920" y="4398264"/>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200" b="1">
                <a:solidFill>
                  <a:srgbClr val="184E4B"/>
                </a:solidFill>
                <a:latin typeface="Aptos"/>
              </a:defRPr>
            </a:pPr>
            <a:r>
              <a:t>3. E1 | P1 | gpt-4.1 | C | score 5</a:t>
            </a:r>
          </a:p>
          <a:p>
            <a:pPr>
              <a:spcBef>
                <a:spcPts val="200"/>
              </a:spcBef>
              <a:defRPr sz="1050">
                <a:solidFill>
                  <a:srgbClr val="232624"/>
                </a:solidFill>
                <a:latin typeface="Aptos"/>
              </a:defRPr>
            </a:pPr>
            <a:r>
              <a:t>Prediction: It is important to observe, however, that this growth trend peaked in 2021 with 5,884 publications (and in 2020 for IPFs); subsequent annual activity has decreased by roughly 13%.</a:t>
            </a:r>
          </a:p>
          <a:p>
            <a:pPr>
              <a:spcBef>
                <a:spcPts val="200"/>
              </a:spcBef>
              <a:defRPr sz="1050">
                <a:solidFill>
                  <a:srgbClr val="232624"/>
                </a:solidFill>
                <a:latin typeface="Aptos"/>
              </a:defRPr>
            </a:pPr>
            <a:r>
              <a:t>Ground truth: Canonical M: Let e be an entity and let m be an attribute defined over time. Let v(e, m, t) denote the value or state of entity e with respect to attribute m at time t. A trajectory shift pattern holds when there exists a time or event τ such that the behavior of v(e, m, t) differs before and after τ. Let g_pre denote the trend...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Judge Score 4</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Valid with minor omission or ambiguity | 118 gpt-4.1 audit rows in retained robustness evaluations</a:t>
            </a:r>
          </a:p>
        </p:txBody>
      </p:sp>
      <p:sp>
        <p:nvSpPr>
          <p:cNvPr id="4" name="Rectangle 3"/>
          <p:cNvSpPr/>
          <p:nvPr/>
        </p:nvSpPr>
        <p:spPr>
          <a:xfrm>
            <a:off x="502920" y="1051560"/>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200" b="1">
                <a:solidFill>
                  <a:srgbClr val="184E4B"/>
                </a:solidFill>
                <a:latin typeface="Aptos"/>
              </a:defRPr>
            </a:pPr>
            <a:r>
              <a:t>1. E1 | P1 | gpt-4.1 | C | score 4</a:t>
            </a:r>
          </a:p>
          <a:p>
            <a:pPr>
              <a:spcBef>
                <a:spcPts val="200"/>
              </a:spcBef>
              <a:defRPr sz="1050">
                <a:solidFill>
                  <a:srgbClr val="232624"/>
                </a:solidFill>
                <a:latin typeface="Aptos"/>
              </a:defRPr>
            </a:pPr>
            <a:r>
              <a:t>Prediction: The number of patent families related to titanium-containing coatings has strongly increased since 2012.</a:t>
            </a:r>
          </a:p>
          <a:p>
            <a:pPr>
              <a:spcBef>
                <a:spcPts val="200"/>
              </a:spcBef>
              <a:defRPr sz="1050">
                <a:solidFill>
                  <a:srgbClr val="232624"/>
                </a:solidFill>
                <a:latin typeface="Aptos"/>
              </a:defRPr>
            </a:pPr>
            <a:r>
              <a:t>Ground truth: Canonical M: Let e be an entity and let m be an attribute defined over time. Let v(e, m, t) denote the value or state of entity e with respect to attribute m at time t. A trajectory shift pattern holds when there exists a time or event τ such that the behavior of v(e, m, t) differs before and after τ. Let g_pre denote the trend...</a:t>
            </a:r>
          </a:p>
        </p:txBody>
      </p:sp>
      <p:sp>
        <p:nvSpPr>
          <p:cNvPr id="5" name="Rectangle 4"/>
          <p:cNvSpPr/>
          <p:nvPr/>
        </p:nvSpPr>
        <p:spPr>
          <a:xfrm>
            <a:off x="502920" y="2724911"/>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200" b="1">
                <a:solidFill>
                  <a:srgbClr val="184E4B"/>
                </a:solidFill>
                <a:latin typeface="Aptos"/>
              </a:defRPr>
            </a:pPr>
            <a:r>
              <a:t>2. E2 | P1 | gpt-4.1 | A | score 4</a:t>
            </a:r>
          </a:p>
          <a:p>
            <a:pPr>
              <a:spcBef>
                <a:spcPts val="200"/>
              </a:spcBef>
              <a:defRPr sz="1050">
                <a:solidFill>
                  <a:srgbClr val="232624"/>
                </a:solidFill>
                <a:latin typeface="Aptos"/>
              </a:defRPr>
            </a:pPr>
            <a:r>
              <a:t>Prediction: Among the core models of GenAI, many patent families belong to the category of generative adversarial networks (GANs). Between 2014 and 2023, there were almost 9,700 publications of patent families in this model type with almost 2,400 patent families published in 2023 alone.</a:t>
            </a:r>
          </a:p>
          <a:p>
            <a:pPr>
              <a:spcBef>
                <a:spcPts val="200"/>
              </a:spcBef>
              <a:defRPr sz="1050">
                <a:solidFill>
                  <a:srgbClr val="232624"/>
                </a:solidFill>
                <a:latin typeface="Aptos"/>
              </a:defRPr>
            </a:pPr>
            <a:r>
              <a:t>Ground truth: Reference E.text: Although patent publications in GANs dominated up to 2020, it has slowed down since and patent publications in diffusion models have grown tremendously since 2021.</a:t>
            </a:r>
          </a:p>
        </p:txBody>
      </p:sp>
      <p:sp>
        <p:nvSpPr>
          <p:cNvPr id="6" name="Rectangle 5"/>
          <p:cNvSpPr/>
          <p:nvPr/>
        </p:nvSpPr>
        <p:spPr>
          <a:xfrm>
            <a:off x="502920" y="4398264"/>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200" b="1">
                <a:solidFill>
                  <a:srgbClr val="184E4B"/>
                </a:solidFill>
                <a:latin typeface="Aptos"/>
              </a:defRPr>
            </a:pPr>
            <a:r>
              <a:t>3. E3-M | P2 | gpt-4.1 | A | score 4</a:t>
            </a:r>
          </a:p>
          <a:p>
            <a:pPr>
              <a:spcBef>
                <a:spcPts val="200"/>
              </a:spcBef>
              <a:defRPr sz="1050">
                <a:solidFill>
                  <a:srgbClr val="232624"/>
                </a:solidFill>
                <a:latin typeface="Aptos"/>
              </a:defRPr>
            </a:pPr>
            <a:r>
              <a:t>Prediction: For two entities A and B, at two time points t0 and t1, let c_A(t0) and c_B(t0) be their respective counts at t0, and c_A(t1) and c_B(t1) at t1. The gap at each time is gap(t) = |c_A(t) - c_B(t)|. The pattern is that the gap between A and B increases substantially over time: gap(t1) &gt;&gt; gap(t0), and this is reflected symmetrical...</a:t>
            </a:r>
          </a:p>
          <a:p>
            <a:pPr>
              <a:spcBef>
                <a:spcPts val="200"/>
              </a:spcBef>
              <a:defRPr sz="1050">
                <a:solidFill>
                  <a:srgbClr val="232624"/>
                </a:solidFill>
                <a:latin typeface="Aptos"/>
              </a:defRPr>
            </a:pPr>
            <a:r>
              <a:t>Ground truth: Canonical M: Let E = {e1, e2, ..., en} be a set of comparable entities and let m be an attribute measured over time. Let v(e, m, t) denote the value of entity e for attribute m at time t. For a shared interval [t_start, t_end], a growth divergence pattern holds when there exist two entities ei and ej such that both entities are...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Judge Score 3</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Partial or uncertain alignment | 146 gpt-4.1 audit rows in retained robustness evaluations</a:t>
            </a:r>
          </a:p>
        </p:txBody>
      </p:sp>
      <p:sp>
        <p:nvSpPr>
          <p:cNvPr id="4" name="Rectangle 3"/>
          <p:cNvSpPr/>
          <p:nvPr/>
        </p:nvSpPr>
        <p:spPr>
          <a:xfrm>
            <a:off x="502920" y="1051560"/>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200" b="1">
                <a:solidFill>
                  <a:srgbClr val="184E4B"/>
                </a:solidFill>
                <a:latin typeface="Aptos"/>
              </a:defRPr>
            </a:pPr>
            <a:r>
              <a:t>1. E1 | P1 | gpt-4.1 | A | score 3</a:t>
            </a:r>
          </a:p>
          <a:p>
            <a:pPr>
              <a:spcBef>
                <a:spcPts val="200"/>
              </a:spcBef>
              <a:defRPr sz="1050">
                <a:solidFill>
                  <a:srgbClr val="232624"/>
                </a:solidFill>
                <a:latin typeface="Aptos"/>
              </a:defRPr>
            </a:pPr>
            <a:r>
              <a:t>Prediction: Patent activity shows a growing interest in ceramics as an industrial application of titanium since 2016, with a CAGR of +15 percent between 2014 and 2019.</a:t>
            </a:r>
          </a:p>
          <a:p>
            <a:pPr>
              <a:spcBef>
                <a:spcPts val="200"/>
              </a:spcBef>
              <a:defRPr sz="1050">
                <a:solidFill>
                  <a:srgbClr val="232624"/>
                </a:solidFill>
                <a:latin typeface="Aptos"/>
              </a:defRPr>
            </a:pPr>
            <a:r>
              <a:t>Ground truth: Canonical M: Let e be an entity and let m be an attribute defined over time. Let v(e, m, t) denote the value or state of entity e with respect to attribute m at time t. A trajectory shift pattern holds when there exists a time or event τ such that the behavior of v(e, m, t) differs before and after τ. Let g_pre denote the trend...</a:t>
            </a:r>
          </a:p>
        </p:txBody>
      </p:sp>
      <p:sp>
        <p:nvSpPr>
          <p:cNvPr id="5" name="Rectangle 4"/>
          <p:cNvSpPr/>
          <p:nvPr/>
        </p:nvSpPr>
        <p:spPr>
          <a:xfrm>
            <a:off x="502920" y="2724911"/>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200" b="1">
                <a:solidFill>
                  <a:srgbClr val="184E4B"/>
                </a:solidFill>
                <a:latin typeface="Aptos"/>
              </a:defRPr>
            </a:pPr>
            <a:r>
              <a:t>2. E2 | P1 | gpt-4.1 | C | score 3</a:t>
            </a:r>
          </a:p>
          <a:p>
            <a:pPr>
              <a:spcBef>
                <a:spcPts val="200"/>
              </a:spcBef>
              <a:defRPr sz="1050">
                <a:solidFill>
                  <a:srgbClr val="232624"/>
                </a:solidFill>
                <a:latin typeface="Aptos"/>
              </a:defRPr>
            </a:pPr>
            <a:r>
              <a:t>Prediction: Patent filings related to the use of titanium and titanium dioxide in ceramics have strongly increased since 2012.</a:t>
            </a:r>
          </a:p>
          <a:p>
            <a:pPr>
              <a:spcBef>
                <a:spcPts val="200"/>
              </a:spcBef>
              <a:defRPr sz="1050">
                <a:solidFill>
                  <a:srgbClr val="232624"/>
                </a:solidFill>
                <a:latin typeface="Aptos"/>
              </a:defRPr>
            </a:pPr>
            <a:r>
              <a:t>Ground truth: Reference E.text: Between 2012 and 2022, there were 2,027 active patent families describing the use of titanium dioxide and titanium in ceramics (Figure 24). Patent activity shows a growing interest in ceramics as an industrial application of titanium since 2016, with a CAGR of +15 percent between 2014 and 2019.</a:t>
            </a:r>
          </a:p>
        </p:txBody>
      </p:sp>
      <p:sp>
        <p:nvSpPr>
          <p:cNvPr id="6" name="Rectangle 5"/>
          <p:cNvSpPr/>
          <p:nvPr/>
        </p:nvSpPr>
        <p:spPr>
          <a:xfrm>
            <a:off x="502920" y="4398264"/>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200" b="1">
                <a:solidFill>
                  <a:srgbClr val="184E4B"/>
                </a:solidFill>
                <a:latin typeface="Aptos"/>
              </a:defRPr>
            </a:pPr>
            <a:r>
              <a:t>3. E3-M | P1 | gpt-4.1 | B-resolved | score 3</a:t>
            </a:r>
          </a:p>
          <a:p>
            <a:pPr>
              <a:spcBef>
                <a:spcPts val="200"/>
              </a:spcBef>
              <a:defRPr sz="1050">
                <a:solidFill>
                  <a:srgbClr val="232624"/>
                </a:solidFill>
                <a:latin typeface="Aptos"/>
              </a:defRPr>
            </a:pPr>
            <a:r>
              <a:t>Prediction: Given a time series of annual patent family counts for a specific technology or region, analyze the trend by comparing year-over-year changes, identifying periods of growth, peak, and decline, and quantifying growth rates (e.g., CAGR) over specified intervals.</a:t>
            </a:r>
          </a:p>
          <a:p>
            <a:pPr>
              <a:spcBef>
                <a:spcPts val="200"/>
              </a:spcBef>
              <a:defRPr sz="1050">
                <a:solidFill>
                  <a:srgbClr val="232624"/>
                </a:solidFill>
                <a:latin typeface="Aptos"/>
              </a:defRPr>
            </a:pPr>
            <a:r>
              <a:t>Ground truth: Canonical M: Let e be an entity and let m be an attribute defined over time. Let v(e, m, t) denote the value or state of entity e with respect to attribute m at time t. A trajectory shift pattern holds when there exists a time or event τ such that the behavior of v(e, m, t) differs before and after τ. Let g_pre denote the trend...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Judge Score 2</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Weakly related, central conditions missing | 85 gpt-4.1 audit rows in retained robustness evaluations</a:t>
            </a:r>
          </a:p>
        </p:txBody>
      </p:sp>
      <p:sp>
        <p:nvSpPr>
          <p:cNvPr id="4" name="Rectangle 3"/>
          <p:cNvSpPr/>
          <p:nvPr/>
        </p:nvSpPr>
        <p:spPr>
          <a:xfrm>
            <a:off x="502920" y="1051560"/>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200" b="1">
                <a:solidFill>
                  <a:srgbClr val="184E4B"/>
                </a:solidFill>
                <a:latin typeface="Aptos"/>
              </a:defRPr>
            </a:pPr>
            <a:r>
              <a:t>1. E1 | P1 | gpt-4.1 | B-query | score 2</a:t>
            </a:r>
          </a:p>
          <a:p>
            <a:pPr>
              <a:spcBef>
                <a:spcPts val="200"/>
              </a:spcBef>
              <a:defRPr sz="1050">
                <a:solidFill>
                  <a:srgbClr val="232624"/>
                </a:solidFill>
                <a:latin typeface="Aptos"/>
              </a:defRPr>
            </a:pPr>
            <a:r>
              <a:t>Prediction: Patent activity shows a growing interest in this field, with a CAGR of +23 percent between 2014 and 2019 (Figure 34).</a:t>
            </a:r>
          </a:p>
          <a:p>
            <a:pPr>
              <a:spcBef>
                <a:spcPts val="200"/>
              </a:spcBef>
              <a:defRPr sz="1050">
                <a:solidFill>
                  <a:srgbClr val="232624"/>
                </a:solidFill>
                <a:latin typeface="Aptos"/>
              </a:defRPr>
            </a:pPr>
            <a:r>
              <a:t>Ground truth: Canonical M: Let e be an entity and let m be an attribute defined over time. Let v(e, m, t) denote the value or state of entity e with respect to attribute m at time t. A trajectory shift pattern holds when there exists a time or event τ such that the behavior of v(e, m, t) differs before and after τ. Let g_pre denote the trend...</a:t>
            </a:r>
          </a:p>
        </p:txBody>
      </p:sp>
      <p:sp>
        <p:nvSpPr>
          <p:cNvPr id="5" name="Rectangle 4"/>
          <p:cNvSpPr/>
          <p:nvPr/>
        </p:nvSpPr>
        <p:spPr>
          <a:xfrm>
            <a:off x="502920" y="2724911"/>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200" b="1">
                <a:solidFill>
                  <a:srgbClr val="184E4B"/>
                </a:solidFill>
                <a:latin typeface="Aptos"/>
              </a:defRPr>
            </a:pPr>
            <a:r>
              <a:t>2. E2 | P1 | gpt-4.1 | A | score 2</a:t>
            </a:r>
          </a:p>
          <a:p>
            <a:pPr>
              <a:spcBef>
                <a:spcPts val="200"/>
              </a:spcBef>
              <a:defRPr sz="1050">
                <a:solidFill>
                  <a:srgbClr val="232624"/>
                </a:solidFill>
                <a:latin typeface="Aptos"/>
              </a:defRPr>
            </a:pPr>
            <a:r>
              <a:t>Prediction: Between 2012 and 2022, there were 2,027 active patent families describing the use of titanium dioxide and titanium in ceramics (Figure 24). Patent activity shows a growing interest in ceramics as an industrial application of titanium since 2016, with a CAGR of +15 percent between 2014 and 2019.</a:t>
            </a:r>
          </a:p>
          <a:p>
            <a:pPr>
              <a:spcBef>
                <a:spcPts val="200"/>
              </a:spcBef>
              <a:defRPr sz="1050">
                <a:solidFill>
                  <a:srgbClr val="232624"/>
                </a:solidFill>
                <a:latin typeface="Aptos"/>
              </a:defRPr>
            </a:pPr>
            <a:r>
              <a:t>Ground truth: Reference E.text: Between 2012 and 2022, there were 2,027 active patent families describing the use of titanium dioxide and titanium in ceramics (Figure 24). Patent activity shows a growing interest in ceramics as an industrial application of titanium since 2016, with a CAGR of +15 percent between 2014 and 2019.</a:t>
            </a:r>
          </a:p>
        </p:txBody>
      </p:sp>
      <p:sp>
        <p:nvSpPr>
          <p:cNvPr id="6" name="Rectangle 5"/>
          <p:cNvSpPr/>
          <p:nvPr/>
        </p:nvSpPr>
        <p:spPr>
          <a:xfrm>
            <a:off x="502920" y="4398264"/>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200" b="1">
                <a:solidFill>
                  <a:srgbClr val="184E4B"/>
                </a:solidFill>
                <a:latin typeface="Aptos"/>
              </a:defRPr>
            </a:pPr>
            <a:r>
              <a:t>3. E3-M | P1 | gpt-4.1 | B-resolved | score 2</a:t>
            </a:r>
          </a:p>
          <a:p>
            <a:pPr>
              <a:spcBef>
                <a:spcPts val="200"/>
              </a:spcBef>
              <a:defRPr sz="1050">
                <a:solidFill>
                  <a:srgbClr val="232624"/>
                </a:solidFill>
                <a:latin typeface="Aptos"/>
              </a:defRPr>
            </a:pPr>
            <a:r>
              <a:t>Prediction: Given a set of time series data for distinct patent family counts by year and category (e.g., technology, country, application area), identify and describe trends, growth rates, peaks, and declines over time, and relate these quantitative changes to qualitative shifts or milestones in the field.</a:t>
            </a:r>
          </a:p>
          <a:p>
            <a:pPr>
              <a:spcBef>
                <a:spcPts val="200"/>
              </a:spcBef>
              <a:defRPr sz="1050">
                <a:solidFill>
                  <a:srgbClr val="232624"/>
                </a:solidFill>
                <a:latin typeface="Aptos"/>
              </a:defRPr>
            </a:pPr>
            <a:r>
              <a:t>Ground truth: Canonical M: Let e be an entity and let m be an attribute defined over time. Let v(e, m, t) denote the value or state of entity e with respect to attribute m at time t. A trajectory shift pattern holds when there exists a time or event τ such that the behavior of v(e, m, t) differs before and after τ. Let g_pre denote the trend...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Judge Score 1</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Unrelated or not aligned | 80 gpt-4.1 audit rows in retained robustness evaluations</a:t>
            </a:r>
          </a:p>
        </p:txBody>
      </p:sp>
      <p:sp>
        <p:nvSpPr>
          <p:cNvPr id="4" name="Rectangle 3"/>
          <p:cNvSpPr/>
          <p:nvPr/>
        </p:nvSpPr>
        <p:spPr>
          <a:xfrm>
            <a:off x="502920" y="1051560"/>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200" b="1">
                <a:solidFill>
                  <a:srgbClr val="184E4B"/>
                </a:solidFill>
                <a:latin typeface="Aptos"/>
              </a:defRPr>
            </a:pPr>
            <a:r>
              <a:t>1. E1 | P1 | gpt-4.1 | B-query | score 1</a:t>
            </a:r>
          </a:p>
          <a:p>
            <a:pPr>
              <a:spcBef>
                <a:spcPts val="200"/>
              </a:spcBef>
              <a:defRPr sz="1050">
                <a:solidFill>
                  <a:srgbClr val="232624"/>
                </a:solidFill>
                <a:latin typeface="Aptos"/>
              </a:defRPr>
            </a:pPr>
            <a:r>
              <a:t>Prediction: Patent activity on titanium metal production has remained quite steady since 2002, indicating a constant but not significantly growing interest in the topic (Figure 16).</a:t>
            </a:r>
          </a:p>
          <a:p>
            <a:pPr>
              <a:spcBef>
                <a:spcPts val="200"/>
              </a:spcBef>
              <a:defRPr sz="1050">
                <a:solidFill>
                  <a:srgbClr val="232624"/>
                </a:solidFill>
                <a:latin typeface="Aptos"/>
              </a:defRPr>
            </a:pPr>
            <a:r>
              <a:t>Ground truth: Canonical M: Let e be an entity and let m be an attribute defined over time. Let v(e, m, t) denote the value or state of entity e with respect to attribute m at time t. A trajectory shift pattern holds when there exists a time or event τ such that the behavior of v(e, m, t) differs before and after τ. Let g_pre denote the trend...</a:t>
            </a:r>
          </a:p>
        </p:txBody>
      </p:sp>
      <p:sp>
        <p:nvSpPr>
          <p:cNvPr id="5" name="Rectangle 4"/>
          <p:cNvSpPr/>
          <p:nvPr/>
        </p:nvSpPr>
        <p:spPr>
          <a:xfrm>
            <a:off x="502920" y="2724911"/>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200" b="1">
                <a:solidFill>
                  <a:srgbClr val="184E4B"/>
                </a:solidFill>
                <a:latin typeface="Aptos"/>
              </a:defRPr>
            </a:pPr>
            <a:r>
              <a:t>2. E2 | P1 | gpt-4.1 | B-resolved | score 1</a:t>
            </a:r>
          </a:p>
          <a:p>
            <a:pPr>
              <a:spcBef>
                <a:spcPts val="200"/>
              </a:spcBef>
              <a:defRPr sz="1050">
                <a:solidFill>
                  <a:srgbClr val="232624"/>
                </a:solidFill>
                <a:latin typeface="Aptos"/>
              </a:defRPr>
            </a:pPr>
            <a:r>
              <a:t>Prediction: For Japan, it is noteworthy that the vast majority of GenAI patent families cannot be linked to any of the five core GenAI models. In India, GAN patent families accounted for a relatively high proportion of total GenAI patents. In the UK, many patent families belong to the GAN and VAE categories. Germany has a relatively strong...</a:t>
            </a:r>
          </a:p>
          <a:p>
            <a:pPr>
              <a:spcBef>
                <a:spcPts val="200"/>
              </a:spcBef>
              <a:defRPr sz="1050">
                <a:solidFill>
                  <a:srgbClr val="232624"/>
                </a:solidFill>
                <a:latin typeface="Aptos"/>
              </a:defRPr>
            </a:pPr>
            <a:r>
              <a:t>Ground truth: Reference E.text: In both Japan and the Republic of Korea, speech/voice/music is a very important GenAI mode in terms of patent families. However, patent growth rates differ significantly between the two Asian countries. While the growth of GenAI patent families in the Republic of Korea has been very dynamic across all modes in...</a:t>
            </a:r>
          </a:p>
        </p:txBody>
      </p:sp>
      <p:sp>
        <p:nvSpPr>
          <p:cNvPr id="6" name="Rectangle 5"/>
          <p:cNvSpPr/>
          <p:nvPr/>
        </p:nvSpPr>
        <p:spPr>
          <a:xfrm>
            <a:off x="502920" y="4398264"/>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200" b="1">
                <a:solidFill>
                  <a:srgbClr val="184E4B"/>
                </a:solidFill>
                <a:latin typeface="Aptos"/>
              </a:defRPr>
            </a:pPr>
            <a:r>
              <a:t>3. E3-M | P1 | gpt-4.1 | B-query | score 1</a:t>
            </a:r>
          </a:p>
          <a:p>
            <a:pPr>
              <a:spcBef>
                <a:spcPts val="200"/>
              </a:spcBef>
              <a:defRPr sz="1050">
                <a:solidFill>
                  <a:srgbClr val="232624"/>
                </a:solidFill>
                <a:latin typeface="Aptos"/>
              </a:defRPr>
            </a:pPr>
            <a:r>
              <a:t>Prediction: P = (M, T, E), where E = {(E.text_i, E.tab_i)}; for each paired example, E.text_i is a contiguous natural-language summary or interpretation of the corresponding E.tab_i, which contains structured data (e.g., time series or counts).</a:t>
            </a:r>
          </a:p>
          <a:p>
            <a:pPr>
              <a:spcBef>
                <a:spcPts val="200"/>
              </a:spcBef>
              <a:defRPr sz="1050">
                <a:solidFill>
                  <a:srgbClr val="232624"/>
                </a:solidFill>
                <a:latin typeface="Aptos"/>
              </a:defRPr>
            </a:pPr>
            <a:r>
              <a:t>Ground truth: Canonical M: Let e be an entity and let m be an attribute defined over time. Let v(e, m, t) denote the value or state of entity e with respect to attribute m at time t. A trajectory shift pattern holds when there exists a time or event τ such that the behavior of v(e, m, t) differs before and after τ. Let g_pre denote the trend...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Judge Score 0</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No recoverable grounded excerpt | 25 gpt-4.1 audit rows in retained robustness evaluations</a:t>
            </a:r>
          </a:p>
        </p:txBody>
      </p:sp>
      <p:sp>
        <p:nvSpPr>
          <p:cNvPr id="4" name="Rectangle 3"/>
          <p:cNvSpPr/>
          <p:nvPr/>
        </p:nvSpPr>
        <p:spPr>
          <a:xfrm>
            <a:off x="502920" y="1051560"/>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200" b="1">
                <a:solidFill>
                  <a:srgbClr val="184E4B"/>
                </a:solidFill>
                <a:latin typeface="Aptos"/>
              </a:defRPr>
            </a:pPr>
            <a:r>
              <a:t>1. E1 | P1 | gpt-4.1 | C | score 0</a:t>
            </a:r>
          </a:p>
          <a:p>
            <a:pPr>
              <a:spcBef>
                <a:spcPts val="200"/>
              </a:spcBef>
              <a:defRPr sz="1050">
                <a:solidFill>
                  <a:srgbClr val="232624"/>
                </a:solidFill>
                <a:latin typeface="Aptos"/>
              </a:defRPr>
            </a:pPr>
            <a:r>
              <a:t>Prediction: Patent activity shows a growing interest in titanium-based coatings, with a CAGR of +23 percent between 2014 and 2019 (Figure 44). ... The number of patent families related to titanium-containing coatings has strongly increased since 2012.</a:t>
            </a:r>
          </a:p>
          <a:p>
            <a:pPr>
              <a:spcBef>
                <a:spcPts val="200"/>
              </a:spcBef>
              <a:defRPr sz="1050">
                <a:solidFill>
                  <a:srgbClr val="232624"/>
                </a:solidFill>
                <a:latin typeface="Aptos"/>
              </a:defRPr>
            </a:pPr>
            <a:r>
              <a:t>Ground truth: Canonical M: Let e be an entity and let m be an attribute defined over time. Let v(e, m, t) denote the value or state of entity e with respect to attribute m at time t. A trajectory shift pattern holds when there exists a time or event τ such that the behavior of v(e, m, t) differs before and after τ. Let g_pre denote the trend...</a:t>
            </a:r>
          </a:p>
        </p:txBody>
      </p:sp>
      <p:sp>
        <p:nvSpPr>
          <p:cNvPr id="5" name="Rectangle 4"/>
          <p:cNvSpPr/>
          <p:nvPr/>
        </p:nvSpPr>
        <p:spPr>
          <a:xfrm>
            <a:off x="502920" y="2724911"/>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200" b="1">
                <a:solidFill>
                  <a:srgbClr val="184E4B"/>
                </a:solidFill>
                <a:latin typeface="Aptos"/>
              </a:defRPr>
            </a:pPr>
            <a:r>
              <a:t>2. E2 | P1 | gpt-4.1 | C | score 0</a:t>
            </a:r>
          </a:p>
          <a:p>
            <a:pPr>
              <a:spcBef>
                <a:spcPts val="200"/>
              </a:spcBef>
              <a:defRPr sz="1050">
                <a:solidFill>
                  <a:srgbClr val="232624"/>
                </a:solidFill>
                <a:latin typeface="Aptos"/>
              </a:defRPr>
            </a:pPr>
            <a:r>
              <a:t>Prediction: year,distinct_gan_patent_family_count 2017,38 2018,237 2019,851 2020,1585 2021,2102 2022,2504 2023,2370</a:t>
            </a:r>
          </a:p>
          <a:p>
            <a:pPr>
              <a:spcBef>
                <a:spcPts val="200"/>
              </a:spcBef>
              <a:defRPr sz="1050">
                <a:solidFill>
                  <a:srgbClr val="232624"/>
                </a:solidFill>
                <a:latin typeface="Aptos"/>
              </a:defRPr>
            </a:pPr>
            <a:r>
              <a:t>Ground truth: Reference E.text: Although patent publications in GANs dominated up to 2020, it has slowed down since and patent publications in diffusion models have grown tremendously since 2021.</a:t>
            </a:r>
          </a:p>
        </p:txBody>
      </p:sp>
      <p:sp>
        <p:nvSpPr>
          <p:cNvPr id="6" name="Rectangle 5"/>
          <p:cNvSpPr/>
          <p:nvPr/>
        </p:nvSpPr>
        <p:spPr>
          <a:xfrm>
            <a:off x="502920" y="4398264"/>
            <a:ext cx="11155680" cy="1508760"/>
          </a:xfrm>
          <a:prstGeom prst="rect">
            <a:avLst/>
          </a:prstGeom>
          <a:solidFill>
            <a:srgbClr val="FFFFFC"/>
          </a:solidFill>
          <a:ln w="9525">
            <a:solidFill>
              <a:srgbClr val="CED3CA"/>
            </a:solidFill>
          </a:ln>
        </p:spPr>
        <p:style>
          <a:lnRef idx="1">
            <a:schemeClr val="accent1"/>
          </a:lnRef>
          <a:fillRef idx="3">
            <a:schemeClr val="accent1"/>
          </a:fillRef>
          <a:effectRef idx="2">
            <a:schemeClr val="accent1"/>
          </a:effectRef>
          <a:fontRef idx="minor">
            <a:schemeClr val="lt1"/>
          </a:fontRef>
        </p:style>
        <p:txBody>
          <a:bodyPr rtlCol="0" anchor="ctr" lIns="146304" rIns="146304" tIns="109728" wrap="square"/>
          <a:lstStyle/>
          <a:p>
            <a:pPr algn="ctr">
              <a:defRPr sz="1200" b="1">
                <a:solidFill>
                  <a:srgbClr val="184E4B"/>
                </a:solidFill>
                <a:latin typeface="Aptos"/>
              </a:defRPr>
            </a:pPr>
            <a:r>
              <a:t>3. E1 | P1 | gpt-4.1 | C | score 0</a:t>
            </a:r>
          </a:p>
          <a:p>
            <a:pPr>
              <a:spcBef>
                <a:spcPts val="200"/>
              </a:spcBef>
              <a:defRPr sz="1050">
                <a:solidFill>
                  <a:srgbClr val="232624"/>
                </a:solidFill>
                <a:latin typeface="Aptos"/>
              </a:defRPr>
            </a:pPr>
            <a:r>
              <a:t>Prediction: Since 2002, patent activity with regard to the process of obtaining titanium dioxide from ilmenite has grown strongly. ... In contrast, patent activity related to the process for the production of titanium metal has remained steady since 2002.</a:t>
            </a:r>
          </a:p>
          <a:p>
            <a:pPr>
              <a:spcBef>
                <a:spcPts val="200"/>
              </a:spcBef>
              <a:defRPr sz="1050">
                <a:solidFill>
                  <a:srgbClr val="232624"/>
                </a:solidFill>
                <a:latin typeface="Aptos"/>
              </a:defRPr>
            </a:pPr>
            <a:r>
              <a:t>Ground truth: Canonical M: Let e be an entity and let m be an attribute defined over time. Let v(e, m, t) denote the value or state of entity e with respect to attribute m at time t. A trajectory shift pattern holds when there exists a time or event τ such that the behavior of v(e, m, t) differs before and after τ. Let g_pre denote the trend...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411480" y="228600"/>
            <a:ext cx="11338560" cy="502920"/>
          </a:xfrm>
          <a:prstGeom prst="rect">
            <a:avLst/>
          </a:prstGeom>
          <a:noFill/>
        </p:spPr>
        <p:txBody>
          <a:bodyPr wrap="none">
            <a:spAutoFit/>
          </a:bodyPr>
          <a:lstStyle/>
          <a:p>
            <a:pPr>
              <a:defRPr sz="2600" b="1">
                <a:solidFill>
                  <a:srgbClr val="232624"/>
                </a:solidFill>
                <a:latin typeface="Aptos Display"/>
              </a:defRPr>
            </a:pPr>
            <a:r>
              <a:t>Conclusions</a:t>
            </a:r>
          </a:p>
        </p:txBody>
      </p:sp>
      <p:sp>
        <p:nvSpPr>
          <p:cNvPr id="3" name="TextBox 2"/>
          <p:cNvSpPr txBox="1"/>
          <p:nvPr/>
        </p:nvSpPr>
        <p:spPr>
          <a:xfrm>
            <a:off x="429768" y="713232"/>
            <a:ext cx="10972800" cy="274320"/>
          </a:xfrm>
          <a:prstGeom prst="rect">
            <a:avLst/>
          </a:prstGeom>
          <a:noFill/>
        </p:spPr>
        <p:txBody>
          <a:bodyPr wrap="none">
            <a:spAutoFit/>
          </a:bodyPr>
          <a:lstStyle/>
          <a:p>
            <a:pPr>
              <a:defRPr sz="900">
                <a:solidFill>
                  <a:srgbClr val="5C635E"/>
                </a:solidFill>
                <a:latin typeface="Aptos"/>
              </a:defRPr>
            </a:pPr>
            <a:r>
              <a:t>The setup ranking depends on task shape, but the macro pattern is clear.</a:t>
            </a:r>
          </a:p>
        </p:txBody>
      </p:sp>
      <p:sp>
        <p:nvSpPr>
          <p:cNvPr id="4" name="TextBox 3"/>
          <p:cNvSpPr txBox="1"/>
          <p:nvPr/>
        </p:nvSpPr>
        <p:spPr>
          <a:xfrm>
            <a:off x="685800" y="1005840"/>
            <a:ext cx="10881360" cy="4937760"/>
          </a:xfrm>
          <a:prstGeom prst="rect">
            <a:avLst/>
          </a:prstGeom>
          <a:noFill/>
        </p:spPr>
        <p:txBody>
          <a:bodyPr wrap="square">
            <a:spAutoFit/>
          </a:bodyPr>
          <a:lstStyle/>
          <a:p>
            <a:pPr>
              <a:spcAft>
                <a:spcPts val="700"/>
              </a:spcAft>
              <a:defRPr sz="1400">
                <a:solidFill>
                  <a:srgbClr val="232624"/>
                </a:solidFill>
                <a:latin typeface="Aptos"/>
              </a:defRPr>
            </a:pPr>
            <a:r>
              <a:t>Setup C is the strongest overall setup: it dominates E1 retrieval and usually wins the macro averages for capable models.</a:t>
            </a:r>
          </a:p>
          <a:p>
            <a:pPr>
              <a:spcAft>
                <a:spcPts val="700"/>
              </a:spcAft>
              <a:defRPr sz="1400">
                <a:solidFill>
                  <a:srgbClr val="232624"/>
                </a:solidFill>
                <a:latin typeface="Aptos"/>
              </a:defRPr>
            </a:pPr>
            <a:r>
              <a:t>Setup A remains a strong baseline, especially for direct E2 recovery and for weaker/non-reasoning models on natural-language induction.</a:t>
            </a:r>
          </a:p>
          <a:p>
            <a:pPr>
              <a:spcAft>
                <a:spcPts val="700"/>
              </a:spcAft>
              <a:defRPr sz="1400">
                <a:solidFill>
                  <a:srgbClr val="232624"/>
                </a:solidFill>
                <a:latin typeface="Aptos"/>
              </a:defRPr>
            </a:pPr>
            <a:r>
              <a:t>B-query is diagnostically useful: formal framework notation alone can be a burden when the model must infer the task semantics from rules.</a:t>
            </a:r>
          </a:p>
          <a:p>
            <a:pPr>
              <a:spcAft>
                <a:spcPts val="700"/>
              </a:spcAft>
              <a:defRPr sz="1400">
                <a:solidFill>
                  <a:srgbClr val="232624"/>
                </a:solidFill>
                <a:latin typeface="Aptos"/>
              </a:defRPr>
            </a:pPr>
            <a:r>
              <a:t>B-resolved is the fairer structured-prompt baseline because it keeps the framework but supplies the natural-language task resolution.</a:t>
            </a:r>
          </a:p>
          <a:p>
            <a:pPr>
              <a:spcAft>
                <a:spcPts val="700"/>
              </a:spcAft>
              <a:defRPr sz="1400">
                <a:solidFill>
                  <a:srgbClr val="232624"/>
                </a:solidFill>
                <a:latin typeface="Aptos"/>
              </a:defRPr>
            </a:pPr>
            <a:r>
              <a:t>At larger scale, agentic decomposition starts paying off; at smaller or less reliable reasoning scale, model specialization and instruction-following limits are exposed.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